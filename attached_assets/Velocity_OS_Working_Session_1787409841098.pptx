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Do not welcome, do not thank people for coming, do not walk through the agenda. Say one sentence: "By the end of the second day, every person in this room will have killed something of their own, in public." Then go straight to slide 2.
Room setup: tables of 4-6, mixed function. Wall space for the driver tree. Everyone brings a laptop with access to real numbers - this session uses our actual data, not case studies.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this slowly. Do not soften it.
If someone objects that we do have a system, ask: "Name the last thing we killed on schedule against a number written in advance." The silence is the argument. Do not fill it.
This is the frame for two days. Everything else hangs off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to vote privately: which of the three are we closest to today? Take a show of hands after ten seconds of thought. Do not debate the answer yet - the driver tree exercise in Module 3 will settle it with data.
If the room splits evenly, that itself is the finding: we do not share a diagnosis. Name that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explain each box. Read the six headers aloud, say "that is the whole system," and move on. Ninety seconds maximum.
The purpose of this slide is orientation, not teaching. People will refer back to it for two 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two things. First: this session uses our real numbers, not case studies - people should have access to their actual data. Second: Module 10 requires everyone to kill something of their own, publicly. Say that now so nobody is ambushed on day two.
If you are running this as eight weekly sessions instead of two days, the module boundaries are the session boundaries. Do not split a module across sessions - each one ends in an exercise for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is the conceptual foundation. If people leave the room with only one idea from day one, it should be this one: the same rigour applied in the wrong zone destroys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the single highest-leverage idea in two days.
The common objection is "surely everything should be well-run." Answer: yes, but well-run means different things. Applying Lean to a bet portfolio produces timid, over-analysed innovation where every concept must prove itself to an average before funding. Applying venture logic to operations produces unmeasured spend and a cash crisis.
Ask for one example of each from our own business before moving on. Take two, not 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direction are we failing in? Almost every room says both, in different functions. That is the correct answer and it is exactly why the zone question is asked at intake rather than assumed by culture.
Do not let this become a blame conversation about a specific function. Redirect to: "which initiative on our current slate is in the wrong zone?" That question goes to Exercise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EVERYTHING. Choose a real decision where the aggregate genuinely misleads - a channel that looks profitable blended but loses money in two of three segments, or a retention number that is flat in aggregate while declining sharply by vintage. Ask FP&amp;A to prepare both cuts a week in advance and to tell nobody.
Do not tip the twist. The exercise fails completely if people suspect a trap and hedge their first card.
DEBRIEF (7 min): Ask the tables that reversed - what specifically changed your mind? Then ask: how many decisions did we make last quarter on the first version of this data? Do not answer for them. Let it sit.
If the room does NOT reverse, that is a real and good finding - say so, and note that our data hygiene is better than most. Then move on without pretending.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 Print every active initiative on a card the week before. Include a few deliberately ambiguous ones - a pricing test (outside moving in), a partnership (outside with covenants), a service-level improvement that someone is calling innovation.
Strip owner names off the cards. This is important - people defend their own initiatives rather than sorting them.
DEBRIEF: The count of disputed cards is the headline number. Say it out loud: "X of our Y live initiatives are being managed with a discipline the room cannot agree on."
Do not resolve every dispute in the room. Assign each disputed card an owner and a decision date, and move on. Resolution is a Quarterly Reset job, not an offsite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module, high stakes. The exercise does most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that matters: "no override authority exists, including the founder's." Say it in the first person if you are the founder. The room needs to hear you bind yourself, or the covenants are decoration.
Expect pushback on the concentration number from anyone running a large account. The answer is not that 25% is magic - it is that a single-counterparty limit of 25% of capital is federal banking law for exactly this reason, and that the number must be managed rather than discovered in a crisis.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CFO state our actual largest exposure out loud, right now, from memory. If they cannot, that is the finding and it is worth more than the slide.
Then ask: what is the second largest, and would losing both simultaneously be survivable? Almost nobody has modelled the joint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 CFO brings the real 13-week forecast, the actual covenant documents (not summaries), and the current concentration numbers. This exercise is worthless on estimates.
Seed each team cross-functionally. Operations will surface break points finance does not see, and vice versa - that asymmetry is half the value.
DEBRIEF (15 min): Collect the "first thing that breaks" answer from every team on the wall. They will differ, which is itself the finding: we do not agree on our own failure sequence.
Then collect all uncovered exposures, dedupe, and rank by whether the exposure would be a bad quarter or a company-level event. The company-level ones become covenant candidates at the next Offsite. Assign an owner to each before the module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longest working module of day one and produces the most durable artifact. Protect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when someone in this company says "revenue," do we all mean the same number? Wait for the laugh, then ask for a show of hands on how many distinct definitions are currently in active use. The number is usually three or four.
That count is the argument for the next two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one is the one people skip. Ask specifically: does our current reporting have an "other" line anywhere? Almost every business does, and it is almost always larger than anyone expects.
Rule two is the one that creates arguments during the exercise. Hold the line: one name, never a function, never two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design points worth stating aloud.
First: revenue metrics are weekly because they move weekly and are correctable weekly. Cash and enterprise value are monthly and quarterly, which prevents re-litigating strategy in a Monday meeting.
Second: discretionary spend sits under S&amp;M as a percentage of gross, but its ROI is gated under gross margin. The spend is a commercial decision; the truth about the spend is a margin fact. Separating them is what breaks the sales-versus-finance incentive mismatch that lets unprofitable programmes repeat annually.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 butcher paper, thick markers, and every function bringing live numbers. FP&amp;A on hand throughout as referee for definitional disputes.
TIMING: 45 min function build, 20 min completeness test, 20 min ownership pass, 25 min reconciliation. Do not let the build phase run over - incomplete trees reconcile fine, unowned trees do not.
THE HARD PART: the ownership pass. Expect "we both own it" repeatedly. The answer is always: pick one, now, in the room. Shared ownership is unowned. If two people genuinely share, one of them is accountable and the other is consulted - write that.
DEBRIEF: photograph every tree before anyone leaves. FP&amp;A owns digitising it within five business days and publishing definitions. Put that commitment on the ship list in Module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is the one that changes behaviour fastest, because the numbers are unarguable and the exercise uses our own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middle number is the one to dwell on. A failure rate of 59% on the second-largest line of the P&amp;L would close a factory in any other part of the business.
Then the killer statistic: only about 22% of companies can measure discretionary spend at individual event level at all. Ask our team where we sit. The answer is usually "partially," which means no.
This sets up Exercise 5 completely. Do not over-explain - let the recompute do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1.8x to 0.7x example is the whole module in one line. Say it twice.
What that brand changed was not its promotions - it was its measurement window. Nothing about the commercial activity was different. They simply stopped measuring the loan as if it were income.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 This exercise requires finance to pull event-level data in advance. If we cannot pull it at event level, THAT IS THE FINDING - run the exercise on the one or two events where we can, and put "event-level measurement coverage" on the ship list as a critical-path item.
Stack the deck honestly: include at least one event you believe will survive the recompute. If every event fails, the room concludes the method is rigged rather than that the spend is bad.
DEBRIEF (20 min): Put reported ROI and true ROI side by side on the wall for all five. Do not editorialise - the columns do it.
Then the governance question: who approved each of these, and what evidence did they have at the time? Frame this as a system failure, not a personal one. Nobody had the 60-90 day window because we did not require it. That is what changes on Monday.
WATCH FOR: defensiveness from whoever owned the worst-performing event. Get ahead of it by saying, before teams start, that every event in the pile was approved under the old rules and nobody is being judged for following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 day one. Keep energy up - people are tired after the driver tree and the recompute.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fractality is the sales pitch: a coordinator at any level can walk into any review and ask the same five questions. That is what lets a lean team run dozens of concurrent loops on one shared mental model.
Expect the objection "our thing is different." The next slide answers it - do not answer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one column top to bottom, then a second. The point lands in about forty seconds and does not need elaboration.
If someone still insists their work does not fit, ask them to describe it and route it live. In four years of doing this it has fitted every time - but do the work in the room rather than asserting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 people across functions, and never pair someone with their own initiative.
The most common finding: an initiative that has been running for a year, has consumed real money, and has no criterion anyone can produce. When that surfaces, do not let the room laugh it off. Ask who owns it and what date it gets a criterion or a kill. Write it down.
CLOSE OF DAY ONE: end here with the zombie count on the wall. Say one sentence and stop - "tomorrow we build the machinery that prevents this." Do not summarise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day two with energy. This module contains the single most important exercise in the whole programme - the Gate Rehearsal. Protect its time ruthlessly.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uncomfortable implication, stated plainly: a business shipping four major initiatives a year on conviction alone will spend roughly two-thirds of its growth budget on things that do nothing or do harm - and will never know which third worked, because nothing was measured against a control.
Across a five-year plan, that is the difference between compounding and drift.
Expect someone to say our people are better than average. The honest answer is that these numbers come from organisations with far better instrumentation than 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to land: "a result without a criterion is not an analysis, it is a narrative waiting to be written by whoever speaks first."
The MDE point is worth a beat. If the minimum detectable effect is smaller than the effect we would actually act on, the test is not worth running. That single question kills a lot of low-value work before it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someone read the six moves aloud in the voice they would use in a real meeting. It sounds blunter than people expect, which is the point - and hearing it out loud once makes the rehearsal easier.
Move 4 is the one people skip. It is also the one that makes the whole thing work, because it converts "I have a feeling" into a testable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blank pre-registration forms printed - one page, eight fields. The physical form does real work here.
COMMON FAILURES to watch for and name: hypotheses phrased as goals ("increase conversion") rather than mechanisms; two or three target metrics because the author cannot choose; kill criteria written vaguely enough to be unenforceable ("if it clearly is not working"); and decision maps that only cover the win case.
DEBRIEF: ask how many people changed their intended test as a result of writing this down. It is usually most of the room. That is the return on twenty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setup for the most important exercise in the programme. Deliver it seriously.
If you are the most senior person present, say the next sentence out loud: "I am going to be the one applying the pressure, and the junior person is going to hold, and I am going to accept it in front of all of you." That commitment, made publicly and then honoured, is worth more than any policy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EXERCISE. If you cut anything from the two days, do not cut this.
CASTING: The senior advocate must genuinely argue hard - a soft performance teaches the room that gates only hold when nobody really pushes, which is worse than not running it. Brief the advocate privately beforehand and tell them to be difficult.
The junior chair must be set up to succeed: give them the printed six moves, and tell them beforehand that you will back them completely.
DEBRIEF EACH ROUND (5 min): Ask the chair - at which move did you feel the pull to abandon the script? It is almost always move three, calling the verdict, or move four. Ask the room what they observed. Ask the advocate what would have worked on them.
ROUND 3 IS REAL. Use an actual initiative at an actual gate and record the actual verdict. This converts the rehearsal into a precedent.
CLOSING LINE: "That is what it looks like. It will feel exactly like that on Tuesday, and the answer will be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stalled business has ever recovered on the strength of a strategy deck. Many have recovered on the strength of a calendar. Say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stack as a control system, not a reporting hierarchy. Daily is the sensor array. Weekly is the actuator. Monthly and quarterly are the feedback controllers. Annual is the only forum permitted to change the objectives.
The diagnosis worth stating: when an organisation complains it has too many meetings, the problem is almost never the count. It is that decisions are being made at the wrong layer, so every forum re-litigates the layer below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people do this in their actual calendar, on their laptop, right now. An abstract version of this exercise produces nothing.
Model it yourself first: put your own calendar on the screen and circle your own dead meetings publicly. If the CEO does not go first, nobody circles honestly.
DEBRIEF: total the hours across the room and multiply by a loaded hourly cost. State the annual number.
Then the constructive half: for the meetings that survive, is the decision output written in the invite? Make that a ship-list item - every recurring invite gets its decision artifact in the title or the body by Friday.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forensic reconstruction is what makes this credible. People will guess low on both numbers before they check - have them check.
WATCH FOR: the exercise turning into a pile-on against one function, usually finance or legal. Get ahead of it. The finding is that we never published the authority, not that a person is obstructive. Say that before you start.
The cap on the consulted list is the item people resist most. Explain why: left unmanaged, consultation lists grow by one name per organisational embarrassment - each addition rational in isolation, collectively ruinous.
OUTPUT: the grid must actually be published. Assign the transformation lead to circulate it within 48 hours and put it on the ship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module practical. The failure mode is a philosophical conversation about AI. Redirect constantly to specific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95% number is the one that reframes the conversation. It is not that AI does not work - it is that buying tools without redrawing workflows does not work, and that is what most of the spend has been.
The frontier finding is the guardrail argument. It is not a philosophical objection to automation; it is a measured effect with a number attached.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one-sentence version, which must survive the first quarter of real operations: "agents draft, humans sign, on anything that leaves the building, moves money, or touches a real person's live problem."
The cautionary case is worth telling: a consumer-finance company's assistant reached the work of roughly 700 agents - 2.3 million conversations a month, resolution time from eleven minutes to two. Fourteen months later the CEO publicly reversed. The system optimised for resolution speed and cost per contact, both easily measured, while correctness and trust degraded quietly. The weekly live-sample audit is what catches that, and it is the item most often skipped.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Prevent the philosophical drift. Every time someone starts a sentence with "but AI cannot really..." redirect to: name the specific workflow, name the specific output, name who signs it.
WATCH FOR: proposals that generate more artifacts without shortening any cycle. More reports, more decks, more analysis nobody asked for. That is overproduction waste with a modern interface. The honest test catches it - make sure teams actually apply it rather than skipping to the estimate.
DEBRIEF: total the estimated hours returned across the room, then ask the harder question - what are those hours going to? If the answer is "we will be less busy," the leverage will evaporate within a quarter. Assign each block of returned hours a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Handle this module with care. It is the one where people feel personally exposed, and the exercise is deliberately private for that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line that lands: "hiring on charisma and conversation is the selection-science equivalent of investing on narrative."
Senior candidates are, by definition, professionally persuasive. The matrix exists precisely because persuasion is the variable it is designed to control - and the first charismatic exception we hire teaches the organisation that process yields to persuasion.
Ask: how many of our last five senior hires went through a paid work sample? The answer is usually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PRIVATE. Nothing is read aloud, nothing is collected. If people believe the answers will be shared they will write what is safe rather than what is true, and the exercise is worthless.
Say explicitly at the start: "one no is not a termination decision. It starts a conversation you probably owed this person already."
DEBRIEF - ask only for hands, no names:
- How many wrote at least one "no"? (usually most)
- Of those, how many had already named the specific gap in writing? (usually very few)
- How many wrote a "yes" where they had never actually told the person? (usually most)
That third number is the one people take home. It is also the cheapest retention action available to us and it costs nothing but a conversation this week.
Put both commitments on the ship list in Module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module that determines whether any of the previous nine survive contact with next quarter.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Ask the room to name one thing this company visibly tolerates that contradicts something we said in the last two days. Wait it out - the silence will be long and the first answer will unlock the rest.
If you are the founder, go first. Name something you tolerate. The room will not go anywhere you have not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standard plainly: blameless on outcome, accountable on process. Nobody is judged for a hypothesis that turned out to be wrong. Everybody is judged for a hypothesis that was never falsifiable, a criterion that was never written, or a result that was never faced.
Then set up Exercise 13. People need about sixty seconds of warning before it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SENIOR PERSON GOES FIRST AND KILLS SOMETHING REAL. If the CEO kills a token, the entire exercise becomes theatre in about ninety seconds and cannot be recovered.
Brief yourself honestly beforehand: what have you been protecting that should have ended? Kill that one.
ENFORCE THE APPLAUSE. It feels forced the first two times and stops feeling forced by the fourth. That transition is the entire mechanism - the room is learning, physically, that ending something is a completed piece of work rather than a confession.
DO NOT ALLOW DEFENDING. People will want to explain the context. Cut them off gently and firmly: "three sentences." The discipline is the point.
AFTER: photograph the wall. Every kill goes on the ship list with its date. Someone must follow up in thirty days - if half the kills quietly survive, the exercise taught the opposite of what was intended.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adversarial framing does the work. People are surprisingly good at arguing the corrupted version, which is itself the finding - these misreadings are available to everyone, all the time.
DO NOT correct them yourself. If the facilitator supplies the correction, the room has learned a policy. If the room supplies it, they have built an antibody.
Collect the six sentences verbatim and circulate them within a week. They go into onboarding and into the Culture Guide as a local amendment.
Watch for the "lean headcount means people are disposable" table - that one produces the most useful correction, because the true answer is counterintuitive: refusing to hire around a missing system is exactly what makes each seat consequential enough to justify the rigour and the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hard and fast. Do not summarise two days. Convert to commitments and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list once. Do not elaborate on any item - they have all been built during the two days and everyone knows what they mean.
Then go straight to the commitment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CRITICAL: the war room MUST convene next Monday and MUST review this list first. If it does not, everything in this deck becomes a memory of a nice offsite within three weeks.
Put it in the calendar before anyone leaves the room. Not "we will find a time" - now, on the screen, invitations sent.
Collect the wall by photograph and circulate within 24 hours with every name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to last slide. Read it once, slowly. Do not explain the three references - if someone asks afterwards, explain then.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this. Do not add a Q&amp;A slide, do not thank people for their time, do not summarise.
Say: "The war room is Monday at [time]. Bring your three commitments." Then stop talking and let people leave.
Send the five documents that evening while the session is still live in their heads - not the following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F31"/>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0E1F31"/>
          </a:solidFill>
          <a:ln/>
        </p:spPr>
      </p:sp>
      <p:sp>
        <p:nvSpPr>
          <p:cNvPr id="3" name="Text 1"/>
          <p:cNvSpPr/>
          <p:nvPr/>
        </p:nvSpPr>
        <p:spPr>
          <a:xfrm>
            <a:off x="841248" y="1600200"/>
            <a:ext cx="11057839" cy="292608"/>
          </a:xfrm>
          <a:prstGeom prst="rect">
            <a:avLst/>
          </a:prstGeom>
          <a:noFill/>
          <a:ln/>
        </p:spPr>
        <p:txBody>
          <a:bodyPr wrap="square" lIns="0" tIns="0" rIns="0" bIns="0" rtlCol="0" anchor="ctr"/>
          <a:lstStyle/>
          <a:p>
            <a:pPr indent="0" marL="0">
              <a:buNone/>
            </a:pPr>
            <a:r>
              <a:rPr lang="en-US" sz="1300" b="1" spc="450" kern="0" dirty="0">
                <a:solidFill>
                  <a:srgbClr val="7FA3C9"/>
                </a:solidFill>
                <a:latin typeface="Calibri" pitchFamily="34" charset="0"/>
                <a:ea typeface="Calibri" pitchFamily="34" charset="-122"/>
                <a:cs typeface="Calibri" pitchFamily="34" charset="-120"/>
              </a:rPr>
              <a:t>TEAM WORKING SESSION</a:t>
            </a:r>
            <a:endParaRPr lang="en-US" sz="1300" dirty="0"/>
          </a:p>
        </p:txBody>
      </p:sp>
      <p:sp>
        <p:nvSpPr>
          <p:cNvPr id="4" name="Text 2"/>
          <p:cNvSpPr/>
          <p:nvPr/>
        </p:nvSpPr>
        <p:spPr>
          <a:xfrm>
            <a:off x="841248" y="2057400"/>
            <a:ext cx="9686239" cy="1737360"/>
          </a:xfrm>
          <a:prstGeom prst="rect">
            <a:avLst/>
          </a:prstGeom>
          <a:noFill/>
          <a:ln/>
        </p:spPr>
        <p:txBody>
          <a:bodyPr wrap="square" lIns="0" tIns="0" rIns="0" bIns="0" rtlCol="0" anchor="ctr"/>
          <a:lstStyle/>
          <a:p>
            <a:pPr indent="0" marL="0">
              <a:lnSpc>
                <a:spcPts val="6200"/>
              </a:lnSpc>
              <a:buNone/>
            </a:pPr>
            <a:r>
              <a:rPr lang="en-US" sz="5800" b="1" dirty="0">
                <a:solidFill>
                  <a:srgbClr val="FFFFFF"/>
                </a:solidFill>
                <a:latin typeface="Cambria" pitchFamily="34" charset="0"/>
                <a:ea typeface="Cambria" pitchFamily="34" charset="-122"/>
                <a:cs typeface="Cambria" pitchFamily="34" charset="-120"/>
              </a:rPr>
              <a:t>The Velocity</a:t>
            </a:r>
            <a:endParaRPr lang="en-US" sz="5800" dirty="0"/>
          </a:p>
          <a:p>
            <a:pPr indent="0" marL="0">
              <a:lnSpc>
                <a:spcPts val="6200"/>
              </a:lnSpc>
              <a:buNone/>
            </a:pPr>
            <a:r>
              <a:rPr lang="en-US" sz="5800" b="1" dirty="0">
                <a:solidFill>
                  <a:srgbClr val="FFFFFF"/>
                </a:solidFill>
                <a:latin typeface="Cambria" pitchFamily="34" charset="0"/>
                <a:ea typeface="Cambria" pitchFamily="34" charset="-122"/>
                <a:cs typeface="Cambria" pitchFamily="34" charset="-120"/>
              </a:rPr>
              <a:t>Operating System</a:t>
            </a:r>
            <a:endParaRPr lang="en-US" sz="5800" dirty="0"/>
          </a:p>
        </p:txBody>
      </p:sp>
      <p:sp>
        <p:nvSpPr>
          <p:cNvPr id="5" name="Shape 3"/>
          <p:cNvSpPr/>
          <p:nvPr/>
        </p:nvSpPr>
        <p:spPr>
          <a:xfrm>
            <a:off x="841248" y="3931920"/>
            <a:ext cx="2377440" cy="41148"/>
          </a:xfrm>
          <a:prstGeom prst="rect">
            <a:avLst/>
          </a:prstGeom>
          <a:solidFill>
            <a:srgbClr val="4E7FB5"/>
          </a:solidFill>
          <a:ln/>
        </p:spPr>
      </p:sp>
      <p:sp>
        <p:nvSpPr>
          <p:cNvPr id="6" name="Text 4"/>
          <p:cNvSpPr/>
          <p:nvPr/>
        </p:nvSpPr>
        <p:spPr>
          <a:xfrm>
            <a:off x="841248" y="4224528"/>
            <a:ext cx="7863840" cy="822960"/>
          </a:xfrm>
          <a:prstGeom prst="rect">
            <a:avLst/>
          </a:prstGeom>
          <a:noFill/>
          <a:ln/>
        </p:spPr>
        <p:txBody>
          <a:bodyPr wrap="square" lIns="0" tIns="0" rIns="0" bIns="0" rtlCol="0" anchor="ctr"/>
          <a:lstStyle/>
          <a:p>
            <a:pPr indent="0" marL="0">
              <a:buNone/>
            </a:pPr>
            <a:r>
              <a:rPr lang="en-US" sz="2000" i="1" dirty="0">
                <a:solidFill>
                  <a:srgbClr val="CFDCEA"/>
                </a:solidFill>
                <a:latin typeface="Cambria" pitchFamily="34" charset="0"/>
                <a:ea typeface="Cambria" pitchFamily="34" charset="-122"/>
                <a:cs typeface="Cambria" pitchFamily="34" charset="-120"/>
              </a:rPr>
              <a:t>How we decide, how we measure, how we behave</a:t>
            </a:r>
            <a:endParaRPr lang="en-US" sz="2000" dirty="0"/>
          </a:p>
        </p:txBody>
      </p:sp>
      <p:sp>
        <p:nvSpPr>
          <p:cNvPr id="7" name="Text 5"/>
          <p:cNvSpPr/>
          <p:nvPr/>
        </p:nvSpPr>
        <p:spPr>
          <a:xfrm>
            <a:off x="841248" y="5760720"/>
            <a:ext cx="8229600" cy="548640"/>
          </a:xfrm>
          <a:prstGeom prst="rect">
            <a:avLst/>
          </a:prstGeom>
          <a:noFill/>
          <a:ln/>
        </p:spPr>
        <p:txBody>
          <a:bodyPr wrap="square" lIns="0" tIns="0" rIns="0" bIns="0" rtlCol="0" anchor="ctr"/>
          <a:lstStyle/>
          <a:p>
            <a:pPr indent="0" marL="0">
              <a:buNone/>
            </a:pPr>
            <a:r>
              <a:rPr lang="en-US" sz="1300" dirty="0">
                <a:solidFill>
                  <a:srgbClr val="90A6BE"/>
                </a:solidFill>
                <a:latin typeface="Calibri" pitchFamily="34" charset="0"/>
                <a:ea typeface="Calibri" pitchFamily="34" charset="-122"/>
                <a:cs typeface="Calibri" pitchFamily="34" charset="-120"/>
              </a:rPr>
              <a:t>Two days  ·  Eleven modules  ·  Fifteen exercises  ·  One installed operating system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7304A"/>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17304A"/>
          </a:solidFill>
          <a:ln/>
        </p:spPr>
      </p:sp>
      <p:sp>
        <p:nvSpPr>
          <p:cNvPr id="3" name="Text 1"/>
          <p:cNvSpPr/>
          <p:nvPr/>
        </p:nvSpPr>
        <p:spPr>
          <a:xfrm>
            <a:off x="841248" y="1234440"/>
            <a:ext cx="11057839" cy="274320"/>
          </a:xfrm>
          <a:prstGeom prst="rect">
            <a:avLst/>
          </a:prstGeom>
          <a:noFill/>
          <a:ln/>
        </p:spPr>
        <p:txBody>
          <a:bodyPr wrap="square" lIns="0" tIns="0" rIns="0" bIns="0" rtlCol="0" anchor="ctr"/>
          <a:lstStyle/>
          <a:p>
            <a:pPr indent="0" marL="0">
              <a:buNone/>
            </a:pPr>
            <a:r>
              <a:rPr lang="en-US" sz="1100" b="1" spc="300" kern="0" dirty="0">
                <a:solidFill>
                  <a:srgbClr val="8FB2D6"/>
                </a:solidFill>
                <a:latin typeface="Calibri" pitchFamily="34" charset="0"/>
                <a:ea typeface="Calibri" pitchFamily="34" charset="-122"/>
                <a:cs typeface="Calibri" pitchFamily="34" charset="-120"/>
              </a:rPr>
              <a:t>WHY WE ARE HERE</a:t>
            </a:r>
            <a:endParaRPr lang="en-US" sz="1100" dirty="0"/>
          </a:p>
        </p:txBody>
      </p:sp>
      <p:sp>
        <p:nvSpPr>
          <p:cNvPr id="4" name="Text 2"/>
          <p:cNvSpPr/>
          <p:nvPr/>
        </p:nvSpPr>
        <p:spPr>
          <a:xfrm>
            <a:off x="841248" y="1783080"/>
            <a:ext cx="9777679" cy="2834640"/>
          </a:xfrm>
          <a:prstGeom prst="rect">
            <a:avLst/>
          </a:prstGeom>
          <a:noFill/>
          <a:ln/>
        </p:spPr>
        <p:txBody>
          <a:bodyPr wrap="square" lIns="0" tIns="0" rIns="0" bIns="0" rtlCol="0" anchor="t"/>
          <a:lstStyle/>
          <a:p>
            <a:pPr indent="0" marL="0">
              <a:lnSpc>
                <a:spcPts val="4600"/>
              </a:lnSpc>
              <a:buNone/>
            </a:pPr>
            <a:r>
              <a:rPr lang="en-US" sz="3200" b="1" dirty="0">
                <a:solidFill>
                  <a:srgbClr val="FFFFFF"/>
                </a:solidFill>
                <a:latin typeface="Cambria" pitchFamily="34" charset="0"/>
                <a:ea typeface="Cambria" pitchFamily="34" charset="-122"/>
                <a:cs typeface="Cambria" pitchFamily="34" charset="-120"/>
              </a:rPr>
              <a:t>Most of what we do will not matter.</a:t>
            </a:r>
            <a:endParaRPr lang="en-US" sz="3200" dirty="0"/>
          </a:p>
          <a:p>
            <a:pPr indent="0" marL="0">
              <a:lnSpc>
                <a:spcPts val="4600"/>
              </a:lnSpc>
              <a:buNone/>
            </a:pPr>
            <a:r>
              <a:rPr lang="en-US" sz="3200" b="1" dirty="0">
                <a:solidFill>
                  <a:srgbClr val="FFFFFF"/>
                </a:solidFill>
                <a:latin typeface="Cambria" pitchFamily="34" charset="0"/>
                <a:ea typeface="Cambria" pitchFamily="34" charset="-122"/>
                <a:cs typeface="Cambria" pitchFamily="34" charset="-120"/>
              </a:rPr>
              <a:t>A few things will matter enormously.</a:t>
            </a:r>
            <a:endParaRPr lang="en-US" sz="3200" dirty="0"/>
          </a:p>
          <a:p>
            <a:pPr indent="0" marL="0">
              <a:lnSpc>
                <a:spcPts val="4600"/>
              </a:lnSpc>
              <a:buNone/>
            </a:pPr>
            <a:r>
              <a:rPr lang="en-US" sz="3200" b="1" dirty="0">
                <a:solidFill>
                  <a:srgbClr val="FFFFFF"/>
                </a:solidFill>
                <a:latin typeface="Cambria" pitchFamily="34" charset="0"/>
                <a:ea typeface="Cambria" pitchFamily="34" charset="-122"/>
                <a:cs typeface="Cambria" pitchFamily="34" charset="-120"/>
              </a:rPr>
              <a:t>We currently have no system for telling them apart.</a:t>
            </a:r>
            <a:endParaRPr lang="en-US" sz="3200" dirty="0"/>
          </a:p>
        </p:txBody>
      </p:sp>
      <p:sp>
        <p:nvSpPr>
          <p:cNvPr id="5" name="Text 3"/>
          <p:cNvSpPr/>
          <p:nvPr/>
        </p:nvSpPr>
        <p:spPr>
          <a:xfrm>
            <a:off x="841248" y="4800600"/>
            <a:ext cx="9046159" cy="1371600"/>
          </a:xfrm>
          <a:prstGeom prst="rect">
            <a:avLst/>
          </a:prstGeom>
          <a:noFill/>
          <a:ln/>
        </p:spPr>
        <p:txBody>
          <a:bodyPr wrap="square" lIns="0" tIns="0" rIns="0" bIns="0" rtlCol="0" anchor="t"/>
          <a:lstStyle/>
          <a:p>
            <a:pPr indent="0" marL="0">
              <a:lnSpc>
                <a:spcPts val="2100"/>
              </a:lnSpc>
              <a:buNone/>
            </a:pPr>
            <a:r>
              <a:rPr lang="en-US" sz="1500" dirty="0">
                <a:solidFill>
                  <a:srgbClr val="CFDCEA"/>
                </a:solidFill>
                <a:latin typeface="Calibri" pitchFamily="34" charset="0"/>
                <a:ea typeface="Calibri" pitchFamily="34" charset="-122"/>
                <a:cs typeface="Calibri" pitchFamily="34" charset="-120"/>
              </a:rPr>
              <a:t>That is the entire problem this operating system solves. Everything over the next two days is machinery for separating the few things that compound from the many that consume.</a:t>
            </a:r>
            <a:endParaRPr lang="en-US" sz="1500" dirty="0"/>
          </a:p>
        </p:txBody>
      </p:sp>
      <p:sp>
        <p:nvSpPr>
          <p:cNvPr id="6" name="Text 4"/>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THE STAKES</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Three ways companies like ours die</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None of them look like failure while they are happening. All three are visible in cohort data eighteen months before they are visible in the P&amp;L.</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3</a:t>
            </a:r>
            <a:endParaRPr lang="en-US" sz="1000" dirty="0"/>
          </a:p>
        </p:txBody>
      </p:sp>
      <p:sp>
        <p:nvSpPr>
          <p:cNvPr id="6" name="Shape 4"/>
          <p:cNvSpPr/>
          <p:nvPr/>
        </p:nvSpPr>
        <p:spPr>
          <a:xfrm>
            <a:off x="566928" y="2148840"/>
            <a:ext cx="3515258" cy="3566160"/>
          </a:xfrm>
          <a:prstGeom prst="roundRect">
            <a:avLst>
              <a:gd name="adj" fmla="val 1561"/>
            </a:avLst>
          </a:prstGeom>
          <a:solidFill>
            <a:srgbClr val="EDF1F7"/>
          </a:solidFill>
          <a:ln w="12700">
            <a:solidFill>
              <a:srgbClr val="D6DEE8"/>
            </a:solidFill>
            <a:prstDash val="solid"/>
          </a:ln>
        </p:spPr>
      </p:sp>
      <p:sp>
        <p:nvSpPr>
          <p:cNvPr id="7" name="Text 5"/>
          <p:cNvSpPr/>
          <p:nvPr/>
        </p:nvSpPr>
        <p:spPr>
          <a:xfrm>
            <a:off x="804672" y="2368296"/>
            <a:ext cx="3058058" cy="219456"/>
          </a:xfrm>
          <a:prstGeom prst="rect">
            <a:avLst/>
          </a:prstGeom>
          <a:noFill/>
          <a:ln/>
        </p:spPr>
        <p:txBody>
          <a:bodyPr wrap="square" lIns="0" tIns="0" rIns="0" bIns="0" rtlCol="0" anchor="ctr"/>
          <a:lstStyle/>
          <a:p>
            <a:pPr indent="0" marL="0">
              <a:buNone/>
            </a:pPr>
            <a:r>
              <a:rPr lang="en-US" sz="950" b="1" spc="200" kern="0" dirty="0">
                <a:solidFill>
                  <a:srgbClr val="2E5A8C"/>
                </a:solidFill>
                <a:latin typeface="Calibri" pitchFamily="34" charset="0"/>
                <a:ea typeface="Calibri" pitchFamily="34" charset="-122"/>
                <a:cs typeface="Calibri" pitchFamily="34" charset="-120"/>
              </a:rPr>
              <a:t>SLOW</a:t>
            </a:r>
            <a:endParaRPr lang="en-US" sz="950" dirty="0"/>
          </a:p>
        </p:txBody>
      </p:sp>
      <p:sp>
        <p:nvSpPr>
          <p:cNvPr id="8" name="Text 6"/>
          <p:cNvSpPr/>
          <p:nvPr/>
        </p:nvSpPr>
        <p:spPr>
          <a:xfrm>
            <a:off x="804672" y="2624328"/>
            <a:ext cx="3058058" cy="566928"/>
          </a:xfrm>
          <a:prstGeom prst="rect">
            <a:avLst/>
          </a:prstGeom>
          <a:noFill/>
          <a:ln/>
        </p:spPr>
        <p:txBody>
          <a:bodyPr wrap="square" lIns="0" tIns="0" rIns="0" bIns="0" rtlCol="0" anchor="t"/>
          <a:lstStyle/>
          <a:p>
            <a:pPr indent="0" marL="0">
              <a:buNone/>
            </a:pPr>
            <a:r>
              <a:rPr lang="en-US" sz="1600" b="1" dirty="0">
                <a:solidFill>
                  <a:srgbClr val="17304A"/>
                </a:solidFill>
                <a:latin typeface="Calibri" pitchFamily="34" charset="0"/>
                <a:ea typeface="Calibri" pitchFamily="34" charset="-122"/>
                <a:cs typeface="Calibri" pitchFamily="34" charset="-120"/>
              </a:rPr>
              <a:t>Discipline without direction</a:t>
            </a:r>
            <a:endParaRPr lang="en-US" sz="1600" dirty="0"/>
          </a:p>
        </p:txBody>
      </p:sp>
      <p:sp>
        <p:nvSpPr>
          <p:cNvPr id="9" name="Text 7"/>
          <p:cNvSpPr/>
          <p:nvPr/>
        </p:nvSpPr>
        <p:spPr>
          <a:xfrm>
            <a:off x="804672" y="3227832"/>
            <a:ext cx="3058058" cy="2267712"/>
          </a:xfrm>
          <a:prstGeom prst="rect">
            <a:avLst/>
          </a:prstGeom>
          <a:noFill/>
          <a:ln/>
        </p:spPr>
        <p:txBody>
          <a:bodyPr wrap="square" lIns="0" tIns="0" rIns="0" bIns="0" rtlCol="0" anchor="t"/>
          <a:lstStyle/>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The cost machine runs beautifully. Savings are real. But no forum in the calendar owns the growth question, so the freed cash goes to the balance sheet and the business quietly stops compounding.</a:t>
            </a:r>
            <a:endParaRPr lang="en-US" sz="1250" dirty="0"/>
          </a:p>
          <a:p>
            <a:pPr indent="0" marL="0">
              <a:lnSpc>
                <a:spcPts val="1600"/>
              </a:lnSpc>
              <a:buNone/>
            </a:pPr>
            <a:endParaRPr lang="en-US" sz="1250" dirty="0"/>
          </a:p>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Kraft Heinz delivered roughly $1.7B of savings, then took a $15.4B goodwill impairment and a 53% stock decline.</a:t>
            </a:r>
            <a:endParaRPr lang="en-US" sz="1250" dirty="0"/>
          </a:p>
        </p:txBody>
      </p:sp>
      <p:sp>
        <p:nvSpPr>
          <p:cNvPr id="10" name="Shape 8"/>
          <p:cNvSpPr/>
          <p:nvPr/>
        </p:nvSpPr>
        <p:spPr>
          <a:xfrm>
            <a:off x="4338218" y="2148840"/>
            <a:ext cx="3515258" cy="3566160"/>
          </a:xfrm>
          <a:prstGeom prst="roundRect">
            <a:avLst>
              <a:gd name="adj" fmla="val 1561"/>
            </a:avLst>
          </a:prstGeom>
          <a:solidFill>
            <a:srgbClr val="EDF1F7"/>
          </a:solidFill>
          <a:ln w="12700">
            <a:solidFill>
              <a:srgbClr val="D6DEE8"/>
            </a:solidFill>
            <a:prstDash val="solid"/>
          </a:ln>
        </p:spPr>
      </p:sp>
      <p:sp>
        <p:nvSpPr>
          <p:cNvPr id="11" name="Text 9"/>
          <p:cNvSpPr/>
          <p:nvPr/>
        </p:nvSpPr>
        <p:spPr>
          <a:xfrm>
            <a:off x="4575962" y="2368296"/>
            <a:ext cx="3058058" cy="219456"/>
          </a:xfrm>
          <a:prstGeom prst="rect">
            <a:avLst/>
          </a:prstGeom>
          <a:noFill/>
          <a:ln/>
        </p:spPr>
        <p:txBody>
          <a:bodyPr wrap="square" lIns="0" tIns="0" rIns="0" bIns="0" rtlCol="0" anchor="ctr"/>
          <a:lstStyle/>
          <a:p>
            <a:pPr indent="0" marL="0">
              <a:buNone/>
            </a:pPr>
            <a:r>
              <a:rPr lang="en-US" sz="950" b="1" spc="200" kern="0" dirty="0">
                <a:solidFill>
                  <a:srgbClr val="2E5A8C"/>
                </a:solidFill>
                <a:latin typeface="Calibri" pitchFamily="34" charset="0"/>
                <a:ea typeface="Calibri" pitchFamily="34" charset="-122"/>
                <a:cs typeface="Calibri" pitchFamily="34" charset="-120"/>
              </a:rPr>
              <a:t>FAST</a:t>
            </a:r>
            <a:endParaRPr lang="en-US" sz="950" dirty="0"/>
          </a:p>
        </p:txBody>
      </p:sp>
      <p:sp>
        <p:nvSpPr>
          <p:cNvPr id="12" name="Text 10"/>
          <p:cNvSpPr/>
          <p:nvPr/>
        </p:nvSpPr>
        <p:spPr>
          <a:xfrm>
            <a:off x="4575962" y="2624328"/>
            <a:ext cx="3058058" cy="566928"/>
          </a:xfrm>
          <a:prstGeom prst="rect">
            <a:avLst/>
          </a:prstGeom>
          <a:noFill/>
          <a:ln/>
        </p:spPr>
        <p:txBody>
          <a:bodyPr wrap="square" lIns="0" tIns="0" rIns="0" bIns="0" rtlCol="0" anchor="t"/>
          <a:lstStyle/>
          <a:p>
            <a:pPr indent="0" marL="0">
              <a:buNone/>
            </a:pPr>
            <a:r>
              <a:rPr lang="en-US" sz="1600" b="1" dirty="0">
                <a:solidFill>
                  <a:srgbClr val="17304A"/>
                </a:solidFill>
                <a:latin typeface="Calibri" pitchFamily="34" charset="0"/>
                <a:ea typeface="Calibri" pitchFamily="34" charset="-122"/>
                <a:cs typeface="Calibri" pitchFamily="34" charset="-120"/>
              </a:rPr>
              <a:t>Ambition without control</a:t>
            </a:r>
            <a:endParaRPr lang="en-US" sz="1600" dirty="0"/>
          </a:p>
        </p:txBody>
      </p:sp>
      <p:sp>
        <p:nvSpPr>
          <p:cNvPr id="13" name="Text 11"/>
          <p:cNvSpPr/>
          <p:nvPr/>
        </p:nvSpPr>
        <p:spPr>
          <a:xfrm>
            <a:off x="4575962" y="3227832"/>
            <a:ext cx="3058058" cy="2267712"/>
          </a:xfrm>
          <a:prstGeom prst="rect">
            <a:avLst/>
          </a:prstGeom>
          <a:noFill/>
          <a:ln/>
        </p:spPr>
        <p:txBody>
          <a:bodyPr wrap="square" lIns="0" tIns="0" rIns="0" bIns="0" rtlCol="0" anchor="t"/>
          <a:lstStyle/>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Undocumented commitments, unmeasured spend, tail products launched on enthusiasm, cash tied up in unvalidated inventory. Every promotion is strategic and none has an accrual matched to it.</a:t>
            </a:r>
            <a:endParaRPr lang="en-US" sz="1250" dirty="0"/>
          </a:p>
          <a:p>
            <a:pPr indent="0" marL="0">
              <a:lnSpc>
                <a:spcPts val="1600"/>
              </a:lnSpc>
              <a:buNone/>
            </a:pPr>
            <a:endParaRPr lang="en-US" sz="1250" dirty="0"/>
          </a:p>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The cash crisis arrives on schedule and forces exits from positions that only needed time.</a:t>
            </a:r>
            <a:endParaRPr lang="en-US" sz="1250" dirty="0"/>
          </a:p>
        </p:txBody>
      </p:sp>
      <p:sp>
        <p:nvSpPr>
          <p:cNvPr id="14" name="Shape 12"/>
          <p:cNvSpPr/>
          <p:nvPr/>
        </p:nvSpPr>
        <p:spPr>
          <a:xfrm>
            <a:off x="8109509" y="2148840"/>
            <a:ext cx="3515258" cy="3566160"/>
          </a:xfrm>
          <a:prstGeom prst="roundRect">
            <a:avLst>
              <a:gd name="adj" fmla="val 1561"/>
            </a:avLst>
          </a:prstGeom>
          <a:solidFill>
            <a:srgbClr val="17304A"/>
          </a:solidFill>
          <a:ln w="12700">
            <a:solidFill>
              <a:srgbClr val="17304A"/>
            </a:solidFill>
            <a:prstDash val="solid"/>
          </a:ln>
        </p:spPr>
      </p:sp>
      <p:sp>
        <p:nvSpPr>
          <p:cNvPr id="15" name="Text 13"/>
          <p:cNvSpPr/>
          <p:nvPr/>
        </p:nvSpPr>
        <p:spPr>
          <a:xfrm>
            <a:off x="8347253" y="2368296"/>
            <a:ext cx="3058058" cy="219456"/>
          </a:xfrm>
          <a:prstGeom prst="rect">
            <a:avLst/>
          </a:prstGeom>
          <a:noFill/>
          <a:ln/>
        </p:spPr>
        <p:txBody>
          <a:bodyPr wrap="square" lIns="0" tIns="0" rIns="0" bIns="0" rtlCol="0" anchor="ctr"/>
          <a:lstStyle/>
          <a:p>
            <a:pPr indent="0" marL="0">
              <a:buNone/>
            </a:pPr>
            <a:r>
              <a:rPr lang="en-US" sz="950" b="1" spc="200" kern="0" dirty="0">
                <a:solidFill>
                  <a:srgbClr val="8FB2D6"/>
                </a:solidFill>
                <a:latin typeface="Calibri" pitchFamily="34" charset="0"/>
                <a:ea typeface="Calibri" pitchFamily="34" charset="-122"/>
                <a:cs typeface="Calibri" pitchFamily="34" charset="-120"/>
              </a:rPr>
              <a:t>SLOW, THEN ALL AT ONCE</a:t>
            </a:r>
            <a:endParaRPr lang="en-US" sz="950" dirty="0"/>
          </a:p>
        </p:txBody>
      </p:sp>
      <p:sp>
        <p:nvSpPr>
          <p:cNvPr id="16" name="Text 14"/>
          <p:cNvSpPr/>
          <p:nvPr/>
        </p:nvSpPr>
        <p:spPr>
          <a:xfrm>
            <a:off x="8347253" y="2624328"/>
            <a:ext cx="3058058" cy="56692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Neither</a:t>
            </a:r>
            <a:endParaRPr lang="en-US" sz="1600" dirty="0"/>
          </a:p>
        </p:txBody>
      </p:sp>
      <p:sp>
        <p:nvSpPr>
          <p:cNvPr id="17" name="Text 15"/>
          <p:cNvSpPr/>
          <p:nvPr/>
        </p:nvSpPr>
        <p:spPr>
          <a:xfrm>
            <a:off x="8347253" y="3227832"/>
            <a:ext cx="3058058" cy="2267712"/>
          </a:xfrm>
          <a:prstGeom prst="rect">
            <a:avLst/>
          </a:prstGeom>
          <a:noFill/>
          <a:ln/>
        </p:spPr>
        <p:txBody>
          <a:bodyPr wrap="square" lIns="0" tIns="0" rIns="0" bIns="0" rtlCol="0" anchor="t"/>
          <a:lstStyle/>
          <a:p>
            <a:pPr indent="0" marL="0">
              <a:lnSpc>
                <a:spcPts val="1600"/>
              </a:lnSpc>
              <a:buNone/>
            </a:pPr>
            <a:r>
              <a:rPr lang="en-US" sz="1250" dirty="0">
                <a:solidFill>
                  <a:srgbClr val="CFDCEA"/>
                </a:solidFill>
                <a:latin typeface="Calibri" pitchFamily="34" charset="0"/>
                <a:ea typeface="Calibri" pitchFamily="34" charset="-122"/>
                <a:cs typeface="Calibri" pitchFamily="34" charset="-120"/>
              </a:rPr>
              <a:t>No operating system compressing cycle time on the inside. No gated, kill-capable discipline on the capital allocation side. Buybacks, acquisitions and reserves substitute for a machine.</a:t>
            </a:r>
            <a:endParaRPr lang="en-US" sz="1250" dirty="0"/>
          </a:p>
          <a:p>
            <a:pPr indent="0" marL="0">
              <a:lnSpc>
                <a:spcPts val="1600"/>
              </a:lnSpc>
              <a:buNone/>
            </a:pPr>
            <a:endParaRPr lang="en-US" sz="1250" dirty="0"/>
          </a:p>
          <a:p>
            <a:pPr indent="0" marL="0">
              <a:lnSpc>
                <a:spcPts val="1600"/>
              </a:lnSpc>
              <a:buNone/>
            </a:pPr>
            <a:r>
              <a:rPr lang="en-US" sz="1250" dirty="0">
                <a:solidFill>
                  <a:srgbClr val="CFDCEA"/>
                </a:solidFill>
                <a:latin typeface="Calibri" pitchFamily="34" charset="0"/>
                <a:ea typeface="Calibri" pitchFamily="34" charset="-122"/>
                <a:cs typeface="Calibri" pitchFamily="34" charset="-120"/>
              </a:rPr>
              <a:t>The largest recorded value destructions in modern industry sit in this box.</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THE SYSTEM</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One machine, six layers</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Everything in the next two days expands one of these boxes.</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4</a:t>
            </a:r>
            <a:endParaRPr lang="en-US" sz="1000" dirty="0"/>
          </a:p>
        </p:txBody>
      </p:sp>
      <p:sp>
        <p:nvSpPr>
          <p:cNvPr id="6" name="Shape 4"/>
          <p:cNvSpPr/>
          <p:nvPr/>
        </p:nvSpPr>
        <p:spPr>
          <a:xfrm>
            <a:off x="566928" y="2148840"/>
            <a:ext cx="1675333" cy="3520440"/>
          </a:xfrm>
          <a:prstGeom prst="roundRect">
            <a:avLst>
              <a:gd name="adj" fmla="val 3275"/>
            </a:avLst>
          </a:prstGeom>
          <a:solidFill>
            <a:srgbClr val="EDF1F7"/>
          </a:solidFill>
          <a:ln w="12700">
            <a:solidFill>
              <a:srgbClr val="D6DEE8"/>
            </a:solidFill>
            <a:prstDash val="solid"/>
          </a:ln>
        </p:spPr>
      </p:sp>
      <p:sp>
        <p:nvSpPr>
          <p:cNvPr id="7" name="Shape 5"/>
          <p:cNvSpPr/>
          <p:nvPr/>
        </p:nvSpPr>
        <p:spPr>
          <a:xfrm>
            <a:off x="786384" y="2368296"/>
            <a:ext cx="475488" cy="475488"/>
          </a:xfrm>
          <a:prstGeom prst="ellipse">
            <a:avLst/>
          </a:prstGeom>
          <a:solidFill>
            <a:srgbClr val="17304A"/>
          </a:solidFill>
          <a:ln/>
        </p:spPr>
      </p:sp>
      <p:sp>
        <p:nvSpPr>
          <p:cNvPr id="8" name="Text 6"/>
          <p:cNvSpPr/>
          <p:nvPr/>
        </p:nvSpPr>
        <p:spPr>
          <a:xfrm>
            <a:off x="786384" y="236829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7"/>
          <p:cNvSpPr/>
          <p:nvPr/>
        </p:nvSpPr>
        <p:spPr>
          <a:xfrm>
            <a:off x="786384" y="2990088"/>
            <a:ext cx="1236421" cy="502920"/>
          </a:xfrm>
          <a:prstGeom prst="rect">
            <a:avLst/>
          </a:prstGeom>
          <a:noFill/>
          <a:ln/>
        </p:spPr>
        <p:txBody>
          <a:bodyPr wrap="square" lIns="0" tIns="0" rIns="0" bIns="0" rtlCol="0" anchor="t"/>
          <a:lstStyle/>
          <a:p>
            <a:pPr indent="0" marL="0">
              <a:buNone/>
            </a:pPr>
            <a:r>
              <a:rPr lang="en-US" sz="1450" b="1" dirty="0">
                <a:solidFill>
                  <a:srgbClr val="17304A"/>
                </a:solidFill>
                <a:latin typeface="Calibri" pitchFamily="34" charset="0"/>
                <a:ea typeface="Calibri" pitchFamily="34" charset="-122"/>
                <a:cs typeface="Calibri" pitchFamily="34" charset="-120"/>
              </a:rPr>
              <a:t>Two engines</a:t>
            </a:r>
            <a:endParaRPr lang="en-US" sz="1450" dirty="0"/>
          </a:p>
        </p:txBody>
      </p:sp>
      <p:sp>
        <p:nvSpPr>
          <p:cNvPr id="10" name="Text 8"/>
          <p:cNvSpPr/>
          <p:nvPr/>
        </p:nvSpPr>
        <p:spPr>
          <a:xfrm>
            <a:off x="786384" y="3483864"/>
            <a:ext cx="1236421" cy="1947672"/>
          </a:xfrm>
          <a:prstGeom prst="rect">
            <a:avLst/>
          </a:prstGeom>
          <a:noFill/>
          <a:ln/>
        </p:spPr>
        <p:txBody>
          <a:bodyPr wrap="square" lIns="0" tIns="0" rIns="0" bIns="0" rtlCol="0" anchor="t"/>
          <a:lstStyle/>
          <a:p>
            <a:pPr indent="0" marL="0">
              <a:lnSpc>
                <a:spcPts val="1500"/>
              </a:lnSpc>
              <a:buNone/>
            </a:pPr>
            <a:r>
              <a:rPr lang="en-US" sz="1150" dirty="0">
                <a:solidFill>
                  <a:srgbClr val="333F4D"/>
                </a:solidFill>
                <a:latin typeface="Calibri" pitchFamily="34" charset="0"/>
                <a:ea typeface="Calibri" pitchFamily="34" charset="-122"/>
                <a:cs typeface="Calibri" pitchFamily="34" charset="-120"/>
              </a:rPr>
              <a:t>Lean on the inside where variance is waste. Convexity on the outside where variance is the product. Nothing averaged across the two.</a:t>
            </a:r>
            <a:endParaRPr lang="en-US" sz="1150" dirty="0"/>
          </a:p>
        </p:txBody>
      </p:sp>
      <p:sp>
        <p:nvSpPr>
          <p:cNvPr id="11" name="Shape 9"/>
          <p:cNvSpPr/>
          <p:nvPr/>
        </p:nvSpPr>
        <p:spPr>
          <a:xfrm>
            <a:off x="2443429" y="2148840"/>
            <a:ext cx="1675333" cy="3520440"/>
          </a:xfrm>
          <a:prstGeom prst="roundRect">
            <a:avLst>
              <a:gd name="adj" fmla="val 3275"/>
            </a:avLst>
          </a:prstGeom>
          <a:solidFill>
            <a:srgbClr val="EDF1F7"/>
          </a:solidFill>
          <a:ln w="12700">
            <a:solidFill>
              <a:srgbClr val="D6DEE8"/>
            </a:solidFill>
            <a:prstDash val="solid"/>
          </a:ln>
        </p:spPr>
      </p:sp>
      <p:sp>
        <p:nvSpPr>
          <p:cNvPr id="12" name="Shape 10"/>
          <p:cNvSpPr/>
          <p:nvPr/>
        </p:nvSpPr>
        <p:spPr>
          <a:xfrm>
            <a:off x="2662885" y="2368296"/>
            <a:ext cx="475488" cy="475488"/>
          </a:xfrm>
          <a:prstGeom prst="ellipse">
            <a:avLst/>
          </a:prstGeom>
          <a:solidFill>
            <a:srgbClr val="17304A"/>
          </a:solidFill>
          <a:ln/>
        </p:spPr>
      </p:sp>
      <p:sp>
        <p:nvSpPr>
          <p:cNvPr id="13" name="Text 11"/>
          <p:cNvSpPr/>
          <p:nvPr/>
        </p:nvSpPr>
        <p:spPr>
          <a:xfrm>
            <a:off x="2662885" y="236829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2"/>
          <p:cNvSpPr/>
          <p:nvPr/>
        </p:nvSpPr>
        <p:spPr>
          <a:xfrm>
            <a:off x="2662885" y="2990088"/>
            <a:ext cx="1236421" cy="502920"/>
          </a:xfrm>
          <a:prstGeom prst="rect">
            <a:avLst/>
          </a:prstGeom>
          <a:noFill/>
          <a:ln/>
        </p:spPr>
        <p:txBody>
          <a:bodyPr wrap="square" lIns="0" tIns="0" rIns="0" bIns="0" rtlCol="0" anchor="t"/>
          <a:lstStyle/>
          <a:p>
            <a:pPr indent="0" marL="0">
              <a:buNone/>
            </a:pPr>
            <a:r>
              <a:rPr lang="en-US" sz="1450" b="1" dirty="0">
                <a:solidFill>
                  <a:srgbClr val="17304A"/>
                </a:solidFill>
                <a:latin typeface="Calibri" pitchFamily="34" charset="0"/>
                <a:ea typeface="Calibri" pitchFamily="34" charset="-122"/>
                <a:cs typeface="Calibri" pitchFamily="34" charset="-120"/>
              </a:rPr>
              <a:t>One router</a:t>
            </a:r>
            <a:endParaRPr lang="en-US" sz="1450" dirty="0"/>
          </a:p>
        </p:txBody>
      </p:sp>
      <p:sp>
        <p:nvSpPr>
          <p:cNvPr id="15" name="Text 13"/>
          <p:cNvSpPr/>
          <p:nvPr/>
        </p:nvSpPr>
        <p:spPr>
          <a:xfrm>
            <a:off x="2662885" y="3483864"/>
            <a:ext cx="1236421" cy="1947672"/>
          </a:xfrm>
          <a:prstGeom prst="rect">
            <a:avLst/>
          </a:prstGeom>
          <a:noFill/>
          <a:ln/>
        </p:spPr>
        <p:txBody>
          <a:bodyPr wrap="square" lIns="0" tIns="0" rIns="0" bIns="0" rtlCol="0" anchor="t"/>
          <a:lstStyle/>
          <a:p>
            <a:pPr indent="0" marL="0">
              <a:lnSpc>
                <a:spcPts val="1500"/>
              </a:lnSpc>
              <a:buNone/>
            </a:pPr>
            <a:r>
              <a:rPr lang="en-US" sz="1150" dirty="0">
                <a:solidFill>
                  <a:srgbClr val="333F4D"/>
                </a:solidFill>
                <a:latin typeface="Calibri" pitchFamily="34" charset="0"/>
                <a:ea typeface="Calibri" pitchFamily="34" charset="-122"/>
                <a:cs typeface="Calibri" pitchFamily="34" charset="-120"/>
              </a:rPr>
              <a:t>R.A.P.I.D. Diagnose, Stabilize, Pilot, Iterate, Deploy. Mandatory gates at every phase. Fractal from a one-week test to a multi-market turnaround.</a:t>
            </a:r>
            <a:endParaRPr lang="en-US" sz="1150" dirty="0"/>
          </a:p>
        </p:txBody>
      </p:sp>
      <p:sp>
        <p:nvSpPr>
          <p:cNvPr id="16" name="Shape 14"/>
          <p:cNvSpPr/>
          <p:nvPr/>
        </p:nvSpPr>
        <p:spPr>
          <a:xfrm>
            <a:off x="4319930" y="2148840"/>
            <a:ext cx="1675333" cy="3520440"/>
          </a:xfrm>
          <a:prstGeom prst="roundRect">
            <a:avLst>
              <a:gd name="adj" fmla="val 3275"/>
            </a:avLst>
          </a:prstGeom>
          <a:solidFill>
            <a:srgbClr val="EDF1F7"/>
          </a:solidFill>
          <a:ln w="12700">
            <a:solidFill>
              <a:srgbClr val="D6DEE8"/>
            </a:solidFill>
            <a:prstDash val="solid"/>
          </a:ln>
        </p:spPr>
      </p:sp>
      <p:sp>
        <p:nvSpPr>
          <p:cNvPr id="17" name="Shape 15"/>
          <p:cNvSpPr/>
          <p:nvPr/>
        </p:nvSpPr>
        <p:spPr>
          <a:xfrm>
            <a:off x="4539386" y="2368296"/>
            <a:ext cx="475488" cy="475488"/>
          </a:xfrm>
          <a:prstGeom prst="ellipse">
            <a:avLst/>
          </a:prstGeom>
          <a:solidFill>
            <a:srgbClr val="17304A"/>
          </a:solidFill>
          <a:ln/>
        </p:spPr>
      </p:sp>
      <p:sp>
        <p:nvSpPr>
          <p:cNvPr id="18" name="Text 16"/>
          <p:cNvSpPr/>
          <p:nvPr/>
        </p:nvSpPr>
        <p:spPr>
          <a:xfrm>
            <a:off x="4539386" y="236829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4539386" y="2990088"/>
            <a:ext cx="1236421" cy="502920"/>
          </a:xfrm>
          <a:prstGeom prst="rect">
            <a:avLst/>
          </a:prstGeom>
          <a:noFill/>
          <a:ln/>
        </p:spPr>
        <p:txBody>
          <a:bodyPr wrap="square" lIns="0" tIns="0" rIns="0" bIns="0" rtlCol="0" anchor="t"/>
          <a:lstStyle/>
          <a:p>
            <a:pPr indent="0" marL="0">
              <a:buNone/>
            </a:pPr>
            <a:r>
              <a:rPr lang="en-US" sz="1450" b="1" dirty="0">
                <a:solidFill>
                  <a:srgbClr val="17304A"/>
                </a:solidFill>
                <a:latin typeface="Calibri" pitchFamily="34" charset="0"/>
                <a:ea typeface="Calibri" pitchFamily="34" charset="-122"/>
                <a:cs typeface="Calibri" pitchFamily="34" charset="-120"/>
              </a:rPr>
              <a:t>One spine</a:t>
            </a:r>
            <a:endParaRPr lang="en-US" sz="1450" dirty="0"/>
          </a:p>
        </p:txBody>
      </p:sp>
      <p:sp>
        <p:nvSpPr>
          <p:cNvPr id="20" name="Text 18"/>
          <p:cNvSpPr/>
          <p:nvPr/>
        </p:nvSpPr>
        <p:spPr>
          <a:xfrm>
            <a:off x="4539386" y="3483864"/>
            <a:ext cx="1236421" cy="1947672"/>
          </a:xfrm>
          <a:prstGeom prst="rect">
            <a:avLst/>
          </a:prstGeom>
          <a:noFill/>
          <a:ln/>
        </p:spPr>
        <p:txBody>
          <a:bodyPr wrap="square" lIns="0" tIns="0" rIns="0" bIns="0" rtlCol="0" anchor="t"/>
          <a:lstStyle/>
          <a:p>
            <a:pPr indent="0" marL="0">
              <a:lnSpc>
                <a:spcPts val="1500"/>
              </a:lnSpc>
              <a:buNone/>
            </a:pPr>
            <a:r>
              <a:rPr lang="en-US" sz="1150" dirty="0">
                <a:solidFill>
                  <a:srgbClr val="333F4D"/>
                </a:solidFill>
                <a:latin typeface="Calibri" pitchFamily="34" charset="0"/>
                <a:ea typeface="Calibri" pitchFamily="34" charset="-122"/>
                <a:cs typeface="Calibri" pitchFamily="34" charset="-120"/>
              </a:rPr>
              <a:t>The P&amp;L driver tree. Every metric on every scorecard traces to a revenue, margin, opex or cash line in one step, or it is deleted.</a:t>
            </a:r>
            <a:endParaRPr lang="en-US" sz="1150" dirty="0"/>
          </a:p>
        </p:txBody>
      </p:sp>
      <p:sp>
        <p:nvSpPr>
          <p:cNvPr id="21" name="Shape 19"/>
          <p:cNvSpPr/>
          <p:nvPr/>
        </p:nvSpPr>
        <p:spPr>
          <a:xfrm>
            <a:off x="6196432" y="2148840"/>
            <a:ext cx="1675333" cy="3520440"/>
          </a:xfrm>
          <a:prstGeom prst="roundRect">
            <a:avLst>
              <a:gd name="adj" fmla="val 3275"/>
            </a:avLst>
          </a:prstGeom>
          <a:solidFill>
            <a:srgbClr val="EDF1F7"/>
          </a:solidFill>
          <a:ln w="12700">
            <a:solidFill>
              <a:srgbClr val="D6DEE8"/>
            </a:solidFill>
            <a:prstDash val="solid"/>
          </a:ln>
        </p:spPr>
      </p:sp>
      <p:sp>
        <p:nvSpPr>
          <p:cNvPr id="22" name="Shape 20"/>
          <p:cNvSpPr/>
          <p:nvPr/>
        </p:nvSpPr>
        <p:spPr>
          <a:xfrm>
            <a:off x="6415888" y="2368296"/>
            <a:ext cx="475488" cy="475488"/>
          </a:xfrm>
          <a:prstGeom prst="ellipse">
            <a:avLst/>
          </a:prstGeom>
          <a:solidFill>
            <a:srgbClr val="17304A"/>
          </a:solidFill>
          <a:ln/>
        </p:spPr>
      </p:sp>
      <p:sp>
        <p:nvSpPr>
          <p:cNvPr id="23" name="Text 21"/>
          <p:cNvSpPr/>
          <p:nvPr/>
        </p:nvSpPr>
        <p:spPr>
          <a:xfrm>
            <a:off x="6415888" y="236829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2"/>
          <p:cNvSpPr/>
          <p:nvPr/>
        </p:nvSpPr>
        <p:spPr>
          <a:xfrm>
            <a:off x="6415888" y="2990088"/>
            <a:ext cx="1236421" cy="502920"/>
          </a:xfrm>
          <a:prstGeom prst="rect">
            <a:avLst/>
          </a:prstGeom>
          <a:noFill/>
          <a:ln/>
        </p:spPr>
        <p:txBody>
          <a:bodyPr wrap="square" lIns="0" tIns="0" rIns="0" bIns="0" rtlCol="0" anchor="t"/>
          <a:lstStyle/>
          <a:p>
            <a:pPr indent="0" marL="0">
              <a:buNone/>
            </a:pPr>
            <a:r>
              <a:rPr lang="en-US" sz="1450" b="1" dirty="0">
                <a:solidFill>
                  <a:srgbClr val="17304A"/>
                </a:solidFill>
                <a:latin typeface="Calibri" pitchFamily="34" charset="0"/>
                <a:ea typeface="Calibri" pitchFamily="34" charset="-122"/>
                <a:cs typeface="Calibri" pitchFamily="34" charset="-120"/>
              </a:rPr>
              <a:t>One cadence</a:t>
            </a:r>
            <a:endParaRPr lang="en-US" sz="1450" dirty="0"/>
          </a:p>
        </p:txBody>
      </p:sp>
      <p:sp>
        <p:nvSpPr>
          <p:cNvPr id="25" name="Text 23"/>
          <p:cNvSpPr/>
          <p:nvPr/>
        </p:nvSpPr>
        <p:spPr>
          <a:xfrm>
            <a:off x="6415888" y="3483864"/>
            <a:ext cx="1236421" cy="1947672"/>
          </a:xfrm>
          <a:prstGeom prst="rect">
            <a:avLst/>
          </a:prstGeom>
          <a:noFill/>
          <a:ln/>
        </p:spPr>
        <p:txBody>
          <a:bodyPr wrap="square" lIns="0" tIns="0" rIns="0" bIns="0" rtlCol="0" anchor="t"/>
          <a:lstStyle/>
          <a:p>
            <a:pPr indent="0" marL="0">
              <a:lnSpc>
                <a:spcPts val="1500"/>
              </a:lnSpc>
              <a:buNone/>
            </a:pPr>
            <a:r>
              <a:rPr lang="en-US" sz="1150" dirty="0">
                <a:solidFill>
                  <a:srgbClr val="333F4D"/>
                </a:solidFill>
                <a:latin typeface="Calibri" pitchFamily="34" charset="0"/>
                <a:ea typeface="Calibri" pitchFamily="34" charset="-122"/>
                <a:cs typeface="Calibri" pitchFamily="34" charset="-120"/>
              </a:rPr>
              <a:t>Daily, weekly, monthly, quarterly, annual. Each forum has one scorecard, one owner, and one decision output. No exceptions.</a:t>
            </a:r>
            <a:endParaRPr lang="en-US" sz="1150" dirty="0"/>
          </a:p>
        </p:txBody>
      </p:sp>
      <p:sp>
        <p:nvSpPr>
          <p:cNvPr id="26" name="Shape 24"/>
          <p:cNvSpPr/>
          <p:nvPr/>
        </p:nvSpPr>
        <p:spPr>
          <a:xfrm>
            <a:off x="8072933" y="2148840"/>
            <a:ext cx="1675333" cy="3520440"/>
          </a:xfrm>
          <a:prstGeom prst="roundRect">
            <a:avLst>
              <a:gd name="adj" fmla="val 3275"/>
            </a:avLst>
          </a:prstGeom>
          <a:solidFill>
            <a:srgbClr val="EDF1F7"/>
          </a:solidFill>
          <a:ln w="12700">
            <a:solidFill>
              <a:srgbClr val="D6DEE8"/>
            </a:solidFill>
            <a:prstDash val="solid"/>
          </a:ln>
        </p:spPr>
      </p:sp>
      <p:sp>
        <p:nvSpPr>
          <p:cNvPr id="27" name="Shape 25"/>
          <p:cNvSpPr/>
          <p:nvPr/>
        </p:nvSpPr>
        <p:spPr>
          <a:xfrm>
            <a:off x="8292389" y="2368296"/>
            <a:ext cx="475488" cy="475488"/>
          </a:xfrm>
          <a:prstGeom prst="ellipse">
            <a:avLst/>
          </a:prstGeom>
          <a:solidFill>
            <a:srgbClr val="17304A"/>
          </a:solidFill>
          <a:ln/>
        </p:spPr>
      </p:sp>
      <p:sp>
        <p:nvSpPr>
          <p:cNvPr id="28" name="Text 26"/>
          <p:cNvSpPr/>
          <p:nvPr/>
        </p:nvSpPr>
        <p:spPr>
          <a:xfrm>
            <a:off x="8292389" y="236829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9" name="Text 27"/>
          <p:cNvSpPr/>
          <p:nvPr/>
        </p:nvSpPr>
        <p:spPr>
          <a:xfrm>
            <a:off x="8292389" y="2990088"/>
            <a:ext cx="1236421" cy="502920"/>
          </a:xfrm>
          <a:prstGeom prst="rect">
            <a:avLst/>
          </a:prstGeom>
          <a:noFill/>
          <a:ln/>
        </p:spPr>
        <p:txBody>
          <a:bodyPr wrap="square" lIns="0" tIns="0" rIns="0" bIns="0" rtlCol="0" anchor="t"/>
          <a:lstStyle/>
          <a:p>
            <a:pPr indent="0" marL="0">
              <a:buNone/>
            </a:pPr>
            <a:r>
              <a:rPr lang="en-US" sz="1450" b="1" dirty="0">
                <a:solidFill>
                  <a:srgbClr val="17304A"/>
                </a:solidFill>
                <a:latin typeface="Calibri" pitchFamily="34" charset="0"/>
                <a:ea typeface="Calibri" pitchFamily="34" charset="-122"/>
                <a:cs typeface="Calibri" pitchFamily="34" charset="-120"/>
              </a:rPr>
              <a:t>One panel</a:t>
            </a:r>
            <a:endParaRPr lang="en-US" sz="1450" dirty="0"/>
          </a:p>
        </p:txBody>
      </p:sp>
      <p:sp>
        <p:nvSpPr>
          <p:cNvPr id="30" name="Text 28"/>
          <p:cNvSpPr/>
          <p:nvPr/>
        </p:nvSpPr>
        <p:spPr>
          <a:xfrm>
            <a:off x="8292389" y="3483864"/>
            <a:ext cx="1236421" cy="1947672"/>
          </a:xfrm>
          <a:prstGeom prst="rect">
            <a:avLst/>
          </a:prstGeom>
          <a:noFill/>
          <a:ln/>
        </p:spPr>
        <p:txBody>
          <a:bodyPr wrap="square" lIns="0" tIns="0" rIns="0" bIns="0" rtlCol="0" anchor="t"/>
          <a:lstStyle/>
          <a:p>
            <a:pPr indent="0" marL="0">
              <a:lnSpc>
                <a:spcPts val="1500"/>
              </a:lnSpc>
              <a:buNone/>
            </a:pPr>
            <a:r>
              <a:rPr lang="en-US" sz="1150" dirty="0">
                <a:solidFill>
                  <a:srgbClr val="333F4D"/>
                </a:solidFill>
                <a:latin typeface="Calibri" pitchFamily="34" charset="0"/>
                <a:ea typeface="Calibri" pitchFamily="34" charset="-122"/>
                <a:cs typeface="Calibri" pitchFamily="34" charset="-120"/>
              </a:rPr>
              <a:t>Survivorship, throughput, velocity and position. Leading indicators outnumber lagging two to one, or we are steering by the wake.</a:t>
            </a:r>
            <a:endParaRPr lang="en-US" sz="1150" dirty="0"/>
          </a:p>
        </p:txBody>
      </p:sp>
      <p:sp>
        <p:nvSpPr>
          <p:cNvPr id="31" name="Shape 29"/>
          <p:cNvSpPr/>
          <p:nvPr/>
        </p:nvSpPr>
        <p:spPr>
          <a:xfrm>
            <a:off x="9949434" y="2148840"/>
            <a:ext cx="1675333" cy="3520440"/>
          </a:xfrm>
          <a:prstGeom prst="roundRect">
            <a:avLst>
              <a:gd name="adj" fmla="val 3275"/>
            </a:avLst>
          </a:prstGeom>
          <a:solidFill>
            <a:srgbClr val="EDF1F7"/>
          </a:solidFill>
          <a:ln w="12700">
            <a:solidFill>
              <a:srgbClr val="D6DEE8"/>
            </a:solidFill>
            <a:prstDash val="solid"/>
          </a:ln>
        </p:spPr>
      </p:sp>
      <p:sp>
        <p:nvSpPr>
          <p:cNvPr id="32" name="Shape 30"/>
          <p:cNvSpPr/>
          <p:nvPr/>
        </p:nvSpPr>
        <p:spPr>
          <a:xfrm>
            <a:off x="10168890" y="2368296"/>
            <a:ext cx="475488" cy="475488"/>
          </a:xfrm>
          <a:prstGeom prst="ellipse">
            <a:avLst/>
          </a:prstGeom>
          <a:solidFill>
            <a:srgbClr val="17304A"/>
          </a:solidFill>
          <a:ln/>
        </p:spPr>
      </p:sp>
      <p:sp>
        <p:nvSpPr>
          <p:cNvPr id="33" name="Text 31"/>
          <p:cNvSpPr/>
          <p:nvPr/>
        </p:nvSpPr>
        <p:spPr>
          <a:xfrm>
            <a:off x="10168890" y="236829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4" name="Text 32"/>
          <p:cNvSpPr/>
          <p:nvPr/>
        </p:nvSpPr>
        <p:spPr>
          <a:xfrm>
            <a:off x="10168890" y="2990088"/>
            <a:ext cx="1236421" cy="502920"/>
          </a:xfrm>
          <a:prstGeom prst="rect">
            <a:avLst/>
          </a:prstGeom>
          <a:noFill/>
          <a:ln/>
        </p:spPr>
        <p:txBody>
          <a:bodyPr wrap="square" lIns="0" tIns="0" rIns="0" bIns="0" rtlCol="0" anchor="t"/>
          <a:lstStyle/>
          <a:p>
            <a:pPr indent="0" marL="0">
              <a:buNone/>
            </a:pPr>
            <a:r>
              <a:rPr lang="en-US" sz="1450" b="1" dirty="0">
                <a:solidFill>
                  <a:srgbClr val="17304A"/>
                </a:solidFill>
                <a:latin typeface="Calibri" pitchFamily="34" charset="0"/>
                <a:ea typeface="Calibri" pitchFamily="34" charset="-122"/>
                <a:cs typeface="Calibri" pitchFamily="34" charset="-120"/>
              </a:rPr>
              <a:t>One culture</a:t>
            </a:r>
            <a:endParaRPr lang="en-US" sz="1450" dirty="0"/>
          </a:p>
        </p:txBody>
      </p:sp>
      <p:sp>
        <p:nvSpPr>
          <p:cNvPr id="35" name="Text 33"/>
          <p:cNvSpPr/>
          <p:nvPr/>
        </p:nvSpPr>
        <p:spPr>
          <a:xfrm>
            <a:off x="10168890" y="3483864"/>
            <a:ext cx="1236421" cy="1947672"/>
          </a:xfrm>
          <a:prstGeom prst="rect">
            <a:avLst/>
          </a:prstGeom>
          <a:noFill/>
          <a:ln/>
        </p:spPr>
        <p:txBody>
          <a:bodyPr wrap="square" lIns="0" tIns="0" rIns="0" bIns="0" rtlCol="0" anchor="t"/>
          <a:lstStyle/>
          <a:p>
            <a:pPr indent="0" marL="0">
              <a:lnSpc>
                <a:spcPts val="1500"/>
              </a:lnSpc>
              <a:buNone/>
            </a:pPr>
            <a:r>
              <a:rPr lang="en-US" sz="1150" dirty="0">
                <a:solidFill>
                  <a:srgbClr val="333F4D"/>
                </a:solidFill>
                <a:latin typeface="Calibri" pitchFamily="34" charset="0"/>
                <a:ea typeface="Calibri" pitchFamily="34" charset="-122"/>
                <a:cs typeface="Calibri" pitchFamily="34" charset="-120"/>
              </a:rPr>
              <a:t>The behaviours that keep the machine honest when the person holding the criterion is junior, tired, or outranked.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AGENDA</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Two days</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Day one installs the machine. Day two installs the discipline that keeps it running.</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2148840"/>
          <a:ext cx="11057839" cy="914400"/>
        </p:xfrm>
        <a:graphic>
          <a:graphicData uri="http://schemas.openxmlformats.org/drawingml/2006/table">
            <a:tbl>
              <a:tblPr/>
              <a:tblGrid>
                <a:gridCol w="1371600"/>
                <a:gridCol w="4114800"/>
                <a:gridCol w="4023360"/>
                <a:gridCol w="1563624"/>
              </a:tblGrid>
              <a:tr h="274320">
                <a:tc>
                  <a:txBody>
                    <a:bodyPr/>
                    <a:lstStyle/>
                    <a:p>
                      <a:pPr indent="0" marL="0">
                        <a:buNone/>
                      </a:pP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Module</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Exercise</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Runs</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r>
              <a:tr h="274320">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Day 1 · AM</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1  Distribution realism and the two zones</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The Average Lie  ·  Zone Sort</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2h</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Day 1 · AM</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2  Survivorship before returns</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The Ruin Audit</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1h</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r h="274320">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Day 1 · PM</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3  The P&amp;L spine</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Driver Tree Build</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2h</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Day 1 · PM</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4  Hidden economics</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The True ROI Recompute</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1h30</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r h="274320">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Day 1 · PM</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5  The execution loop</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Route the Initiative</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1h</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Day 2 · AM</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6  Experimentation and gates</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Pre-Registration Sprint  ·  Gate Rehearsal</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2h</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r h="274320">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Day 2 · AM</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7  Cadence and decision rights</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Calendar Teardown  ·  Latency Reconstruction</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1h30</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Day 2 · PM</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8  AI and operating leverage</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Workflow Re-architecture</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1h</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r h="274320">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Day 2 · PM</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9  People</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The Keeper Test, In Writing</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1h</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274320">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Day 2 · PM</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10  Culture</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The Kill  ·  The Misreading Drill</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1h30</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r h="274320">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Day 2 · PM</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11  Commitment</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First Monday</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00" dirty="0">
                          <a:solidFill>
                            <a:srgbClr val="2B3440"/>
                          </a:solidFill>
                          <a:latin typeface="Calibri" pitchFamily="34" charset="0"/>
                          <a:ea typeface="Calibri" pitchFamily="34" charset="-122"/>
                          <a:cs typeface="Calibri" pitchFamily="34" charset="-120"/>
                        </a:rPr>
                        <a:t>45m</a:t>
                      </a:r>
                      <a:endParaRPr lang="en-US" sz="11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7304A"/>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17304A"/>
          </a:solidFill>
          <a:ln/>
        </p:spPr>
      </p:sp>
      <p:sp>
        <p:nvSpPr>
          <p:cNvPr id="3" name="Text 1"/>
          <p:cNvSpPr/>
          <p:nvPr/>
        </p:nvSpPr>
        <p:spPr>
          <a:xfrm>
            <a:off x="841248" y="1737360"/>
            <a:ext cx="2743200" cy="1463040"/>
          </a:xfrm>
          <a:prstGeom prst="rect">
            <a:avLst/>
          </a:prstGeom>
          <a:noFill/>
          <a:ln/>
        </p:spPr>
        <p:txBody>
          <a:bodyPr wrap="square" lIns="0" tIns="0" rIns="0" bIns="0" rtlCol="0" anchor="ctr"/>
          <a:lstStyle/>
          <a:p>
            <a:pPr indent="0" marL="0">
              <a:buNone/>
            </a:pPr>
            <a:r>
              <a:rPr lang="en-US" sz="9000" b="1" dirty="0">
                <a:solidFill>
                  <a:srgbClr val="3D6491"/>
                </a:solidFill>
                <a:latin typeface="Cambria" pitchFamily="34" charset="0"/>
                <a:ea typeface="Cambria" pitchFamily="34" charset="-122"/>
                <a:cs typeface="Cambria" pitchFamily="34" charset="-120"/>
              </a:rPr>
              <a:t>01</a:t>
            </a:r>
            <a:endParaRPr lang="en-US" sz="9000" dirty="0"/>
          </a:p>
        </p:txBody>
      </p:sp>
      <p:sp>
        <p:nvSpPr>
          <p:cNvPr id="4" name="Text 2"/>
          <p:cNvSpPr/>
          <p:nvPr/>
        </p:nvSpPr>
        <p:spPr>
          <a:xfrm>
            <a:off x="841248" y="3063240"/>
            <a:ext cx="9229039"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Distribution Realism</a:t>
            </a:r>
            <a:endParaRPr lang="en-US" sz="4000" dirty="0"/>
          </a:p>
        </p:txBody>
      </p:sp>
      <p:sp>
        <p:nvSpPr>
          <p:cNvPr id="5" name="Text 3"/>
          <p:cNvSpPr/>
          <p:nvPr/>
        </p:nvSpPr>
        <p:spPr>
          <a:xfrm>
            <a:off x="841248" y="4041648"/>
            <a:ext cx="8412480" cy="914400"/>
          </a:xfrm>
          <a:prstGeom prst="rect">
            <a:avLst/>
          </a:prstGeom>
          <a:noFill/>
          <a:ln/>
        </p:spPr>
        <p:txBody>
          <a:bodyPr wrap="square" lIns="0" tIns="0" rIns="0" bIns="0" rtlCol="0" anchor="ctr"/>
          <a:lstStyle/>
          <a:p>
            <a:pPr indent="0" marL="0">
              <a:lnSpc>
                <a:spcPts val="2200"/>
              </a:lnSpc>
              <a:buNone/>
            </a:pPr>
            <a:r>
              <a:rPr lang="en-US" sz="1600" dirty="0">
                <a:solidFill>
                  <a:srgbClr val="CFDCEA"/>
                </a:solidFill>
                <a:latin typeface="Calibri" pitchFamily="34" charset="0"/>
                <a:ea typeface="Calibri" pitchFamily="34" charset="-122"/>
                <a:cs typeface="Calibri" pitchFamily="34" charset="-120"/>
              </a:rPr>
              <a:t>Model every domain by its actual distribution. Lean the Gaussian zones. Barbell the power-law zones. Never average across the two.</a:t>
            </a:r>
            <a:endParaRPr lang="en-US" sz="1600" dirty="0"/>
          </a:p>
        </p:txBody>
      </p:sp>
      <p:sp>
        <p:nvSpPr>
          <p:cNvPr id="6" name="Text 4"/>
          <p:cNvSpPr/>
          <p:nvPr/>
        </p:nvSpPr>
        <p:spPr>
          <a:xfrm>
            <a:off x="841248" y="5623560"/>
            <a:ext cx="8229600" cy="365760"/>
          </a:xfrm>
          <a:prstGeom prst="rect">
            <a:avLst/>
          </a:prstGeom>
          <a:noFill/>
          <a:ln/>
        </p:spPr>
        <p:txBody>
          <a:bodyPr wrap="square" lIns="0" tIns="0" rIns="0" bIns="0" rtlCol="0" anchor="ctr"/>
          <a:lstStyle/>
          <a:p>
            <a:pPr indent="0" marL="0">
              <a:buNone/>
            </a:pPr>
            <a:r>
              <a:rPr lang="en-US" sz="1200" b="1" spc="160" kern="0" dirty="0">
                <a:solidFill>
                  <a:srgbClr val="7FA3C9"/>
                </a:solidFill>
                <a:latin typeface="Calibri" pitchFamily="34" charset="0"/>
                <a:ea typeface="Calibri" pitchFamily="34" charset="-122"/>
                <a:cs typeface="Calibri" pitchFamily="34" charset="-120"/>
              </a:rPr>
              <a:t>TWO HOURS  ·  EXERCISES 1 AND 2</a:t>
            </a:r>
            <a:endParaRPr lang="en-US" sz="1200" dirty="0"/>
          </a:p>
        </p:txBody>
      </p:sp>
      <p:sp>
        <p:nvSpPr>
          <p:cNvPr id="7" name="Text 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THE CORE DISTINCTION</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Is variance here the waste, or the product?</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Asked once, at intake. The answer determines the discipline, the scorecard, the cadence and the gate criteria for everything downstream.</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7</a:t>
            </a:r>
            <a:endParaRPr lang="en-US" sz="1000" dirty="0"/>
          </a:p>
        </p:txBody>
      </p:sp>
      <p:sp>
        <p:nvSpPr>
          <p:cNvPr id="6" name="Shape 4"/>
          <p:cNvSpPr/>
          <p:nvPr/>
        </p:nvSpPr>
        <p:spPr>
          <a:xfrm>
            <a:off x="566928" y="2148840"/>
            <a:ext cx="5373472" cy="4050792"/>
          </a:xfrm>
          <a:prstGeom prst="roundRect">
            <a:avLst>
              <a:gd name="adj" fmla="val 1354"/>
            </a:avLst>
          </a:prstGeom>
          <a:solidFill>
            <a:srgbClr val="EDF1F7"/>
          </a:solidFill>
          <a:ln w="12700">
            <a:solidFill>
              <a:srgbClr val="D6DEE8"/>
            </a:solidFill>
            <a:prstDash val="solid"/>
          </a:ln>
        </p:spPr>
      </p:sp>
      <p:sp>
        <p:nvSpPr>
          <p:cNvPr id="7" name="Text 5"/>
          <p:cNvSpPr/>
          <p:nvPr/>
        </p:nvSpPr>
        <p:spPr>
          <a:xfrm>
            <a:off x="841248" y="2386584"/>
            <a:ext cx="4824832" cy="237744"/>
          </a:xfrm>
          <a:prstGeom prst="rect">
            <a:avLst/>
          </a:prstGeom>
          <a:noFill/>
          <a:ln/>
        </p:spPr>
        <p:txBody>
          <a:bodyPr wrap="square" lIns="0" tIns="0" rIns="0" bIns="0" rtlCol="0" anchor="ctr"/>
          <a:lstStyle/>
          <a:p>
            <a:pPr indent="0" marL="0">
              <a:buNone/>
            </a:pPr>
            <a:r>
              <a:rPr lang="en-US" sz="1000" b="1" spc="220" kern="0" dirty="0">
                <a:solidFill>
                  <a:srgbClr val="17304A"/>
                </a:solidFill>
                <a:latin typeface="Calibri" pitchFamily="34" charset="0"/>
                <a:ea typeface="Calibri" pitchFamily="34" charset="-122"/>
                <a:cs typeface="Calibri" pitchFamily="34" charset="-120"/>
              </a:rPr>
              <a:t>INSIDE THE MACHINE</a:t>
            </a:r>
            <a:endParaRPr lang="en-US" sz="1000" dirty="0"/>
          </a:p>
        </p:txBody>
      </p:sp>
      <p:sp>
        <p:nvSpPr>
          <p:cNvPr id="8" name="Text 6"/>
          <p:cNvSpPr/>
          <p:nvPr/>
        </p:nvSpPr>
        <p:spPr>
          <a:xfrm>
            <a:off x="841248" y="2660904"/>
            <a:ext cx="4824832" cy="502920"/>
          </a:xfrm>
          <a:prstGeom prst="rect">
            <a:avLst/>
          </a:prstGeom>
          <a:noFill/>
          <a:ln/>
        </p:spPr>
        <p:txBody>
          <a:bodyPr wrap="square" lIns="0" tIns="0" rIns="0" bIns="0" rtlCol="0" anchor="ctr"/>
          <a:lstStyle/>
          <a:p>
            <a:pPr indent="0" marL="0">
              <a:buNone/>
            </a:pPr>
            <a:r>
              <a:rPr lang="en-US" sz="1700" b="1" dirty="0">
                <a:solidFill>
                  <a:srgbClr val="17304A"/>
                </a:solidFill>
                <a:latin typeface="Calibri" pitchFamily="34" charset="0"/>
                <a:ea typeface="Calibri" pitchFamily="34" charset="-122"/>
                <a:cs typeface="Calibri" pitchFamily="34" charset="-120"/>
              </a:rPr>
              <a:t>Variance is waste — apply Lean</a:t>
            </a:r>
            <a:endParaRPr lang="en-US" sz="1700" dirty="0"/>
          </a:p>
        </p:txBody>
      </p:sp>
      <p:sp>
        <p:nvSpPr>
          <p:cNvPr id="9" name="Text 7"/>
          <p:cNvSpPr/>
          <p:nvPr/>
        </p:nvSpPr>
        <p:spPr>
          <a:xfrm>
            <a:off x="841248" y="3209544"/>
            <a:ext cx="4824832" cy="272491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350" dirty="0">
                <a:solidFill>
                  <a:srgbClr val="333F4D"/>
                </a:solidFill>
                <a:latin typeface="Calibri" pitchFamily="34" charset="0"/>
                <a:ea typeface="Calibri" pitchFamily="34" charset="-122"/>
                <a:cs typeface="Calibri" pitchFamily="34" charset="-120"/>
              </a:rPr>
              <a:t>Outcomes cluster around a mean. The tenth percentile and the ninetieth are close together.</a:t>
            </a:r>
            <a:endParaRPr lang="en-US" sz="1350" dirty="0"/>
          </a:p>
          <a:p>
            <a:pPr marL="342900" indent="-342900">
              <a:lnSpc>
                <a:spcPts val="1700"/>
              </a:lnSpc>
              <a:spcAft>
                <a:spcPts val="700"/>
              </a:spcAft>
              <a:buSzPct val="100000"/>
              <a:buChar char="•"/>
            </a:pPr>
            <a:r>
              <a:rPr lang="en-US" sz="1350" dirty="0">
                <a:solidFill>
                  <a:srgbClr val="333F4D"/>
                </a:solidFill>
                <a:latin typeface="Calibri" pitchFamily="34" charset="0"/>
                <a:ea typeface="Calibri" pitchFamily="34" charset="-122"/>
                <a:cs typeface="Calibri" pitchFamily="34" charset="-120"/>
              </a:rPr>
              <a:t>Supply chain, fulfilment, service delivery, compliance, financial control, promotion mechanics.</a:t>
            </a:r>
            <a:endParaRPr lang="en-US" sz="1350" dirty="0"/>
          </a:p>
          <a:p>
            <a:pPr marL="342900" indent="-342900">
              <a:lnSpc>
                <a:spcPts val="1700"/>
              </a:lnSpc>
              <a:spcAft>
                <a:spcPts val="700"/>
              </a:spcAft>
              <a:buSzPct val="100000"/>
              <a:buChar char="•"/>
            </a:pPr>
            <a:r>
              <a:rPr lang="en-US" sz="1350" dirty="0">
                <a:solidFill>
                  <a:srgbClr val="333F4D"/>
                </a:solidFill>
                <a:latin typeface="Calibri" pitchFamily="34" charset="0"/>
                <a:ea typeface="Calibri" pitchFamily="34" charset="-122"/>
                <a:cs typeface="Calibri" pitchFamily="34" charset="-120"/>
              </a:rPr>
              <a:t>The goal is to compress variance: standard work, error-proofing, stop-the-line authority.</a:t>
            </a:r>
            <a:endParaRPr lang="en-US" sz="1350" dirty="0"/>
          </a:p>
          <a:p>
            <a:pPr marL="342900" indent="-342900">
              <a:lnSpc>
                <a:spcPts val="1700"/>
              </a:lnSpc>
              <a:spcAft>
                <a:spcPts val="700"/>
              </a:spcAft>
              <a:buSzPct val="100000"/>
              <a:buChar char="•"/>
            </a:pPr>
            <a:r>
              <a:rPr lang="en-US" sz="1350" dirty="0">
                <a:solidFill>
                  <a:srgbClr val="333F4D"/>
                </a:solidFill>
                <a:latin typeface="Calibri" pitchFamily="34" charset="0"/>
                <a:ea typeface="Calibri" pitchFamily="34" charset="-122"/>
                <a:cs typeface="Calibri" pitchFamily="34" charset="-120"/>
              </a:rPr>
              <a:t>Success looks like predictability. Forecast error below 10%. Zero open severity-1 items.</a:t>
            </a:r>
            <a:endParaRPr lang="en-US" sz="1350" dirty="0"/>
          </a:p>
          <a:p>
            <a:pPr marL="342900" indent="-342900">
              <a:lnSpc>
                <a:spcPts val="1700"/>
              </a:lnSpc>
              <a:spcAft>
                <a:spcPts val="700"/>
              </a:spcAft>
              <a:buSzPct val="100000"/>
              <a:buChar char="•"/>
            </a:pPr>
            <a:r>
              <a:rPr lang="en-US" sz="1350" dirty="0">
                <a:solidFill>
                  <a:srgbClr val="333F4D"/>
                </a:solidFill>
                <a:latin typeface="Calibri" pitchFamily="34" charset="0"/>
                <a:ea typeface="Calibri" pitchFamily="34" charset="-122"/>
                <a:cs typeface="Calibri" pitchFamily="34" charset="-120"/>
              </a:rPr>
              <a:t>A surprise here is a defect.</a:t>
            </a:r>
            <a:endParaRPr lang="en-US" sz="1350" dirty="0"/>
          </a:p>
        </p:txBody>
      </p:sp>
      <p:sp>
        <p:nvSpPr>
          <p:cNvPr id="10" name="Shape 8"/>
          <p:cNvSpPr/>
          <p:nvPr/>
        </p:nvSpPr>
        <p:spPr>
          <a:xfrm>
            <a:off x="6251296" y="2148840"/>
            <a:ext cx="5373472" cy="4050792"/>
          </a:xfrm>
          <a:prstGeom prst="roundRect">
            <a:avLst>
              <a:gd name="adj" fmla="val 1354"/>
            </a:avLst>
          </a:prstGeom>
          <a:solidFill>
            <a:srgbClr val="EDF1F7"/>
          </a:solidFill>
          <a:ln w="12700">
            <a:solidFill>
              <a:srgbClr val="D6DEE8"/>
            </a:solidFill>
            <a:prstDash val="solid"/>
          </a:ln>
        </p:spPr>
      </p:sp>
      <p:sp>
        <p:nvSpPr>
          <p:cNvPr id="11" name="Text 9"/>
          <p:cNvSpPr/>
          <p:nvPr/>
        </p:nvSpPr>
        <p:spPr>
          <a:xfrm>
            <a:off x="6525616" y="2386584"/>
            <a:ext cx="4824832" cy="237744"/>
          </a:xfrm>
          <a:prstGeom prst="rect">
            <a:avLst/>
          </a:prstGeom>
          <a:noFill/>
          <a:ln/>
        </p:spPr>
        <p:txBody>
          <a:bodyPr wrap="square" lIns="0" tIns="0" rIns="0" bIns="0" rtlCol="0" anchor="ctr"/>
          <a:lstStyle/>
          <a:p>
            <a:pPr indent="0" marL="0">
              <a:buNone/>
            </a:pPr>
            <a:r>
              <a:rPr lang="en-US" sz="1000" b="1" spc="220" kern="0" dirty="0">
                <a:solidFill>
                  <a:srgbClr val="8C2B2B"/>
                </a:solidFill>
                <a:latin typeface="Calibri" pitchFamily="34" charset="0"/>
                <a:ea typeface="Calibri" pitchFamily="34" charset="-122"/>
                <a:cs typeface="Calibri" pitchFamily="34" charset="-120"/>
              </a:rPr>
              <a:t>OUTSIDE THE MACHINE</a:t>
            </a:r>
            <a:endParaRPr lang="en-US" sz="1000" dirty="0"/>
          </a:p>
        </p:txBody>
      </p:sp>
      <p:sp>
        <p:nvSpPr>
          <p:cNvPr id="12" name="Text 10"/>
          <p:cNvSpPr/>
          <p:nvPr/>
        </p:nvSpPr>
        <p:spPr>
          <a:xfrm>
            <a:off x="6525616" y="2660904"/>
            <a:ext cx="4824832" cy="502920"/>
          </a:xfrm>
          <a:prstGeom prst="rect">
            <a:avLst/>
          </a:prstGeom>
          <a:noFill/>
          <a:ln/>
        </p:spPr>
        <p:txBody>
          <a:bodyPr wrap="square" lIns="0" tIns="0" rIns="0" bIns="0" rtlCol="0" anchor="ctr"/>
          <a:lstStyle/>
          <a:p>
            <a:pPr indent="0" marL="0">
              <a:buNone/>
            </a:pPr>
            <a:r>
              <a:rPr lang="en-US" sz="1700" b="1" dirty="0">
                <a:solidFill>
                  <a:srgbClr val="17304A"/>
                </a:solidFill>
                <a:latin typeface="Calibri" pitchFamily="34" charset="0"/>
                <a:ea typeface="Calibri" pitchFamily="34" charset="-122"/>
                <a:cs typeface="Calibri" pitchFamily="34" charset="-120"/>
              </a:rPr>
              <a:t>Variance is the product — apply convexity</a:t>
            </a:r>
            <a:endParaRPr lang="en-US" sz="1700" dirty="0"/>
          </a:p>
        </p:txBody>
      </p:sp>
      <p:sp>
        <p:nvSpPr>
          <p:cNvPr id="13" name="Text 11"/>
          <p:cNvSpPr/>
          <p:nvPr/>
        </p:nvSpPr>
        <p:spPr>
          <a:xfrm>
            <a:off x="6525616" y="3209544"/>
            <a:ext cx="4824832" cy="272491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350" dirty="0">
                <a:solidFill>
                  <a:srgbClr val="333F4D"/>
                </a:solidFill>
                <a:latin typeface="Calibri" pitchFamily="34" charset="0"/>
                <a:ea typeface="Calibri" pitchFamily="34" charset="-122"/>
                <a:cs typeface="Calibri" pitchFamily="34" charset="-120"/>
              </a:rPr>
              <a:t>Outcomes follow a power law. A small number of outliers produce most of the return.</a:t>
            </a:r>
            <a:endParaRPr lang="en-US" sz="1350" dirty="0"/>
          </a:p>
          <a:p>
            <a:pPr marL="342900" indent="-342900">
              <a:lnSpc>
                <a:spcPts val="1700"/>
              </a:lnSpc>
              <a:spcAft>
                <a:spcPts val="700"/>
              </a:spcAft>
              <a:buSzPct val="100000"/>
              <a:buChar char="•"/>
            </a:pPr>
            <a:r>
              <a:rPr lang="en-US" sz="1350" dirty="0">
                <a:solidFill>
                  <a:srgbClr val="333F4D"/>
                </a:solidFill>
                <a:latin typeface="Calibri" pitchFamily="34" charset="0"/>
                <a:ea typeface="Calibri" pitchFamily="34" charset="-122"/>
                <a:cs typeface="Calibri" pitchFamily="34" charset="-120"/>
              </a:rPr>
              <a:t>New brands, categories, markets, products. Content and authority. M&amp;A and capital deployment.</a:t>
            </a:r>
            <a:endParaRPr lang="en-US" sz="1350" dirty="0"/>
          </a:p>
          <a:p>
            <a:pPr marL="342900" indent="-342900">
              <a:lnSpc>
                <a:spcPts val="1700"/>
              </a:lnSpc>
              <a:spcAft>
                <a:spcPts val="700"/>
              </a:spcAft>
              <a:buSzPct val="100000"/>
              <a:buChar char="•"/>
            </a:pPr>
            <a:r>
              <a:rPr lang="en-US" sz="1350" dirty="0">
                <a:solidFill>
                  <a:srgbClr val="333F4D"/>
                </a:solidFill>
                <a:latin typeface="Calibri" pitchFamily="34" charset="0"/>
                <a:ea typeface="Calibri" pitchFamily="34" charset="-122"/>
                <a:cs typeface="Calibri" pitchFamily="34" charset="-120"/>
              </a:rPr>
              <a:t>The goal is exposure to upside: many cheap, uncorrelated bets with capped downside.</a:t>
            </a:r>
            <a:endParaRPr lang="en-US" sz="1350" dirty="0"/>
          </a:p>
          <a:p>
            <a:pPr marL="342900" indent="-342900">
              <a:lnSpc>
                <a:spcPts val="1700"/>
              </a:lnSpc>
              <a:spcAft>
                <a:spcPts val="700"/>
              </a:spcAft>
              <a:buSzPct val="100000"/>
              <a:buChar char="•"/>
            </a:pPr>
            <a:r>
              <a:rPr lang="en-US" sz="1350" dirty="0">
                <a:solidFill>
                  <a:srgbClr val="333F4D"/>
                </a:solidFill>
                <a:latin typeface="Calibri" pitchFamily="34" charset="0"/>
                <a:ea typeface="Calibri" pitchFamily="34" charset="-122"/>
                <a:cs typeface="Calibri" pitchFamily="34" charset="-120"/>
              </a:rPr>
              <a:t>Success looks like a portfolio where most things fail and a few pay for everything.</a:t>
            </a:r>
            <a:endParaRPr lang="en-US" sz="1350" dirty="0"/>
          </a:p>
          <a:p>
            <a:pPr marL="342900" indent="-342900">
              <a:lnSpc>
                <a:spcPts val="1700"/>
              </a:lnSpc>
              <a:spcAft>
                <a:spcPts val="700"/>
              </a:spcAft>
              <a:buSzPct val="100000"/>
              <a:buChar char="•"/>
            </a:pPr>
            <a:r>
              <a:rPr lang="en-US" sz="1350" dirty="0">
                <a:solidFill>
                  <a:srgbClr val="333F4D"/>
                </a:solidFill>
                <a:latin typeface="Calibri" pitchFamily="34" charset="0"/>
                <a:ea typeface="Calibri" pitchFamily="34" charset="-122"/>
                <a:cs typeface="Calibri" pitchFamily="34" charset="-120"/>
              </a:rPr>
              <a:t>A surprise here is the entire point.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WHAT GOES WRONG</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The two failure directions</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Both are common. One kills you slowly and one kills you quickly. Most companies are running at least one of them right now.</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8</a:t>
            </a:r>
            <a:endParaRPr lang="en-US" sz="1000" dirty="0"/>
          </a:p>
        </p:txBody>
      </p:sp>
      <p:sp>
        <p:nvSpPr>
          <p:cNvPr id="6" name="Shape 4"/>
          <p:cNvSpPr/>
          <p:nvPr/>
        </p:nvSpPr>
        <p:spPr>
          <a:xfrm>
            <a:off x="566928" y="2148840"/>
            <a:ext cx="5400904" cy="3566160"/>
          </a:xfrm>
          <a:prstGeom prst="roundRect">
            <a:avLst>
              <a:gd name="adj" fmla="val 1538"/>
            </a:avLst>
          </a:prstGeom>
          <a:solidFill>
            <a:srgbClr val="EDF1F7"/>
          </a:solidFill>
          <a:ln w="12700">
            <a:solidFill>
              <a:srgbClr val="D6DEE8"/>
            </a:solidFill>
            <a:prstDash val="solid"/>
          </a:ln>
        </p:spPr>
      </p:sp>
      <p:sp>
        <p:nvSpPr>
          <p:cNvPr id="7" name="Text 5"/>
          <p:cNvSpPr/>
          <p:nvPr/>
        </p:nvSpPr>
        <p:spPr>
          <a:xfrm>
            <a:off x="804672" y="2368296"/>
            <a:ext cx="4943704" cy="219456"/>
          </a:xfrm>
          <a:prstGeom prst="rect">
            <a:avLst/>
          </a:prstGeom>
          <a:noFill/>
          <a:ln/>
        </p:spPr>
        <p:txBody>
          <a:bodyPr wrap="square" lIns="0" tIns="0" rIns="0" bIns="0" rtlCol="0" anchor="ctr"/>
          <a:lstStyle/>
          <a:p>
            <a:pPr indent="0" marL="0">
              <a:buNone/>
            </a:pPr>
            <a:r>
              <a:rPr lang="en-US" sz="950" b="1" spc="200" kern="0" dirty="0">
                <a:solidFill>
                  <a:srgbClr val="2E5A8C"/>
                </a:solidFill>
                <a:latin typeface="Calibri" pitchFamily="34" charset="0"/>
                <a:ea typeface="Calibri" pitchFamily="34" charset="-122"/>
                <a:cs typeface="Calibri" pitchFamily="34" charset="-120"/>
              </a:rPr>
              <a:t>LEAN LOGIC APPLIED TO THE BET PORTFOLIO</a:t>
            </a:r>
            <a:endParaRPr lang="en-US" sz="950" dirty="0"/>
          </a:p>
        </p:txBody>
      </p:sp>
      <p:sp>
        <p:nvSpPr>
          <p:cNvPr id="8" name="Text 6"/>
          <p:cNvSpPr/>
          <p:nvPr/>
        </p:nvSpPr>
        <p:spPr>
          <a:xfrm>
            <a:off x="804672" y="2624328"/>
            <a:ext cx="4943704" cy="566928"/>
          </a:xfrm>
          <a:prstGeom prst="rect">
            <a:avLst/>
          </a:prstGeom>
          <a:noFill/>
          <a:ln/>
        </p:spPr>
        <p:txBody>
          <a:bodyPr wrap="square" lIns="0" tIns="0" rIns="0" bIns="0" rtlCol="0" anchor="t"/>
          <a:lstStyle/>
          <a:p>
            <a:pPr indent="0" marL="0">
              <a:buNone/>
            </a:pPr>
            <a:r>
              <a:rPr lang="en-US" sz="1600" b="1" dirty="0">
                <a:solidFill>
                  <a:srgbClr val="17304A"/>
                </a:solidFill>
                <a:latin typeface="Calibri" pitchFamily="34" charset="0"/>
                <a:ea typeface="Calibri" pitchFamily="34" charset="-122"/>
                <a:cs typeface="Calibri" pitchFamily="34" charset="-120"/>
              </a:rPr>
              <a:t>Slow death — three to five years</a:t>
            </a:r>
            <a:endParaRPr lang="en-US" sz="1600" dirty="0"/>
          </a:p>
        </p:txBody>
      </p:sp>
      <p:sp>
        <p:nvSpPr>
          <p:cNvPr id="9" name="Text 7"/>
          <p:cNvSpPr/>
          <p:nvPr/>
        </p:nvSpPr>
        <p:spPr>
          <a:xfrm>
            <a:off x="804672" y="3227832"/>
            <a:ext cx="4943704" cy="2267712"/>
          </a:xfrm>
          <a:prstGeom prst="rect">
            <a:avLst/>
          </a:prstGeom>
          <a:noFill/>
          <a:ln/>
        </p:spPr>
        <p:txBody>
          <a:bodyPr wrap="square" lIns="0" tIns="0" rIns="0" bIns="0" rtlCol="0" anchor="t"/>
          <a:lstStyle/>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Every concept must prove itself to an average before funding. Every test is resized until it is safe enough to be meaningless. The portfolio converges to line extensions and promotion overlays, and the growth algorithm quietly becomes price over volume.</a:t>
            </a:r>
            <a:endParaRPr lang="en-US" sz="1250" dirty="0"/>
          </a:p>
          <a:p>
            <a:pPr indent="0" marL="0">
              <a:lnSpc>
                <a:spcPts val="1600"/>
              </a:lnSpc>
              <a:buNone/>
            </a:pPr>
            <a:endParaRPr lang="en-US" sz="1250" dirty="0"/>
          </a:p>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Arrives as a stall with margins at multi-year lows.</a:t>
            </a:r>
            <a:endParaRPr lang="en-US" sz="1250" dirty="0"/>
          </a:p>
          <a:p>
            <a:pPr indent="0" marL="0">
              <a:lnSpc>
                <a:spcPts val="1600"/>
              </a:lnSpc>
              <a:buNone/>
            </a:pPr>
            <a:endParaRPr lang="en-US" sz="1250" dirty="0"/>
          </a:p>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Countermeasure: a kill-rate floor of 50%. If the variance zone has produced no kills in two quarters, we are not running enough shots.</a:t>
            </a:r>
            <a:endParaRPr lang="en-US" sz="1250" dirty="0"/>
          </a:p>
        </p:txBody>
      </p:sp>
      <p:sp>
        <p:nvSpPr>
          <p:cNvPr id="10" name="Shape 8"/>
          <p:cNvSpPr/>
          <p:nvPr/>
        </p:nvSpPr>
        <p:spPr>
          <a:xfrm>
            <a:off x="6223864" y="2148840"/>
            <a:ext cx="5400904" cy="3566160"/>
          </a:xfrm>
          <a:prstGeom prst="roundRect">
            <a:avLst>
              <a:gd name="adj" fmla="val 1538"/>
            </a:avLst>
          </a:prstGeom>
          <a:solidFill>
            <a:srgbClr val="17304A"/>
          </a:solidFill>
          <a:ln w="12700">
            <a:solidFill>
              <a:srgbClr val="17304A"/>
            </a:solidFill>
            <a:prstDash val="solid"/>
          </a:ln>
        </p:spPr>
      </p:sp>
      <p:sp>
        <p:nvSpPr>
          <p:cNvPr id="11" name="Text 9"/>
          <p:cNvSpPr/>
          <p:nvPr/>
        </p:nvSpPr>
        <p:spPr>
          <a:xfrm>
            <a:off x="6461608" y="2368296"/>
            <a:ext cx="4943704" cy="219456"/>
          </a:xfrm>
          <a:prstGeom prst="rect">
            <a:avLst/>
          </a:prstGeom>
          <a:noFill/>
          <a:ln/>
        </p:spPr>
        <p:txBody>
          <a:bodyPr wrap="square" lIns="0" tIns="0" rIns="0" bIns="0" rtlCol="0" anchor="ctr"/>
          <a:lstStyle/>
          <a:p>
            <a:pPr indent="0" marL="0">
              <a:buNone/>
            </a:pPr>
            <a:r>
              <a:rPr lang="en-US" sz="950" b="1" spc="200" kern="0" dirty="0">
                <a:solidFill>
                  <a:srgbClr val="8FB2D6"/>
                </a:solidFill>
                <a:latin typeface="Calibri" pitchFamily="34" charset="0"/>
                <a:ea typeface="Calibri" pitchFamily="34" charset="-122"/>
                <a:cs typeface="Calibri" pitchFamily="34" charset="-120"/>
              </a:rPr>
              <a:t>VENTURE LOGIC APPLIED TO OPERATIONS</a:t>
            </a:r>
            <a:endParaRPr lang="en-US" sz="950" dirty="0"/>
          </a:p>
        </p:txBody>
      </p:sp>
      <p:sp>
        <p:nvSpPr>
          <p:cNvPr id="12" name="Text 10"/>
          <p:cNvSpPr/>
          <p:nvPr/>
        </p:nvSpPr>
        <p:spPr>
          <a:xfrm>
            <a:off x="6461608" y="2624328"/>
            <a:ext cx="4943704" cy="56692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Fast death — one to two years</a:t>
            </a:r>
            <a:endParaRPr lang="en-US" sz="1600" dirty="0"/>
          </a:p>
        </p:txBody>
      </p:sp>
      <p:sp>
        <p:nvSpPr>
          <p:cNvPr id="13" name="Text 11"/>
          <p:cNvSpPr/>
          <p:nvPr/>
        </p:nvSpPr>
        <p:spPr>
          <a:xfrm>
            <a:off x="6461608" y="3227832"/>
            <a:ext cx="4943704" cy="2267712"/>
          </a:xfrm>
          <a:prstGeom prst="rect">
            <a:avLst/>
          </a:prstGeom>
          <a:noFill/>
          <a:ln/>
        </p:spPr>
        <p:txBody>
          <a:bodyPr wrap="square" lIns="0" tIns="0" rIns="0" bIns="0" rtlCol="0" anchor="t"/>
          <a:lstStyle/>
          <a:p>
            <a:pPr indent="0" marL="0">
              <a:lnSpc>
                <a:spcPts val="1600"/>
              </a:lnSpc>
              <a:buNone/>
            </a:pPr>
            <a:r>
              <a:rPr lang="en-US" sz="1250" dirty="0">
                <a:solidFill>
                  <a:srgbClr val="CFDCEA"/>
                </a:solidFill>
                <a:latin typeface="Calibri" pitchFamily="34" charset="0"/>
                <a:ea typeface="Calibri" pitchFamily="34" charset="-122"/>
                <a:cs typeface="Calibri" pitchFamily="34" charset="-120"/>
              </a:rPr>
              <a:t>Undocumented commitments, unmeasured spend, tail products launched on enthusiasm, cash tied up in unvalidated inventory. Every promotion is "strategic" and none has an accrual matched to it.</a:t>
            </a:r>
            <a:endParaRPr lang="en-US" sz="1250" dirty="0"/>
          </a:p>
          <a:p>
            <a:pPr indent="0" marL="0">
              <a:lnSpc>
                <a:spcPts val="1600"/>
              </a:lnSpc>
              <a:buNone/>
            </a:pPr>
            <a:endParaRPr lang="en-US" sz="1250" dirty="0"/>
          </a:p>
          <a:p>
            <a:pPr indent="0" marL="0">
              <a:lnSpc>
                <a:spcPts val="1600"/>
              </a:lnSpc>
              <a:buNone/>
            </a:pPr>
            <a:r>
              <a:rPr lang="en-US" sz="1250" dirty="0">
                <a:solidFill>
                  <a:srgbClr val="CFDCEA"/>
                </a:solidFill>
                <a:latin typeface="Calibri" pitchFamily="34" charset="0"/>
                <a:ea typeface="Calibri" pitchFamily="34" charset="-122"/>
                <a:cs typeface="Calibri" pitchFamily="34" charset="-120"/>
              </a:rPr>
              <a:t>The cash crisis arrives on schedule.</a:t>
            </a:r>
            <a:endParaRPr lang="en-US" sz="1250" dirty="0"/>
          </a:p>
          <a:p>
            <a:pPr indent="0" marL="0">
              <a:lnSpc>
                <a:spcPts val="1600"/>
              </a:lnSpc>
              <a:buNone/>
            </a:pPr>
            <a:endParaRPr lang="en-US" sz="1250" dirty="0"/>
          </a:p>
          <a:p>
            <a:pPr indent="0" marL="0">
              <a:lnSpc>
                <a:spcPts val="1600"/>
              </a:lnSpc>
              <a:buNone/>
            </a:pPr>
            <a:r>
              <a:rPr lang="en-US" sz="1250" dirty="0">
                <a:solidFill>
                  <a:srgbClr val="CFDCEA"/>
                </a:solidFill>
                <a:latin typeface="Calibri" pitchFamily="34" charset="0"/>
                <a:ea typeface="Calibri" pitchFamily="34" charset="-122"/>
                <a:cs typeface="Calibri" pitchFamily="34" charset="-120"/>
              </a:rPr>
              <a:t>Countermeasure: event-level ROI on every discretionary spend, the Trade-Spend Gate, and a weekly covenant review.</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F31"/>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0E1F31"/>
          </a:solidFill>
          <a:ln/>
        </p:spPr>
      </p:sp>
      <p:sp>
        <p:nvSpPr>
          <p:cNvPr id="3" name="Text 1"/>
          <p:cNvSpPr/>
          <p:nvPr/>
        </p:nvSpPr>
        <p:spPr>
          <a:xfrm>
            <a:off x="841248" y="384048"/>
            <a:ext cx="5486400" cy="256032"/>
          </a:xfrm>
          <a:prstGeom prst="rect">
            <a:avLst/>
          </a:prstGeom>
          <a:noFill/>
          <a:ln/>
        </p:spPr>
        <p:txBody>
          <a:bodyPr wrap="square" lIns="0" tIns="0" rIns="0" bIns="0" rtlCol="0" anchor="ctr"/>
          <a:lstStyle/>
          <a:p>
            <a:pPr indent="0" marL="0">
              <a:buNone/>
            </a:pPr>
            <a:r>
              <a:rPr lang="en-US" sz="1150" b="1" spc="360" kern="0" dirty="0">
                <a:solidFill>
                  <a:srgbClr val="D2A24C"/>
                </a:solidFill>
                <a:latin typeface="Calibri" pitchFamily="34" charset="0"/>
                <a:ea typeface="Calibri" pitchFamily="34" charset="-122"/>
                <a:cs typeface="Calibri" pitchFamily="34" charset="-120"/>
              </a:rPr>
              <a:t>EXERCISE 1</a:t>
            </a:r>
            <a:endParaRPr lang="en-US" sz="1150" dirty="0"/>
          </a:p>
        </p:txBody>
      </p:sp>
      <p:sp>
        <p:nvSpPr>
          <p:cNvPr id="4" name="Text 2"/>
          <p:cNvSpPr/>
          <p:nvPr/>
        </p:nvSpPr>
        <p:spPr>
          <a:xfrm>
            <a:off x="841248" y="731520"/>
            <a:ext cx="8131759" cy="80467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Average Lie</a:t>
            </a:r>
            <a:endParaRPr lang="en-US" sz="3200" dirty="0"/>
          </a:p>
        </p:txBody>
      </p:sp>
      <p:sp>
        <p:nvSpPr>
          <p:cNvPr id="5" name="Text 3"/>
          <p:cNvSpPr/>
          <p:nvPr/>
        </p:nvSpPr>
        <p:spPr>
          <a:xfrm>
            <a:off x="841248"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FORMAT</a:t>
            </a:r>
            <a:endParaRPr lang="en-US" sz="950" dirty="0"/>
          </a:p>
        </p:txBody>
      </p:sp>
      <p:sp>
        <p:nvSpPr>
          <p:cNvPr id="6" name="Text 4"/>
          <p:cNvSpPr/>
          <p:nvPr/>
        </p:nvSpPr>
        <p:spPr>
          <a:xfrm>
            <a:off x="841248"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Tables of 4–6, then plenary</a:t>
            </a:r>
            <a:endParaRPr lang="en-US" sz="1300" dirty="0"/>
          </a:p>
        </p:txBody>
      </p:sp>
      <p:sp>
        <p:nvSpPr>
          <p:cNvPr id="7" name="Text 5"/>
          <p:cNvSpPr/>
          <p:nvPr/>
        </p:nvSpPr>
        <p:spPr>
          <a:xfrm>
            <a:off x="4420514"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TIME</a:t>
            </a:r>
            <a:endParaRPr lang="en-US" sz="950" dirty="0"/>
          </a:p>
        </p:txBody>
      </p:sp>
      <p:sp>
        <p:nvSpPr>
          <p:cNvPr id="8" name="Text 6"/>
          <p:cNvSpPr/>
          <p:nvPr/>
        </p:nvSpPr>
        <p:spPr>
          <a:xfrm>
            <a:off x="4420514"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25 minutes</a:t>
            </a:r>
            <a:endParaRPr lang="en-US" sz="1300" dirty="0"/>
          </a:p>
        </p:txBody>
      </p:sp>
      <p:sp>
        <p:nvSpPr>
          <p:cNvPr id="9" name="Text 7"/>
          <p:cNvSpPr/>
          <p:nvPr/>
        </p:nvSpPr>
        <p:spPr>
          <a:xfrm>
            <a:off x="7999781"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OUTPUT</a:t>
            </a:r>
            <a:endParaRPr lang="en-US" sz="950" dirty="0"/>
          </a:p>
        </p:txBody>
      </p:sp>
      <p:sp>
        <p:nvSpPr>
          <p:cNvPr id="10" name="Text 8"/>
          <p:cNvSpPr/>
          <p:nvPr/>
        </p:nvSpPr>
        <p:spPr>
          <a:xfrm>
            <a:off x="7999781"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reversed decision, in writing</a:t>
            </a:r>
            <a:endParaRPr lang="en-US" sz="1300" dirty="0"/>
          </a:p>
        </p:txBody>
      </p:sp>
      <p:sp>
        <p:nvSpPr>
          <p:cNvPr id="11" name="Shape 9"/>
          <p:cNvSpPr/>
          <p:nvPr/>
        </p:nvSpPr>
        <p:spPr>
          <a:xfrm>
            <a:off x="841248" y="2414016"/>
            <a:ext cx="10509199" cy="18288"/>
          </a:xfrm>
          <a:prstGeom prst="rect">
            <a:avLst/>
          </a:prstGeom>
          <a:solidFill>
            <a:srgbClr val="2C4763"/>
          </a:solidFill>
          <a:ln/>
        </p:spPr>
      </p:sp>
      <p:sp>
        <p:nvSpPr>
          <p:cNvPr id="12" name="Text 10"/>
          <p:cNvSpPr/>
          <p:nvPr/>
        </p:nvSpPr>
        <p:spPr>
          <a:xfrm>
            <a:off x="841248" y="2615184"/>
            <a:ext cx="5120640" cy="219456"/>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THE BRIEF</a:t>
            </a:r>
            <a:endParaRPr lang="en-US" sz="950" dirty="0"/>
          </a:p>
        </p:txBody>
      </p:sp>
      <p:sp>
        <p:nvSpPr>
          <p:cNvPr id="13" name="Text 11"/>
          <p:cNvSpPr/>
          <p:nvPr/>
        </p:nvSpPr>
        <p:spPr>
          <a:xfrm>
            <a:off x="841248" y="2889504"/>
            <a:ext cx="6035040" cy="3310128"/>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Each table receives a one-page summary of a real business decision we face, presented in aggregate: blended growth, blended margin, blended retention.</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Table has eight minutes to reach a decision and write it on a card. Commit fully — no hedging, no "it depends."</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Cards are collected and read aloud. Note the consensus.</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The facilitator then distributes the same data decomposed by cohort. Five minutes.</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Each table writes a second card. Read both aloud, side by side.</a:t>
            </a:r>
            <a:endParaRPr lang="en-US" sz="1250" dirty="0"/>
          </a:p>
        </p:txBody>
      </p:sp>
      <p:sp>
        <p:nvSpPr>
          <p:cNvPr id="14" name="Shape 12"/>
          <p:cNvSpPr/>
          <p:nvPr/>
        </p:nvSpPr>
        <p:spPr>
          <a:xfrm>
            <a:off x="7287768" y="2578608"/>
            <a:ext cx="4336999" cy="3675888"/>
          </a:xfrm>
          <a:prstGeom prst="roundRect">
            <a:avLst>
              <a:gd name="adj" fmla="val 1493"/>
            </a:avLst>
          </a:prstGeom>
          <a:solidFill>
            <a:srgbClr val="16324C"/>
          </a:solidFill>
          <a:ln w="12700">
            <a:solidFill>
              <a:srgbClr val="2C4763"/>
            </a:solidFill>
            <a:prstDash val="solid"/>
          </a:ln>
        </p:spPr>
      </p:sp>
      <p:sp>
        <p:nvSpPr>
          <p:cNvPr id="15" name="Text 13"/>
          <p:cNvSpPr/>
          <p:nvPr/>
        </p:nvSpPr>
        <p:spPr>
          <a:xfrm>
            <a:off x="7516368" y="2779776"/>
            <a:ext cx="3834079" cy="219456"/>
          </a:xfrm>
          <a:prstGeom prst="rect">
            <a:avLst/>
          </a:prstGeom>
          <a:noFill/>
          <a:ln/>
        </p:spPr>
        <p:txBody>
          <a:bodyPr wrap="square" lIns="0" tIns="0" rIns="0" bIns="0" rtlCol="0" anchor="ctr"/>
          <a:lstStyle/>
          <a:p>
            <a:pPr indent="0" marL="0">
              <a:buNone/>
            </a:pPr>
            <a:r>
              <a:rPr lang="en-US" sz="950" b="1" spc="200" kern="0" dirty="0">
                <a:solidFill>
                  <a:srgbClr val="D2A24C"/>
                </a:solidFill>
                <a:latin typeface="Calibri" pitchFamily="34" charset="0"/>
                <a:ea typeface="Calibri" pitchFamily="34" charset="-122"/>
                <a:cs typeface="Calibri" pitchFamily="34" charset="-120"/>
              </a:rPr>
              <a:t>WHAT THIS ANCHORS</a:t>
            </a:r>
            <a:endParaRPr lang="en-US" sz="950" dirty="0"/>
          </a:p>
        </p:txBody>
      </p:sp>
      <p:sp>
        <p:nvSpPr>
          <p:cNvPr id="16" name="Text 14"/>
          <p:cNvSpPr/>
          <p:nvPr/>
        </p:nvSpPr>
        <p:spPr>
          <a:xfrm>
            <a:off x="7516368" y="3054096"/>
            <a:ext cx="3834079" cy="3054096"/>
          </a:xfrm>
          <a:prstGeom prst="rect">
            <a:avLst/>
          </a:prstGeom>
          <a:noFill/>
          <a:ln/>
        </p:spPr>
        <p:txBody>
          <a:bodyPr wrap="square" lIns="0" tIns="0" rIns="0" bIns="0" rtlCol="0" anchor="t"/>
          <a:lstStyle/>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room will reverse. Not everyone, but enough that the point cannot be argued with afterwards.</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felt experience — committing confidently to a decision and then watching your own reasoning collapse under decomposition — is the thing that sticks. A lecture about cohort analysis does not produce it.</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From this point on, anyone in the building may say "show me the cohort" and it lands as a request rather than an accusation.</a:t>
            </a:r>
            <a:endParaRPr lang="en-US" sz="1250" dirty="0"/>
          </a:p>
        </p:txBody>
      </p:sp>
      <p:sp>
        <p:nvSpPr>
          <p:cNvPr id="17" name="Text 1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F31"/>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0E1F31"/>
          </a:solidFill>
          <a:ln/>
        </p:spPr>
      </p:sp>
      <p:sp>
        <p:nvSpPr>
          <p:cNvPr id="3" name="Text 1"/>
          <p:cNvSpPr/>
          <p:nvPr/>
        </p:nvSpPr>
        <p:spPr>
          <a:xfrm>
            <a:off x="841248" y="384048"/>
            <a:ext cx="5486400" cy="256032"/>
          </a:xfrm>
          <a:prstGeom prst="rect">
            <a:avLst/>
          </a:prstGeom>
          <a:noFill/>
          <a:ln/>
        </p:spPr>
        <p:txBody>
          <a:bodyPr wrap="square" lIns="0" tIns="0" rIns="0" bIns="0" rtlCol="0" anchor="ctr"/>
          <a:lstStyle/>
          <a:p>
            <a:pPr indent="0" marL="0">
              <a:buNone/>
            </a:pPr>
            <a:r>
              <a:rPr lang="en-US" sz="1150" b="1" spc="360" kern="0" dirty="0">
                <a:solidFill>
                  <a:srgbClr val="D2A24C"/>
                </a:solidFill>
                <a:latin typeface="Calibri" pitchFamily="34" charset="0"/>
                <a:ea typeface="Calibri" pitchFamily="34" charset="-122"/>
                <a:cs typeface="Calibri" pitchFamily="34" charset="-120"/>
              </a:rPr>
              <a:t>EXERCISE 2</a:t>
            </a:r>
            <a:endParaRPr lang="en-US" sz="1150" dirty="0"/>
          </a:p>
        </p:txBody>
      </p:sp>
      <p:sp>
        <p:nvSpPr>
          <p:cNvPr id="4" name="Text 2"/>
          <p:cNvSpPr/>
          <p:nvPr/>
        </p:nvSpPr>
        <p:spPr>
          <a:xfrm>
            <a:off x="841248" y="731520"/>
            <a:ext cx="8131759" cy="80467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Zone Sort</a:t>
            </a:r>
            <a:endParaRPr lang="en-US" sz="3200" dirty="0"/>
          </a:p>
        </p:txBody>
      </p:sp>
      <p:sp>
        <p:nvSpPr>
          <p:cNvPr id="5" name="Text 3"/>
          <p:cNvSpPr/>
          <p:nvPr/>
        </p:nvSpPr>
        <p:spPr>
          <a:xfrm>
            <a:off x="841248"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FORMAT</a:t>
            </a:r>
            <a:endParaRPr lang="en-US" sz="950" dirty="0"/>
          </a:p>
        </p:txBody>
      </p:sp>
      <p:sp>
        <p:nvSpPr>
          <p:cNvPr id="6" name="Text 4"/>
          <p:cNvSpPr/>
          <p:nvPr/>
        </p:nvSpPr>
        <p:spPr>
          <a:xfrm>
            <a:off x="841248"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Tables, competitive</a:t>
            </a:r>
            <a:endParaRPr lang="en-US" sz="1300" dirty="0"/>
          </a:p>
        </p:txBody>
      </p:sp>
      <p:sp>
        <p:nvSpPr>
          <p:cNvPr id="7" name="Text 5"/>
          <p:cNvSpPr/>
          <p:nvPr/>
        </p:nvSpPr>
        <p:spPr>
          <a:xfrm>
            <a:off x="4420514"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TIME</a:t>
            </a:r>
            <a:endParaRPr lang="en-US" sz="950" dirty="0"/>
          </a:p>
        </p:txBody>
      </p:sp>
      <p:sp>
        <p:nvSpPr>
          <p:cNvPr id="8" name="Text 6"/>
          <p:cNvSpPr/>
          <p:nvPr/>
        </p:nvSpPr>
        <p:spPr>
          <a:xfrm>
            <a:off x="4420514"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35 minutes</a:t>
            </a:r>
            <a:endParaRPr lang="en-US" sz="1300" dirty="0"/>
          </a:p>
        </p:txBody>
      </p:sp>
      <p:sp>
        <p:nvSpPr>
          <p:cNvPr id="9" name="Text 7"/>
          <p:cNvSpPr/>
          <p:nvPr/>
        </p:nvSpPr>
        <p:spPr>
          <a:xfrm>
            <a:off x="7999781"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OUTPUT</a:t>
            </a:r>
            <a:endParaRPr lang="en-US" sz="950" dirty="0"/>
          </a:p>
        </p:txBody>
      </p:sp>
      <p:sp>
        <p:nvSpPr>
          <p:cNvPr id="10" name="Text 8"/>
          <p:cNvSpPr/>
          <p:nvPr/>
        </p:nvSpPr>
        <p:spPr>
          <a:xfrm>
            <a:off x="7999781"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Every live initiative routed, with disputes logged</a:t>
            </a:r>
            <a:endParaRPr lang="en-US" sz="1300" dirty="0"/>
          </a:p>
        </p:txBody>
      </p:sp>
      <p:sp>
        <p:nvSpPr>
          <p:cNvPr id="11" name="Shape 9"/>
          <p:cNvSpPr/>
          <p:nvPr/>
        </p:nvSpPr>
        <p:spPr>
          <a:xfrm>
            <a:off x="841248" y="2414016"/>
            <a:ext cx="10509199" cy="18288"/>
          </a:xfrm>
          <a:prstGeom prst="rect">
            <a:avLst/>
          </a:prstGeom>
          <a:solidFill>
            <a:srgbClr val="2C4763"/>
          </a:solidFill>
          <a:ln/>
        </p:spPr>
      </p:sp>
      <p:sp>
        <p:nvSpPr>
          <p:cNvPr id="12" name="Text 10"/>
          <p:cNvSpPr/>
          <p:nvPr/>
        </p:nvSpPr>
        <p:spPr>
          <a:xfrm>
            <a:off x="841248" y="2615184"/>
            <a:ext cx="5120640" cy="219456"/>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THE BRIEF</a:t>
            </a:r>
            <a:endParaRPr lang="en-US" sz="950" dirty="0"/>
          </a:p>
        </p:txBody>
      </p:sp>
      <p:sp>
        <p:nvSpPr>
          <p:cNvPr id="13" name="Text 11"/>
          <p:cNvSpPr/>
          <p:nvPr/>
        </p:nvSpPr>
        <p:spPr>
          <a:xfrm>
            <a:off x="841248" y="2889504"/>
            <a:ext cx="6035040" cy="3310128"/>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Every initiative currently active in the business is printed on a card — one per card, no owner named.</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Each table sorts all cards into two piles: variance is waste, variance is the product.</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Second pass: for each card, write the gate criterion that zone implies. Inside gets a performance threshold. Outside gets a kill criterion.</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Tables compare. Any card where two tables disagree goes on the wall under DISPUTED.</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Plenary: work the disputed pile only. Fifteen minutes, hard stop.</a:t>
            </a:r>
            <a:endParaRPr lang="en-US" sz="1250" dirty="0"/>
          </a:p>
        </p:txBody>
      </p:sp>
      <p:sp>
        <p:nvSpPr>
          <p:cNvPr id="14" name="Shape 12"/>
          <p:cNvSpPr/>
          <p:nvPr/>
        </p:nvSpPr>
        <p:spPr>
          <a:xfrm>
            <a:off x="7287768" y="2578608"/>
            <a:ext cx="4336999" cy="3675888"/>
          </a:xfrm>
          <a:prstGeom prst="roundRect">
            <a:avLst>
              <a:gd name="adj" fmla="val 1493"/>
            </a:avLst>
          </a:prstGeom>
          <a:solidFill>
            <a:srgbClr val="16324C"/>
          </a:solidFill>
          <a:ln w="12700">
            <a:solidFill>
              <a:srgbClr val="2C4763"/>
            </a:solidFill>
            <a:prstDash val="solid"/>
          </a:ln>
        </p:spPr>
      </p:sp>
      <p:sp>
        <p:nvSpPr>
          <p:cNvPr id="15" name="Text 13"/>
          <p:cNvSpPr/>
          <p:nvPr/>
        </p:nvSpPr>
        <p:spPr>
          <a:xfrm>
            <a:off x="7516368" y="2779776"/>
            <a:ext cx="3834079" cy="219456"/>
          </a:xfrm>
          <a:prstGeom prst="rect">
            <a:avLst/>
          </a:prstGeom>
          <a:noFill/>
          <a:ln/>
        </p:spPr>
        <p:txBody>
          <a:bodyPr wrap="square" lIns="0" tIns="0" rIns="0" bIns="0" rtlCol="0" anchor="ctr"/>
          <a:lstStyle/>
          <a:p>
            <a:pPr indent="0" marL="0">
              <a:buNone/>
            </a:pPr>
            <a:r>
              <a:rPr lang="en-US" sz="950" b="1" spc="200" kern="0" dirty="0">
                <a:solidFill>
                  <a:srgbClr val="D2A24C"/>
                </a:solidFill>
                <a:latin typeface="Calibri" pitchFamily="34" charset="0"/>
                <a:ea typeface="Calibri" pitchFamily="34" charset="-122"/>
                <a:cs typeface="Calibri" pitchFamily="34" charset="-120"/>
              </a:rPr>
              <a:t>WHAT THIS ANCHORS</a:t>
            </a:r>
            <a:endParaRPr lang="en-US" sz="950" dirty="0"/>
          </a:p>
        </p:txBody>
      </p:sp>
      <p:sp>
        <p:nvSpPr>
          <p:cNvPr id="16" name="Text 14"/>
          <p:cNvSpPr/>
          <p:nvPr/>
        </p:nvSpPr>
        <p:spPr>
          <a:xfrm>
            <a:off x="7516368" y="3054096"/>
            <a:ext cx="3834079" cy="3054096"/>
          </a:xfrm>
          <a:prstGeom prst="rect">
            <a:avLst/>
          </a:prstGeom>
          <a:noFill/>
          <a:ln/>
        </p:spPr>
        <p:txBody>
          <a:bodyPr wrap="square" lIns="0" tIns="0" rIns="0" bIns="0" rtlCol="0" anchor="t"/>
          <a:lstStyle/>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disputed pile is the deliverable. Those are the initiatives currently being managed with the wrong discipline, by people who each believe they are being rigorous.</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second pass matters more than the first. Sorting is easy; naming the gate criterion forces the sort to become operational.</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Every card sorted here carries its routing into Module 5, where it enters the loop.</a:t>
            </a:r>
            <a:endParaRPr lang="en-US" sz="1250" dirty="0"/>
          </a:p>
        </p:txBody>
      </p:sp>
      <p:sp>
        <p:nvSpPr>
          <p:cNvPr id="17" name="Text 1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304A"/>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17304A"/>
          </a:solidFill>
          <a:ln/>
        </p:spPr>
      </p:sp>
      <p:sp>
        <p:nvSpPr>
          <p:cNvPr id="3" name="Text 1"/>
          <p:cNvSpPr/>
          <p:nvPr/>
        </p:nvSpPr>
        <p:spPr>
          <a:xfrm>
            <a:off x="841248" y="1737360"/>
            <a:ext cx="2743200" cy="1463040"/>
          </a:xfrm>
          <a:prstGeom prst="rect">
            <a:avLst/>
          </a:prstGeom>
          <a:noFill/>
          <a:ln/>
        </p:spPr>
        <p:txBody>
          <a:bodyPr wrap="square" lIns="0" tIns="0" rIns="0" bIns="0" rtlCol="0" anchor="ctr"/>
          <a:lstStyle/>
          <a:p>
            <a:pPr indent="0" marL="0">
              <a:buNone/>
            </a:pPr>
            <a:r>
              <a:rPr lang="en-US" sz="9000" b="1" dirty="0">
                <a:solidFill>
                  <a:srgbClr val="3D6491"/>
                </a:solidFill>
                <a:latin typeface="Cambria" pitchFamily="34" charset="0"/>
                <a:ea typeface="Cambria" pitchFamily="34" charset="-122"/>
                <a:cs typeface="Cambria" pitchFamily="34" charset="-120"/>
              </a:rPr>
              <a:t>02</a:t>
            </a:r>
            <a:endParaRPr lang="en-US" sz="9000" dirty="0"/>
          </a:p>
        </p:txBody>
      </p:sp>
      <p:sp>
        <p:nvSpPr>
          <p:cNvPr id="4" name="Text 2"/>
          <p:cNvSpPr/>
          <p:nvPr/>
        </p:nvSpPr>
        <p:spPr>
          <a:xfrm>
            <a:off x="841248" y="3063240"/>
            <a:ext cx="9229039"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Survivorship Before Returns</a:t>
            </a:r>
            <a:endParaRPr lang="en-US" sz="4000" dirty="0"/>
          </a:p>
        </p:txBody>
      </p:sp>
      <p:sp>
        <p:nvSpPr>
          <p:cNvPr id="5" name="Text 3"/>
          <p:cNvSpPr/>
          <p:nvPr/>
        </p:nvSpPr>
        <p:spPr>
          <a:xfrm>
            <a:off x="841248" y="4041648"/>
            <a:ext cx="8412480" cy="914400"/>
          </a:xfrm>
          <a:prstGeom prst="rect">
            <a:avLst/>
          </a:prstGeom>
          <a:noFill/>
          <a:ln/>
        </p:spPr>
        <p:txBody>
          <a:bodyPr wrap="square" lIns="0" tIns="0" rIns="0" bIns="0" rtlCol="0" anchor="ctr"/>
          <a:lstStyle/>
          <a:p>
            <a:pPr indent="0" marL="0">
              <a:lnSpc>
                <a:spcPts val="2200"/>
              </a:lnSpc>
              <a:buNone/>
            </a:pPr>
            <a:r>
              <a:rPr lang="en-US" sz="1600" dirty="0">
                <a:solidFill>
                  <a:srgbClr val="CFDCEA"/>
                </a:solidFill>
                <a:latin typeface="Calibri" pitchFamily="34" charset="0"/>
                <a:ea typeface="Calibri" pitchFamily="34" charset="-122"/>
                <a:cs typeface="Calibri" pitchFamily="34" charset="-120"/>
              </a:rPr>
              <a:t>No bet, vendor, hire or market entry may create ruin risk. These are covenants, not targets — and a covenant with an override is a guideline.</a:t>
            </a:r>
            <a:endParaRPr lang="en-US" sz="1600" dirty="0"/>
          </a:p>
        </p:txBody>
      </p:sp>
      <p:sp>
        <p:nvSpPr>
          <p:cNvPr id="6" name="Text 4"/>
          <p:cNvSpPr/>
          <p:nvPr/>
        </p:nvSpPr>
        <p:spPr>
          <a:xfrm>
            <a:off x="841248" y="5623560"/>
            <a:ext cx="8229600" cy="365760"/>
          </a:xfrm>
          <a:prstGeom prst="rect">
            <a:avLst/>
          </a:prstGeom>
          <a:noFill/>
          <a:ln/>
        </p:spPr>
        <p:txBody>
          <a:bodyPr wrap="square" lIns="0" tIns="0" rIns="0" bIns="0" rtlCol="0" anchor="ctr"/>
          <a:lstStyle/>
          <a:p>
            <a:pPr indent="0" marL="0">
              <a:buNone/>
            </a:pPr>
            <a:r>
              <a:rPr lang="en-US" sz="1200" b="1" spc="160" kern="0" dirty="0">
                <a:solidFill>
                  <a:srgbClr val="7FA3C9"/>
                </a:solidFill>
                <a:latin typeface="Calibri" pitchFamily="34" charset="0"/>
                <a:ea typeface="Calibri" pitchFamily="34" charset="-122"/>
                <a:cs typeface="Calibri" pitchFamily="34" charset="-120"/>
              </a:rPr>
              <a:t>ONE HOUR  ·  EXERCISE 3</a:t>
            </a:r>
            <a:endParaRPr lang="en-US" sz="1200" dirty="0"/>
          </a:p>
        </p:txBody>
      </p:sp>
      <p:sp>
        <p:nvSpPr>
          <p:cNvPr id="7" name="Text 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THE COVENANTS</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Six numbers that are not negotiable</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Reviewed weekly. Attested monthly, by name, not by function. No override authority exists — including the founder’s.</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2148840"/>
          <a:ext cx="11057839" cy="914400"/>
        </p:xfrm>
        <a:graphic>
          <a:graphicData uri="http://schemas.openxmlformats.org/drawingml/2006/table">
            <a:tbl>
              <a:tblPr/>
              <a:tblGrid>
                <a:gridCol w="3291840"/>
                <a:gridCol w="2743200"/>
                <a:gridCol w="5038344"/>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Covenant</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Limit</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Action on breach</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r>
              <a:tr h="566928">
                <a:tc>
                  <a:txBody>
                    <a:bodyPr/>
                    <a:lstStyle/>
                    <a:p>
                      <a:pPr indent="0" marL="0">
                        <a:buNone/>
                      </a:pPr>
                      <a:r>
                        <a:rPr lang="en-US" sz="1200" b="1" dirty="0">
                          <a:solidFill>
                            <a:srgbClr val="2B3440"/>
                          </a:solidFill>
                          <a:latin typeface="Calibri" pitchFamily="34" charset="0"/>
                          <a:ea typeface="Calibri" pitchFamily="34" charset="-122"/>
                          <a:cs typeface="Calibri" pitchFamily="34" charset="-120"/>
                        </a:rPr>
                        <a:t>Cash runway</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&gt; 12 months on the 13-week rolling forecast</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Automatic hold on all outside-zone deployment. Reset the bet portfolio before anything else is discussed.</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2B3440"/>
                          </a:solidFill>
                          <a:latin typeface="Calibri" pitchFamily="34" charset="0"/>
                          <a:ea typeface="Calibri" pitchFamily="34" charset="-122"/>
                          <a:cs typeface="Calibri" pitchFamily="34" charset="-120"/>
                        </a:rPr>
                        <a:t>Customer or channel concentration</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Flag at 20%, breach at 25% of net revenue</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Named diversification plan with dates. No new concentration-increasing commitments.</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r h="566928">
                <a:tc>
                  <a:txBody>
                    <a:bodyPr/>
                    <a:lstStyle/>
                    <a:p>
                      <a:pPr indent="0" marL="0">
                        <a:buNone/>
                      </a:pPr>
                      <a:r>
                        <a:rPr lang="en-US" sz="1200" b="1" dirty="0">
                          <a:solidFill>
                            <a:srgbClr val="2B3440"/>
                          </a:solidFill>
                          <a:latin typeface="Calibri" pitchFamily="34" charset="0"/>
                          <a:ea typeface="Calibri" pitchFamily="34" charset="-122"/>
                          <a:cs typeface="Calibri" pitchFamily="34" charset="-120"/>
                        </a:rPr>
                        <a:t>Single position vs. enterprise value</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 25%</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Structure down: earnouts, staged tranches, partner participation. Do not proceed on hope.</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2B3440"/>
                          </a:solidFill>
                          <a:latin typeface="Calibri" pitchFamily="34" charset="0"/>
                          <a:ea typeface="Calibri" pitchFamily="34" charset="-122"/>
                          <a:cs typeface="Calibri" pitchFamily="34" charset="-120"/>
                        </a:rPr>
                        <a:t>Position sizing</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All bets within the fractional Kelly cap</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Resize before the next tranche deploys.</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r h="566928">
                <a:tc>
                  <a:txBody>
                    <a:bodyPr/>
                    <a:lstStyle/>
                    <a:p>
                      <a:pPr indent="0" marL="0">
                        <a:buNone/>
                      </a:pPr>
                      <a:r>
                        <a:rPr lang="en-US" sz="1200" b="1" dirty="0">
                          <a:solidFill>
                            <a:srgbClr val="2B3440"/>
                          </a:solidFill>
                          <a:latin typeface="Calibri" pitchFamily="34" charset="0"/>
                          <a:ea typeface="Calibri" pitchFamily="34" charset="-122"/>
                          <a:cs typeface="Calibri" pitchFamily="34" charset="-120"/>
                        </a:rPr>
                        <a:t>Vendor or model single point of failure</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 25% of critical workflows</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Stand up a second path before renewal, not after the outage.</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2B3440"/>
                          </a:solidFill>
                          <a:latin typeface="Calibri" pitchFamily="34" charset="0"/>
                          <a:ea typeface="Calibri" pitchFamily="34" charset="-122"/>
                          <a:cs typeface="Calibri" pitchFamily="34" charset="-120"/>
                        </a:rPr>
                        <a:t>Open severity-1 items</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Zero</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Stop the line. Nothing ships in the affected workflow until closed.</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WHY CONCENTRATION SPECIFICALLY</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The covenant that converts slowly, then instantly</a:t>
            </a:r>
            <a:endParaRPr lang="en-US" sz="3200" dirty="0"/>
          </a:p>
        </p:txBody>
      </p:sp>
      <p:sp>
        <p:nvSpPr>
          <p:cNvPr id="4" name="Text 2"/>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13</a:t>
            </a:r>
            <a:endParaRPr lang="en-US" sz="1000" dirty="0"/>
          </a:p>
        </p:txBody>
      </p:sp>
      <p:sp>
        <p:nvSpPr>
          <p:cNvPr id="5" name="Text 3"/>
          <p:cNvSpPr/>
          <p:nvPr/>
        </p:nvSpPr>
        <p:spPr>
          <a:xfrm>
            <a:off x="566928" y="2240280"/>
            <a:ext cx="3503066" cy="1143000"/>
          </a:xfrm>
          <a:prstGeom prst="rect">
            <a:avLst/>
          </a:prstGeom>
          <a:noFill/>
          <a:ln/>
        </p:spPr>
        <p:txBody>
          <a:bodyPr wrap="square" lIns="0" tIns="0" rIns="0" bIns="0" rtlCol="0" anchor="ctr"/>
          <a:lstStyle/>
          <a:p>
            <a:pPr algn="l" indent="0" marL="0">
              <a:buNone/>
            </a:pPr>
            <a:r>
              <a:rPr lang="en-US" sz="5400" b="1" dirty="0">
                <a:solidFill>
                  <a:srgbClr val="17304A"/>
                </a:solidFill>
                <a:latin typeface="Cambria" pitchFamily="34" charset="0"/>
                <a:ea typeface="Cambria" pitchFamily="34" charset="-122"/>
                <a:cs typeface="Cambria" pitchFamily="34" charset="-120"/>
              </a:rPr>
              <a:t>25%</a:t>
            </a:r>
            <a:endParaRPr lang="en-US" sz="5400" dirty="0"/>
          </a:p>
        </p:txBody>
      </p:sp>
      <p:sp>
        <p:nvSpPr>
          <p:cNvPr id="6" name="Text 4"/>
          <p:cNvSpPr/>
          <p:nvPr/>
        </p:nvSpPr>
        <p:spPr>
          <a:xfrm>
            <a:off x="566928" y="3337560"/>
            <a:ext cx="3503066" cy="1371600"/>
          </a:xfrm>
          <a:prstGeom prst="rect">
            <a:avLst/>
          </a:prstGeom>
          <a:noFill/>
          <a:ln/>
        </p:spPr>
        <p:txBody>
          <a:bodyPr wrap="square" lIns="0" tIns="0" rIns="0" bIns="0" rtlCol="0" anchor="t"/>
          <a:lstStyle/>
          <a:p>
            <a:pPr indent="0" marL="0">
              <a:lnSpc>
                <a:spcPts val="1800"/>
              </a:lnSpc>
              <a:buNone/>
            </a:pPr>
            <a:r>
              <a:rPr lang="en-US" sz="1350" dirty="0">
                <a:solidFill>
                  <a:srgbClr val="333F4D"/>
                </a:solidFill>
                <a:latin typeface="Calibri" pitchFamily="34" charset="0"/>
                <a:ea typeface="Calibri" pitchFamily="34" charset="-122"/>
                <a:cs typeface="Calibri" pitchFamily="34" charset="-120"/>
              </a:rPr>
              <a:t>Single-counterparty exposure limit under federal banking law. Not a guideline invented for this document — the regulated answer to the same question.</a:t>
            </a:r>
            <a:endParaRPr lang="en-US" sz="1350" dirty="0"/>
          </a:p>
        </p:txBody>
      </p:sp>
      <p:sp>
        <p:nvSpPr>
          <p:cNvPr id="7" name="Text 5"/>
          <p:cNvSpPr/>
          <p:nvPr/>
        </p:nvSpPr>
        <p:spPr>
          <a:xfrm>
            <a:off x="4344314" y="2240280"/>
            <a:ext cx="3503066" cy="1143000"/>
          </a:xfrm>
          <a:prstGeom prst="rect">
            <a:avLst/>
          </a:prstGeom>
          <a:noFill/>
          <a:ln/>
        </p:spPr>
        <p:txBody>
          <a:bodyPr wrap="square" lIns="0" tIns="0" rIns="0" bIns="0" rtlCol="0" anchor="ctr"/>
          <a:lstStyle/>
          <a:p>
            <a:pPr algn="l" indent="0" marL="0">
              <a:buNone/>
            </a:pPr>
            <a:r>
              <a:rPr lang="en-US" sz="5400" b="1" dirty="0">
                <a:solidFill>
                  <a:srgbClr val="2E5A8C"/>
                </a:solidFill>
                <a:latin typeface="Cambria" pitchFamily="34" charset="0"/>
                <a:ea typeface="Cambria" pitchFamily="34" charset="-122"/>
                <a:cs typeface="Cambria" pitchFamily="34" charset="-120"/>
              </a:rPr>
              <a:t>16–20%</a:t>
            </a:r>
            <a:endParaRPr lang="en-US" sz="5400" dirty="0"/>
          </a:p>
        </p:txBody>
      </p:sp>
      <p:sp>
        <p:nvSpPr>
          <p:cNvPr id="8" name="Text 6"/>
          <p:cNvSpPr/>
          <p:nvPr/>
        </p:nvSpPr>
        <p:spPr>
          <a:xfrm>
            <a:off x="4344314" y="3337560"/>
            <a:ext cx="3503066" cy="1371600"/>
          </a:xfrm>
          <a:prstGeom prst="rect">
            <a:avLst/>
          </a:prstGeom>
          <a:noFill/>
          <a:ln/>
        </p:spPr>
        <p:txBody>
          <a:bodyPr wrap="square" lIns="0" tIns="0" rIns="0" bIns="0" rtlCol="0" anchor="t"/>
          <a:lstStyle/>
          <a:p>
            <a:pPr indent="0" marL="0">
              <a:lnSpc>
                <a:spcPts val="1800"/>
              </a:lnSpc>
              <a:buNone/>
            </a:pPr>
            <a:r>
              <a:rPr lang="en-US" sz="1350" dirty="0">
                <a:solidFill>
                  <a:srgbClr val="333F4D"/>
                </a:solidFill>
                <a:latin typeface="Calibri" pitchFamily="34" charset="0"/>
                <a:ea typeface="Calibri" pitchFamily="34" charset="-122"/>
                <a:cs typeface="Calibri" pitchFamily="34" charset="-120"/>
              </a:rPr>
              <a:t>Where large consumer suppliers deliberately hold their single largest retailer as a share of net sales. Survivable at their scale.</a:t>
            </a:r>
            <a:endParaRPr lang="en-US" sz="1350" dirty="0"/>
          </a:p>
        </p:txBody>
      </p:sp>
      <p:sp>
        <p:nvSpPr>
          <p:cNvPr id="9" name="Text 7"/>
          <p:cNvSpPr/>
          <p:nvPr/>
        </p:nvSpPr>
        <p:spPr>
          <a:xfrm>
            <a:off x="8121701" y="2240280"/>
            <a:ext cx="3503066" cy="1143000"/>
          </a:xfrm>
          <a:prstGeom prst="rect">
            <a:avLst/>
          </a:prstGeom>
          <a:noFill/>
          <a:ln/>
        </p:spPr>
        <p:txBody>
          <a:bodyPr wrap="square" lIns="0" tIns="0" rIns="0" bIns="0" rtlCol="0" anchor="ctr"/>
          <a:lstStyle/>
          <a:p>
            <a:pPr algn="l" indent="0" marL="0">
              <a:buNone/>
            </a:pPr>
            <a:r>
              <a:rPr lang="en-US" sz="5400" b="1" dirty="0">
                <a:solidFill>
                  <a:srgbClr val="8C2B2B"/>
                </a:solidFill>
                <a:latin typeface="Cambria" pitchFamily="34" charset="0"/>
                <a:ea typeface="Cambria" pitchFamily="34" charset="-122"/>
                <a:cs typeface="Cambria" pitchFamily="34" charset="-120"/>
              </a:rPr>
              <a:t>One reset</a:t>
            </a:r>
            <a:endParaRPr lang="en-US" sz="5400" dirty="0"/>
          </a:p>
        </p:txBody>
      </p:sp>
      <p:sp>
        <p:nvSpPr>
          <p:cNvPr id="10" name="Text 8"/>
          <p:cNvSpPr/>
          <p:nvPr/>
        </p:nvSpPr>
        <p:spPr>
          <a:xfrm>
            <a:off x="8121701" y="3337560"/>
            <a:ext cx="3503066" cy="1371600"/>
          </a:xfrm>
          <a:prstGeom prst="rect">
            <a:avLst/>
          </a:prstGeom>
          <a:noFill/>
          <a:ln/>
        </p:spPr>
        <p:txBody>
          <a:bodyPr wrap="square" lIns="0" tIns="0" rIns="0" bIns="0" rtlCol="0" anchor="t"/>
          <a:lstStyle/>
          <a:p>
            <a:pPr indent="0" marL="0">
              <a:lnSpc>
                <a:spcPts val="1800"/>
              </a:lnSpc>
              <a:buNone/>
            </a:pPr>
            <a:r>
              <a:rPr lang="en-US" sz="1350" dirty="0">
                <a:solidFill>
                  <a:srgbClr val="333F4D"/>
                </a:solidFill>
                <a:latin typeface="Calibri" pitchFamily="34" charset="0"/>
                <a:ea typeface="Calibri" pitchFamily="34" charset="-122"/>
                <a:cs typeface="Calibri" pitchFamily="34" charset="-120"/>
              </a:rPr>
              <a:t>What it takes for that dependency to become a company-level event at our scale. One planogram change, one contract loss, one API deprecation.</a:t>
            </a:r>
            <a:endParaRPr lang="en-US" sz="1350" dirty="0"/>
          </a:p>
        </p:txBody>
      </p:sp>
      <p:sp>
        <p:nvSpPr>
          <p:cNvPr id="11" name="Text 9"/>
          <p:cNvSpPr/>
          <p:nvPr/>
        </p:nvSpPr>
        <p:spPr>
          <a:xfrm>
            <a:off x="566928" y="5486400"/>
            <a:ext cx="11057839" cy="777240"/>
          </a:xfrm>
          <a:prstGeom prst="rect">
            <a:avLst/>
          </a:prstGeom>
          <a:noFill/>
          <a:ln/>
        </p:spPr>
        <p:txBody>
          <a:bodyPr wrap="square" lIns="0" tIns="0" rIns="0" bIns="0" rtlCol="0" anchor="ctr"/>
          <a:lstStyle/>
          <a:p>
            <a:pPr indent="0" marL="0">
              <a:lnSpc>
                <a:spcPts val="1800"/>
              </a:lnSpc>
              <a:buNone/>
            </a:pPr>
            <a:r>
              <a:rPr lang="en-US" sz="1350" i="1" dirty="0">
                <a:solidFill>
                  <a:srgbClr val="17304A"/>
                </a:solidFill>
                <a:latin typeface="Calibri" pitchFamily="34" charset="0"/>
                <a:ea typeface="Calibri" pitchFamily="34" charset="-122"/>
                <a:cs typeface="Calibri" pitchFamily="34" charset="-120"/>
              </a:rPr>
              <a:t>Concentration is the exposure that looks fine every month until the month it does not. Nobody has ever been surprised by the number itself — they have been surprised by how fast it mattered.</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F31"/>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0E1F31"/>
          </a:solidFill>
          <a:ln/>
        </p:spPr>
      </p:sp>
      <p:sp>
        <p:nvSpPr>
          <p:cNvPr id="3" name="Text 1"/>
          <p:cNvSpPr/>
          <p:nvPr/>
        </p:nvSpPr>
        <p:spPr>
          <a:xfrm>
            <a:off x="841248" y="384048"/>
            <a:ext cx="5486400" cy="256032"/>
          </a:xfrm>
          <a:prstGeom prst="rect">
            <a:avLst/>
          </a:prstGeom>
          <a:noFill/>
          <a:ln/>
        </p:spPr>
        <p:txBody>
          <a:bodyPr wrap="square" lIns="0" tIns="0" rIns="0" bIns="0" rtlCol="0" anchor="ctr"/>
          <a:lstStyle/>
          <a:p>
            <a:pPr indent="0" marL="0">
              <a:buNone/>
            </a:pPr>
            <a:r>
              <a:rPr lang="en-US" sz="1150" b="1" spc="360" kern="0" dirty="0">
                <a:solidFill>
                  <a:srgbClr val="D2A24C"/>
                </a:solidFill>
                <a:latin typeface="Calibri" pitchFamily="34" charset="0"/>
                <a:ea typeface="Calibri" pitchFamily="34" charset="-122"/>
                <a:cs typeface="Calibri" pitchFamily="34" charset="-120"/>
              </a:rPr>
              <a:t>EXERCISE 3</a:t>
            </a:r>
            <a:endParaRPr lang="en-US" sz="1150" dirty="0"/>
          </a:p>
        </p:txBody>
      </p:sp>
      <p:sp>
        <p:nvSpPr>
          <p:cNvPr id="4" name="Text 2"/>
          <p:cNvSpPr/>
          <p:nvPr/>
        </p:nvSpPr>
        <p:spPr>
          <a:xfrm>
            <a:off x="841248" y="731520"/>
            <a:ext cx="8131759" cy="80467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Ruin Audit</a:t>
            </a:r>
            <a:endParaRPr lang="en-US" sz="3200" dirty="0"/>
          </a:p>
        </p:txBody>
      </p:sp>
      <p:sp>
        <p:nvSpPr>
          <p:cNvPr id="5" name="Text 3"/>
          <p:cNvSpPr/>
          <p:nvPr/>
        </p:nvSpPr>
        <p:spPr>
          <a:xfrm>
            <a:off x="841248"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FORMAT</a:t>
            </a:r>
            <a:endParaRPr lang="en-US" sz="950" dirty="0"/>
          </a:p>
        </p:txBody>
      </p:sp>
      <p:sp>
        <p:nvSpPr>
          <p:cNvPr id="6" name="Text 4"/>
          <p:cNvSpPr/>
          <p:nvPr/>
        </p:nvSpPr>
        <p:spPr>
          <a:xfrm>
            <a:off x="841248"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Cross-functional teams of five</a:t>
            </a:r>
            <a:endParaRPr lang="en-US" sz="1300" dirty="0"/>
          </a:p>
        </p:txBody>
      </p:sp>
      <p:sp>
        <p:nvSpPr>
          <p:cNvPr id="7" name="Text 5"/>
          <p:cNvSpPr/>
          <p:nvPr/>
        </p:nvSpPr>
        <p:spPr>
          <a:xfrm>
            <a:off x="4420514"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TIME</a:t>
            </a:r>
            <a:endParaRPr lang="en-US" sz="950" dirty="0"/>
          </a:p>
        </p:txBody>
      </p:sp>
      <p:sp>
        <p:nvSpPr>
          <p:cNvPr id="8" name="Text 6"/>
          <p:cNvSpPr/>
          <p:nvPr/>
        </p:nvSpPr>
        <p:spPr>
          <a:xfrm>
            <a:off x="4420514"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55 minutes</a:t>
            </a:r>
            <a:endParaRPr lang="en-US" sz="1300" dirty="0"/>
          </a:p>
        </p:txBody>
      </p:sp>
      <p:sp>
        <p:nvSpPr>
          <p:cNvPr id="9" name="Text 7"/>
          <p:cNvSpPr/>
          <p:nvPr/>
        </p:nvSpPr>
        <p:spPr>
          <a:xfrm>
            <a:off x="7999781"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OUTPUT</a:t>
            </a:r>
            <a:endParaRPr lang="en-US" sz="950" dirty="0"/>
          </a:p>
        </p:txBody>
      </p:sp>
      <p:sp>
        <p:nvSpPr>
          <p:cNvPr id="10" name="Text 8"/>
          <p:cNvSpPr/>
          <p:nvPr/>
        </p:nvSpPr>
        <p:spPr>
          <a:xfrm>
            <a:off x="7999781"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ranked failure sequence and three covenant gaps</a:t>
            </a:r>
            <a:endParaRPr lang="en-US" sz="1300" dirty="0"/>
          </a:p>
        </p:txBody>
      </p:sp>
      <p:sp>
        <p:nvSpPr>
          <p:cNvPr id="11" name="Shape 9"/>
          <p:cNvSpPr/>
          <p:nvPr/>
        </p:nvSpPr>
        <p:spPr>
          <a:xfrm>
            <a:off x="841248" y="2414016"/>
            <a:ext cx="10509199" cy="18288"/>
          </a:xfrm>
          <a:prstGeom prst="rect">
            <a:avLst/>
          </a:prstGeom>
          <a:solidFill>
            <a:srgbClr val="2C4763"/>
          </a:solidFill>
          <a:ln/>
        </p:spPr>
      </p:sp>
      <p:sp>
        <p:nvSpPr>
          <p:cNvPr id="12" name="Text 10"/>
          <p:cNvSpPr/>
          <p:nvPr/>
        </p:nvSpPr>
        <p:spPr>
          <a:xfrm>
            <a:off x="841248" y="2615184"/>
            <a:ext cx="5120640" cy="219456"/>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THE BRIEF</a:t>
            </a:r>
            <a:endParaRPr lang="en-US" sz="950" dirty="0"/>
          </a:p>
        </p:txBody>
      </p:sp>
      <p:sp>
        <p:nvSpPr>
          <p:cNvPr id="13" name="Text 11"/>
          <p:cNvSpPr/>
          <p:nvPr/>
        </p:nvSpPr>
        <p:spPr>
          <a:xfrm>
            <a:off x="841248" y="2889504"/>
            <a:ext cx="6035040" cy="3310128"/>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Scenario: revenue declines 40% over three quarters, starting next month. This is not a forecast — it is a stress test.</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Each team maps what breaks, in what order, with dates. Not what we would feel — what contractually or operationally breaks.</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Identify the first covenant that binds, and how many weeks of notice we would actually get before it did.</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Identify which positions we would be forced to exit, and which of those only needed time. That list is the real cost of thin runway.</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Name three exposures that no current covenant covers. Every team must produce three.</a:t>
            </a:r>
            <a:endParaRPr lang="en-US" sz="1250" dirty="0"/>
          </a:p>
        </p:txBody>
      </p:sp>
      <p:sp>
        <p:nvSpPr>
          <p:cNvPr id="14" name="Shape 12"/>
          <p:cNvSpPr/>
          <p:nvPr/>
        </p:nvSpPr>
        <p:spPr>
          <a:xfrm>
            <a:off x="7287768" y="2578608"/>
            <a:ext cx="4336999" cy="3675888"/>
          </a:xfrm>
          <a:prstGeom prst="roundRect">
            <a:avLst>
              <a:gd name="adj" fmla="val 1493"/>
            </a:avLst>
          </a:prstGeom>
          <a:solidFill>
            <a:srgbClr val="16324C"/>
          </a:solidFill>
          <a:ln w="12700">
            <a:solidFill>
              <a:srgbClr val="2C4763"/>
            </a:solidFill>
            <a:prstDash val="solid"/>
          </a:ln>
        </p:spPr>
      </p:sp>
      <p:sp>
        <p:nvSpPr>
          <p:cNvPr id="15" name="Text 13"/>
          <p:cNvSpPr/>
          <p:nvPr/>
        </p:nvSpPr>
        <p:spPr>
          <a:xfrm>
            <a:off x="7516368" y="2779776"/>
            <a:ext cx="3834079" cy="219456"/>
          </a:xfrm>
          <a:prstGeom prst="rect">
            <a:avLst/>
          </a:prstGeom>
          <a:noFill/>
          <a:ln/>
        </p:spPr>
        <p:txBody>
          <a:bodyPr wrap="square" lIns="0" tIns="0" rIns="0" bIns="0" rtlCol="0" anchor="ctr"/>
          <a:lstStyle/>
          <a:p>
            <a:pPr indent="0" marL="0">
              <a:buNone/>
            </a:pPr>
            <a:r>
              <a:rPr lang="en-US" sz="950" b="1" spc="200" kern="0" dirty="0">
                <a:solidFill>
                  <a:srgbClr val="D2A24C"/>
                </a:solidFill>
                <a:latin typeface="Calibri" pitchFamily="34" charset="0"/>
                <a:ea typeface="Calibri" pitchFamily="34" charset="-122"/>
                <a:cs typeface="Calibri" pitchFamily="34" charset="-120"/>
              </a:rPr>
              <a:t>WHAT THIS ANCHORS</a:t>
            </a:r>
            <a:endParaRPr lang="en-US" sz="950" dirty="0"/>
          </a:p>
        </p:txBody>
      </p:sp>
      <p:sp>
        <p:nvSpPr>
          <p:cNvPr id="16" name="Text 14"/>
          <p:cNvSpPr/>
          <p:nvPr/>
        </p:nvSpPr>
        <p:spPr>
          <a:xfrm>
            <a:off x="7516368" y="3054096"/>
            <a:ext cx="3834079" cy="3054096"/>
          </a:xfrm>
          <a:prstGeom prst="rect">
            <a:avLst/>
          </a:prstGeom>
          <a:noFill/>
          <a:ln/>
        </p:spPr>
        <p:txBody>
          <a:bodyPr wrap="square" lIns="0" tIns="0" rIns="0" bIns="0" rtlCol="0" anchor="t"/>
          <a:lstStyle/>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Ruin risk is invisible in good conditions and obvious in retrospect. This exercise moves it forward in time, which is the only place the knowledge is worth anything.</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forced-exit list is the emotional core. Watching the room realise that a cash constraint would make us sell exactly the positions we most believe in reframes runway from a finance metric to a strategic one.</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three uncovered exposures go straight onto the Annual Offsite agenda.</a:t>
            </a:r>
            <a:endParaRPr lang="en-US" sz="1250" dirty="0"/>
          </a:p>
        </p:txBody>
      </p:sp>
      <p:sp>
        <p:nvSpPr>
          <p:cNvPr id="17" name="Text 1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304A"/>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17304A"/>
          </a:solidFill>
          <a:ln/>
        </p:spPr>
      </p:sp>
      <p:sp>
        <p:nvSpPr>
          <p:cNvPr id="3" name="Text 1"/>
          <p:cNvSpPr/>
          <p:nvPr/>
        </p:nvSpPr>
        <p:spPr>
          <a:xfrm>
            <a:off x="841248" y="1737360"/>
            <a:ext cx="2743200" cy="1463040"/>
          </a:xfrm>
          <a:prstGeom prst="rect">
            <a:avLst/>
          </a:prstGeom>
          <a:noFill/>
          <a:ln/>
        </p:spPr>
        <p:txBody>
          <a:bodyPr wrap="square" lIns="0" tIns="0" rIns="0" bIns="0" rtlCol="0" anchor="ctr"/>
          <a:lstStyle/>
          <a:p>
            <a:pPr indent="0" marL="0">
              <a:buNone/>
            </a:pPr>
            <a:r>
              <a:rPr lang="en-US" sz="9000" b="1" dirty="0">
                <a:solidFill>
                  <a:srgbClr val="3D6491"/>
                </a:solidFill>
                <a:latin typeface="Cambria" pitchFamily="34" charset="0"/>
                <a:ea typeface="Cambria" pitchFamily="34" charset="-122"/>
                <a:cs typeface="Cambria" pitchFamily="34" charset="-120"/>
              </a:rPr>
              <a:t>03</a:t>
            </a:r>
            <a:endParaRPr lang="en-US" sz="9000" dirty="0"/>
          </a:p>
        </p:txBody>
      </p:sp>
      <p:sp>
        <p:nvSpPr>
          <p:cNvPr id="4" name="Text 2"/>
          <p:cNvSpPr/>
          <p:nvPr/>
        </p:nvSpPr>
        <p:spPr>
          <a:xfrm>
            <a:off x="841248" y="3063240"/>
            <a:ext cx="9229039"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P&amp;L Spine</a:t>
            </a:r>
            <a:endParaRPr lang="en-US" sz="4000" dirty="0"/>
          </a:p>
        </p:txBody>
      </p:sp>
      <p:sp>
        <p:nvSpPr>
          <p:cNvPr id="5" name="Text 3"/>
          <p:cNvSpPr/>
          <p:nvPr/>
        </p:nvSpPr>
        <p:spPr>
          <a:xfrm>
            <a:off x="841248" y="4041648"/>
            <a:ext cx="8412480" cy="914400"/>
          </a:xfrm>
          <a:prstGeom prst="rect">
            <a:avLst/>
          </a:prstGeom>
          <a:noFill/>
          <a:ln/>
        </p:spPr>
        <p:txBody>
          <a:bodyPr wrap="square" lIns="0" tIns="0" rIns="0" bIns="0" rtlCol="0" anchor="ctr"/>
          <a:lstStyle/>
          <a:p>
            <a:pPr indent="0" marL="0">
              <a:lnSpc>
                <a:spcPts val="2200"/>
              </a:lnSpc>
              <a:buNone/>
            </a:pPr>
            <a:r>
              <a:rPr lang="en-US" sz="1600" dirty="0">
                <a:solidFill>
                  <a:srgbClr val="CFDCEA"/>
                </a:solidFill>
                <a:latin typeface="Calibri" pitchFamily="34" charset="0"/>
                <a:ea typeface="Calibri" pitchFamily="34" charset="-122"/>
                <a:cs typeface="Calibri" pitchFamily="34" charset="-120"/>
              </a:rPr>
              <a:t>One accounting of reality. Every metric on every scorecard traces through an explicit driver tree to a revenue, margin, opex or cash line — in one step.</a:t>
            </a:r>
            <a:endParaRPr lang="en-US" sz="1600" dirty="0"/>
          </a:p>
        </p:txBody>
      </p:sp>
      <p:sp>
        <p:nvSpPr>
          <p:cNvPr id="6" name="Text 4"/>
          <p:cNvSpPr/>
          <p:nvPr/>
        </p:nvSpPr>
        <p:spPr>
          <a:xfrm>
            <a:off x="841248" y="5623560"/>
            <a:ext cx="8229600" cy="365760"/>
          </a:xfrm>
          <a:prstGeom prst="rect">
            <a:avLst/>
          </a:prstGeom>
          <a:noFill/>
          <a:ln/>
        </p:spPr>
        <p:txBody>
          <a:bodyPr wrap="square" lIns="0" tIns="0" rIns="0" bIns="0" rtlCol="0" anchor="ctr"/>
          <a:lstStyle/>
          <a:p>
            <a:pPr indent="0" marL="0">
              <a:buNone/>
            </a:pPr>
            <a:r>
              <a:rPr lang="en-US" sz="1200" b="1" spc="160" kern="0" dirty="0">
                <a:solidFill>
                  <a:srgbClr val="7FA3C9"/>
                </a:solidFill>
                <a:latin typeface="Calibri" pitchFamily="34" charset="0"/>
                <a:ea typeface="Calibri" pitchFamily="34" charset="-122"/>
                <a:cs typeface="Calibri" pitchFamily="34" charset="-120"/>
              </a:rPr>
              <a:t>TWO HOURS  ·  EXERCISE 4</a:t>
            </a:r>
            <a:endParaRPr lang="en-US" sz="1200" dirty="0"/>
          </a:p>
        </p:txBody>
      </p:sp>
      <p:sp>
        <p:nvSpPr>
          <p:cNvPr id="7" name="Text 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7304A"/>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17304A"/>
          </a:solidFill>
          <a:ln/>
        </p:spPr>
      </p:sp>
      <p:sp>
        <p:nvSpPr>
          <p:cNvPr id="3" name="Text 1"/>
          <p:cNvSpPr/>
          <p:nvPr/>
        </p:nvSpPr>
        <p:spPr>
          <a:xfrm>
            <a:off x="841248" y="1234440"/>
            <a:ext cx="11057839" cy="274320"/>
          </a:xfrm>
          <a:prstGeom prst="rect">
            <a:avLst/>
          </a:prstGeom>
          <a:noFill/>
          <a:ln/>
        </p:spPr>
        <p:txBody>
          <a:bodyPr wrap="square" lIns="0" tIns="0" rIns="0" bIns="0" rtlCol="0" anchor="ctr"/>
          <a:lstStyle/>
          <a:p>
            <a:pPr indent="0" marL="0">
              <a:buNone/>
            </a:pPr>
            <a:r>
              <a:rPr lang="en-US" sz="1100" b="1" spc="300" kern="0" dirty="0">
                <a:solidFill>
                  <a:srgbClr val="8FB2D6"/>
                </a:solidFill>
                <a:latin typeface="Calibri" pitchFamily="34" charset="0"/>
                <a:ea typeface="Calibri" pitchFamily="34" charset="-122"/>
                <a:cs typeface="Calibri" pitchFamily="34" charset="-120"/>
              </a:rPr>
              <a:t>THE ALTERNATIVE</a:t>
            </a:r>
            <a:endParaRPr lang="en-US" sz="1100" dirty="0"/>
          </a:p>
        </p:txBody>
      </p:sp>
      <p:sp>
        <p:nvSpPr>
          <p:cNvPr id="4" name="Text 2"/>
          <p:cNvSpPr/>
          <p:nvPr/>
        </p:nvSpPr>
        <p:spPr>
          <a:xfrm>
            <a:off x="841248" y="1783080"/>
            <a:ext cx="9777679" cy="2834640"/>
          </a:xfrm>
          <a:prstGeom prst="rect">
            <a:avLst/>
          </a:prstGeom>
          <a:noFill/>
          <a:ln/>
        </p:spPr>
        <p:txBody>
          <a:bodyPr wrap="square" lIns="0" tIns="0" rIns="0" bIns="0" rtlCol="0" anchor="t"/>
          <a:lstStyle/>
          <a:p>
            <a:pPr indent="0" marL="0">
              <a:lnSpc>
                <a:spcPts val="4400"/>
              </a:lnSpc>
              <a:buNone/>
            </a:pPr>
            <a:r>
              <a:rPr lang="en-US" sz="3200" b="1" dirty="0">
                <a:solidFill>
                  <a:srgbClr val="FFFFFF"/>
                </a:solidFill>
                <a:latin typeface="Cambria" pitchFamily="34" charset="0"/>
                <a:ea typeface="Cambria" pitchFamily="34" charset="-122"/>
                <a:cs typeface="Cambria" pitchFamily="34" charset="-120"/>
              </a:rPr>
              <a:t>Forty metrics across eleven dashboards, none reconciled, each owned by the function that picked the definition flattering its own quarter.</a:t>
            </a:r>
            <a:endParaRPr lang="en-US" sz="3200" dirty="0"/>
          </a:p>
        </p:txBody>
      </p:sp>
      <p:sp>
        <p:nvSpPr>
          <p:cNvPr id="5" name="Text 3"/>
          <p:cNvSpPr/>
          <p:nvPr/>
        </p:nvSpPr>
        <p:spPr>
          <a:xfrm>
            <a:off x="841248" y="4800600"/>
            <a:ext cx="9046159" cy="1371600"/>
          </a:xfrm>
          <a:prstGeom prst="rect">
            <a:avLst/>
          </a:prstGeom>
          <a:noFill/>
          <a:ln/>
        </p:spPr>
        <p:txBody>
          <a:bodyPr wrap="square" lIns="0" tIns="0" rIns="0" bIns="0" rtlCol="0" anchor="t"/>
          <a:lstStyle/>
          <a:p>
            <a:pPr indent="0" marL="0">
              <a:lnSpc>
                <a:spcPts val="2100"/>
              </a:lnSpc>
              <a:buNone/>
            </a:pPr>
            <a:r>
              <a:rPr lang="en-US" sz="1500" dirty="0">
                <a:solidFill>
                  <a:srgbClr val="CFDCEA"/>
                </a:solidFill>
                <a:latin typeface="Calibri" pitchFamily="34" charset="0"/>
                <a:ea typeface="Calibri" pitchFamily="34" charset="-122"/>
                <a:cs typeface="Calibri" pitchFamily="34" charset="-120"/>
              </a:rPr>
              <a:t>Sales reports gross revenue. Finance reports net revenue a third lower. Marketing reports lift on a seven-day window while the baseline erodes in week two. Nobody is lying. Everybody is wrong. And the disagreement is not discovered in a review — it is discovered in a restatement.</a:t>
            </a:r>
            <a:endParaRPr lang="en-US" sz="1500" dirty="0"/>
          </a:p>
        </p:txBody>
      </p:sp>
      <p:sp>
        <p:nvSpPr>
          <p:cNvPr id="6" name="Text 4"/>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CONSTRUCTION RULES</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What makes a tree operational rather than decorative</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The tree is business-model agnostic. Revenue is always customers times behaviour times value per behaviour. These three properties are what separate a working tree from an org chart with numbers on it.</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17</a:t>
            </a:r>
            <a:endParaRPr lang="en-US" sz="1000" dirty="0"/>
          </a:p>
        </p:txBody>
      </p:sp>
      <p:sp>
        <p:nvSpPr>
          <p:cNvPr id="6" name="Shape 4"/>
          <p:cNvSpPr/>
          <p:nvPr/>
        </p:nvSpPr>
        <p:spPr>
          <a:xfrm>
            <a:off x="566928" y="2148840"/>
            <a:ext cx="3515258" cy="3200400"/>
          </a:xfrm>
          <a:prstGeom prst="roundRect">
            <a:avLst>
              <a:gd name="adj" fmla="val 1714"/>
            </a:avLst>
          </a:prstGeom>
          <a:solidFill>
            <a:srgbClr val="EDF1F7"/>
          </a:solidFill>
          <a:ln w="12700">
            <a:solidFill>
              <a:srgbClr val="D6DEE8"/>
            </a:solidFill>
            <a:prstDash val="solid"/>
          </a:ln>
        </p:spPr>
      </p:sp>
      <p:sp>
        <p:nvSpPr>
          <p:cNvPr id="7" name="Text 5"/>
          <p:cNvSpPr/>
          <p:nvPr/>
        </p:nvSpPr>
        <p:spPr>
          <a:xfrm>
            <a:off x="804672" y="2368296"/>
            <a:ext cx="3058058" cy="219456"/>
          </a:xfrm>
          <a:prstGeom prst="rect">
            <a:avLst/>
          </a:prstGeom>
          <a:noFill/>
          <a:ln/>
        </p:spPr>
        <p:txBody>
          <a:bodyPr wrap="square" lIns="0" tIns="0" rIns="0" bIns="0" rtlCol="0" anchor="ctr"/>
          <a:lstStyle/>
          <a:p>
            <a:pPr indent="0" marL="0">
              <a:buNone/>
            </a:pPr>
            <a:r>
              <a:rPr lang="en-US" sz="950" b="1" spc="200" kern="0" dirty="0">
                <a:solidFill>
                  <a:srgbClr val="2E5A8C"/>
                </a:solidFill>
                <a:latin typeface="Calibri" pitchFamily="34" charset="0"/>
                <a:ea typeface="Calibri" pitchFamily="34" charset="-122"/>
                <a:cs typeface="Calibri" pitchFamily="34" charset="-120"/>
              </a:rPr>
              <a:t>RULE ONE</a:t>
            </a:r>
            <a:endParaRPr lang="en-US" sz="950" dirty="0"/>
          </a:p>
        </p:txBody>
      </p:sp>
      <p:sp>
        <p:nvSpPr>
          <p:cNvPr id="8" name="Text 6"/>
          <p:cNvSpPr/>
          <p:nvPr/>
        </p:nvSpPr>
        <p:spPr>
          <a:xfrm>
            <a:off x="804672" y="2624328"/>
            <a:ext cx="3058058" cy="566928"/>
          </a:xfrm>
          <a:prstGeom prst="rect">
            <a:avLst/>
          </a:prstGeom>
          <a:noFill/>
          <a:ln/>
        </p:spPr>
        <p:txBody>
          <a:bodyPr wrap="square" lIns="0" tIns="0" rIns="0" bIns="0" rtlCol="0" anchor="t"/>
          <a:lstStyle/>
          <a:p>
            <a:pPr indent="0" marL="0">
              <a:buNone/>
            </a:pPr>
            <a:r>
              <a:rPr lang="en-US" sz="1600" b="1" dirty="0">
                <a:solidFill>
                  <a:srgbClr val="17304A"/>
                </a:solidFill>
                <a:latin typeface="Calibri" pitchFamily="34" charset="0"/>
                <a:ea typeface="Calibri" pitchFamily="34" charset="-122"/>
                <a:cs typeface="Calibri" pitchFamily="34" charset="-120"/>
              </a:rPr>
              <a:t>Multiplicative completeness</a:t>
            </a:r>
            <a:endParaRPr lang="en-US" sz="1600" dirty="0"/>
          </a:p>
        </p:txBody>
      </p:sp>
      <p:sp>
        <p:nvSpPr>
          <p:cNvPr id="9" name="Text 7"/>
          <p:cNvSpPr/>
          <p:nvPr/>
        </p:nvSpPr>
        <p:spPr>
          <a:xfrm>
            <a:off x="804672" y="3227832"/>
            <a:ext cx="3058058" cy="1901952"/>
          </a:xfrm>
          <a:prstGeom prst="rect">
            <a:avLst/>
          </a:prstGeom>
          <a:noFill/>
          <a:ln/>
        </p:spPr>
        <p:txBody>
          <a:bodyPr wrap="square" lIns="0" tIns="0" rIns="0" bIns="0" rtlCol="0" anchor="t"/>
          <a:lstStyle/>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Level-1 drivers multiply back to the P&amp;L line with no residual "other" bucket.</a:t>
            </a:r>
            <a:endParaRPr lang="en-US" sz="1250" dirty="0"/>
          </a:p>
          <a:p>
            <a:pPr indent="0" marL="0">
              <a:lnSpc>
                <a:spcPts val="1600"/>
              </a:lnSpc>
              <a:buNone/>
            </a:pPr>
            <a:endParaRPr lang="en-US" sz="1250" dirty="0"/>
          </a:p>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A residual is where unexamined economics hide. If you cannot close the tree, you have not finished decomposing it.</a:t>
            </a:r>
            <a:endParaRPr lang="en-US" sz="1250" dirty="0"/>
          </a:p>
        </p:txBody>
      </p:sp>
      <p:sp>
        <p:nvSpPr>
          <p:cNvPr id="10" name="Shape 8"/>
          <p:cNvSpPr/>
          <p:nvPr/>
        </p:nvSpPr>
        <p:spPr>
          <a:xfrm>
            <a:off x="4338218" y="2148840"/>
            <a:ext cx="3515258" cy="3200400"/>
          </a:xfrm>
          <a:prstGeom prst="roundRect">
            <a:avLst>
              <a:gd name="adj" fmla="val 1714"/>
            </a:avLst>
          </a:prstGeom>
          <a:solidFill>
            <a:srgbClr val="EDF1F7"/>
          </a:solidFill>
          <a:ln w="12700">
            <a:solidFill>
              <a:srgbClr val="D6DEE8"/>
            </a:solidFill>
            <a:prstDash val="solid"/>
          </a:ln>
        </p:spPr>
      </p:sp>
      <p:sp>
        <p:nvSpPr>
          <p:cNvPr id="11" name="Text 9"/>
          <p:cNvSpPr/>
          <p:nvPr/>
        </p:nvSpPr>
        <p:spPr>
          <a:xfrm>
            <a:off x="4575962" y="2368296"/>
            <a:ext cx="3058058" cy="219456"/>
          </a:xfrm>
          <a:prstGeom prst="rect">
            <a:avLst/>
          </a:prstGeom>
          <a:noFill/>
          <a:ln/>
        </p:spPr>
        <p:txBody>
          <a:bodyPr wrap="square" lIns="0" tIns="0" rIns="0" bIns="0" rtlCol="0" anchor="ctr"/>
          <a:lstStyle/>
          <a:p>
            <a:pPr indent="0" marL="0">
              <a:buNone/>
            </a:pPr>
            <a:r>
              <a:rPr lang="en-US" sz="950" b="1" spc="200" kern="0" dirty="0">
                <a:solidFill>
                  <a:srgbClr val="2E5A8C"/>
                </a:solidFill>
                <a:latin typeface="Calibri" pitchFamily="34" charset="0"/>
                <a:ea typeface="Calibri" pitchFamily="34" charset="-122"/>
                <a:cs typeface="Calibri" pitchFamily="34" charset="-120"/>
              </a:rPr>
              <a:t>RULE TWO</a:t>
            </a:r>
            <a:endParaRPr lang="en-US" sz="950" dirty="0"/>
          </a:p>
        </p:txBody>
      </p:sp>
      <p:sp>
        <p:nvSpPr>
          <p:cNvPr id="12" name="Text 10"/>
          <p:cNvSpPr/>
          <p:nvPr/>
        </p:nvSpPr>
        <p:spPr>
          <a:xfrm>
            <a:off x="4575962" y="2624328"/>
            <a:ext cx="3058058" cy="566928"/>
          </a:xfrm>
          <a:prstGeom prst="rect">
            <a:avLst/>
          </a:prstGeom>
          <a:noFill/>
          <a:ln/>
        </p:spPr>
        <p:txBody>
          <a:bodyPr wrap="square" lIns="0" tIns="0" rIns="0" bIns="0" rtlCol="0" anchor="t"/>
          <a:lstStyle/>
          <a:p>
            <a:pPr indent="0" marL="0">
              <a:buNone/>
            </a:pPr>
            <a:r>
              <a:rPr lang="en-US" sz="1600" b="1" dirty="0">
                <a:solidFill>
                  <a:srgbClr val="17304A"/>
                </a:solidFill>
                <a:latin typeface="Calibri" pitchFamily="34" charset="0"/>
                <a:ea typeface="Calibri" pitchFamily="34" charset="-122"/>
                <a:cs typeface="Calibri" pitchFamily="34" charset="-120"/>
              </a:rPr>
              <a:t>Ownability</a:t>
            </a:r>
            <a:endParaRPr lang="en-US" sz="1600" dirty="0"/>
          </a:p>
        </p:txBody>
      </p:sp>
      <p:sp>
        <p:nvSpPr>
          <p:cNvPr id="13" name="Text 11"/>
          <p:cNvSpPr/>
          <p:nvPr/>
        </p:nvSpPr>
        <p:spPr>
          <a:xfrm>
            <a:off x="4575962" y="3227832"/>
            <a:ext cx="3058058" cy="1901952"/>
          </a:xfrm>
          <a:prstGeom prst="rect">
            <a:avLst/>
          </a:prstGeom>
          <a:noFill/>
          <a:ln/>
        </p:spPr>
        <p:txBody>
          <a:bodyPr wrap="square" lIns="0" tIns="0" rIns="0" bIns="0" rtlCol="0" anchor="t"/>
          <a:lstStyle/>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Every Level-2 metric has exactly one accountable name and one owning forum reviewing it on a fixed cadence.</a:t>
            </a:r>
            <a:endParaRPr lang="en-US" sz="1250" dirty="0"/>
          </a:p>
          <a:p>
            <a:pPr indent="0" marL="0">
              <a:lnSpc>
                <a:spcPts val="1600"/>
              </a:lnSpc>
              <a:buNone/>
            </a:pPr>
            <a:endParaRPr lang="en-US" sz="1250" dirty="0"/>
          </a:p>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An unowned metric drifts, and nobody is accountable for saying the sentence out loud.</a:t>
            </a:r>
            <a:endParaRPr lang="en-US" sz="1250" dirty="0"/>
          </a:p>
        </p:txBody>
      </p:sp>
      <p:sp>
        <p:nvSpPr>
          <p:cNvPr id="14" name="Shape 12"/>
          <p:cNvSpPr/>
          <p:nvPr/>
        </p:nvSpPr>
        <p:spPr>
          <a:xfrm>
            <a:off x="8109509" y="2148840"/>
            <a:ext cx="3515258" cy="3200400"/>
          </a:xfrm>
          <a:prstGeom prst="roundRect">
            <a:avLst>
              <a:gd name="adj" fmla="val 1714"/>
            </a:avLst>
          </a:prstGeom>
          <a:solidFill>
            <a:srgbClr val="EDF1F7"/>
          </a:solidFill>
          <a:ln w="12700">
            <a:solidFill>
              <a:srgbClr val="D6DEE8"/>
            </a:solidFill>
            <a:prstDash val="solid"/>
          </a:ln>
        </p:spPr>
      </p:sp>
      <p:sp>
        <p:nvSpPr>
          <p:cNvPr id="15" name="Text 13"/>
          <p:cNvSpPr/>
          <p:nvPr/>
        </p:nvSpPr>
        <p:spPr>
          <a:xfrm>
            <a:off x="8347253" y="2368296"/>
            <a:ext cx="3058058" cy="219456"/>
          </a:xfrm>
          <a:prstGeom prst="rect">
            <a:avLst/>
          </a:prstGeom>
          <a:noFill/>
          <a:ln/>
        </p:spPr>
        <p:txBody>
          <a:bodyPr wrap="square" lIns="0" tIns="0" rIns="0" bIns="0" rtlCol="0" anchor="ctr"/>
          <a:lstStyle/>
          <a:p>
            <a:pPr indent="0" marL="0">
              <a:buNone/>
            </a:pPr>
            <a:r>
              <a:rPr lang="en-US" sz="950" b="1" spc="200" kern="0" dirty="0">
                <a:solidFill>
                  <a:srgbClr val="2E5A8C"/>
                </a:solidFill>
                <a:latin typeface="Calibri" pitchFamily="34" charset="0"/>
                <a:ea typeface="Calibri" pitchFamily="34" charset="-122"/>
                <a:cs typeface="Calibri" pitchFamily="34" charset="-120"/>
              </a:rPr>
              <a:t>RULE THREE</a:t>
            </a:r>
            <a:endParaRPr lang="en-US" sz="950" dirty="0"/>
          </a:p>
        </p:txBody>
      </p:sp>
      <p:sp>
        <p:nvSpPr>
          <p:cNvPr id="16" name="Text 14"/>
          <p:cNvSpPr/>
          <p:nvPr/>
        </p:nvSpPr>
        <p:spPr>
          <a:xfrm>
            <a:off x="8347253" y="2624328"/>
            <a:ext cx="3058058" cy="566928"/>
          </a:xfrm>
          <a:prstGeom prst="rect">
            <a:avLst/>
          </a:prstGeom>
          <a:noFill/>
          <a:ln/>
        </p:spPr>
        <p:txBody>
          <a:bodyPr wrap="square" lIns="0" tIns="0" rIns="0" bIns="0" rtlCol="0" anchor="t"/>
          <a:lstStyle/>
          <a:p>
            <a:pPr indent="0" marL="0">
              <a:buNone/>
            </a:pPr>
            <a:r>
              <a:rPr lang="en-US" sz="1600" b="1" dirty="0">
                <a:solidFill>
                  <a:srgbClr val="17304A"/>
                </a:solidFill>
                <a:latin typeface="Calibri" pitchFamily="34" charset="0"/>
                <a:ea typeface="Calibri" pitchFamily="34" charset="-122"/>
                <a:cs typeface="Calibri" pitchFamily="34" charset="-120"/>
              </a:rPr>
              <a:t>Cohort decomposability</a:t>
            </a:r>
            <a:endParaRPr lang="en-US" sz="1600" dirty="0"/>
          </a:p>
        </p:txBody>
      </p:sp>
      <p:sp>
        <p:nvSpPr>
          <p:cNvPr id="17" name="Text 15"/>
          <p:cNvSpPr/>
          <p:nvPr/>
        </p:nvSpPr>
        <p:spPr>
          <a:xfrm>
            <a:off x="8347253" y="3227832"/>
            <a:ext cx="3058058" cy="1901952"/>
          </a:xfrm>
          <a:prstGeom prst="rect">
            <a:avLst/>
          </a:prstGeom>
          <a:noFill/>
          <a:ln/>
        </p:spPr>
        <p:txBody>
          <a:bodyPr wrap="square" lIns="0" tIns="0" rIns="0" bIns="0" rtlCol="0" anchor="t"/>
          <a:lstStyle/>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Every Level-2 metric is computable per cohort.</a:t>
            </a:r>
            <a:endParaRPr lang="en-US" sz="1250" dirty="0"/>
          </a:p>
          <a:p>
            <a:pPr indent="0" marL="0">
              <a:lnSpc>
                <a:spcPts val="1600"/>
              </a:lnSpc>
              <a:buNone/>
            </a:pPr>
            <a:endParaRPr lang="en-US" sz="1250" dirty="0"/>
          </a:p>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Any metric that materially changes when decomposed is managed only in decomposed form. From here on, the average is retired from that discussion.</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THE CANONICAL TREE</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From P&amp;L line to weekly scorecard</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Six rows. Every metric we manage sits somewhere in this table, or it does not get managed.</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18</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2148840"/>
          <a:ext cx="11057839" cy="914400"/>
        </p:xfrm>
        <a:graphic>
          <a:graphicData uri="http://schemas.openxmlformats.org/drawingml/2006/table">
            <a:tbl>
              <a:tblPr/>
              <a:tblGrid>
                <a:gridCol w="1737360"/>
                <a:gridCol w="2926080"/>
                <a:gridCol w="4389120"/>
                <a:gridCol w="2020824"/>
              </a:tblGrid>
              <a:tr h="49377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P&amp;L line</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Level-1 drivers</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Level-2 operating metrics</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Owning forum</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r>
              <a:tr h="493776">
                <a:tc>
                  <a:txBody>
                    <a:bodyPr/>
                    <a:lstStyle/>
                    <a:p>
                      <a:pPr indent="0" marL="0">
                        <a:buNone/>
                      </a:pPr>
                      <a:r>
                        <a:rPr lang="en-US" sz="1050" b="1" dirty="0">
                          <a:solidFill>
                            <a:srgbClr val="2B3440"/>
                          </a:solidFill>
                          <a:latin typeface="Calibri" pitchFamily="34" charset="0"/>
                          <a:ea typeface="Calibri" pitchFamily="34" charset="-122"/>
                          <a:cs typeface="Calibri" pitchFamily="34" charset="-120"/>
                        </a:rPr>
                        <a:t>Revenue</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Active customers × frequency × AOV; in retail: distribution × velocity × price/mix</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Weighted distribution; velocity per unit of distribution; first-purchase activation; 30-day repeat rate; reactivation; key-account participation</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Weekly War Room</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493776">
                <a:tc>
                  <a:txBody>
                    <a:bodyPr/>
                    <a:lstStyle/>
                    <a:p>
                      <a:pPr indent="0" marL="0">
                        <a:buNone/>
                      </a:pPr>
                      <a:r>
                        <a:rPr lang="en-US" sz="1050" b="1" dirty="0">
                          <a:solidFill>
                            <a:srgbClr val="2B3440"/>
                          </a:solidFill>
                          <a:latin typeface="Calibri" pitchFamily="34" charset="0"/>
                          <a:ea typeface="Calibri" pitchFamily="34" charset="-122"/>
                          <a:cs typeface="Calibri" pitchFamily="34" charset="-120"/>
                        </a:rPr>
                        <a:t>Gross margin</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Price/mix, discount depth, returns and deductions, freight</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True promotion ROI at 60–90 days; gross-to-net position; returns by item; discount-depth trend</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Spend &amp; Promotion Gate</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r h="493776">
                <a:tc>
                  <a:txBody>
                    <a:bodyPr/>
                    <a:lstStyle/>
                    <a:p>
                      <a:pPr indent="0" marL="0">
                        <a:buNone/>
                      </a:pPr>
                      <a:r>
                        <a:rPr lang="en-US" sz="1050" b="1" dirty="0">
                          <a:solidFill>
                            <a:srgbClr val="2B3440"/>
                          </a:solidFill>
                          <a:latin typeface="Calibri" pitchFamily="34" charset="0"/>
                          <a:ea typeface="Calibri" pitchFamily="34" charset="-122"/>
                          <a:cs typeface="Calibri" pitchFamily="34" charset="-120"/>
                        </a:rPr>
                        <a:t>Sales &amp; marketing</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CAC by channel; discretionary spend efficiency</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CAC by channel; spend as % of gross; inbound share of pipeline; LTV:CAC by cohort</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Monthly Business Review</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493776">
                <a:tc>
                  <a:txBody>
                    <a:bodyPr/>
                    <a:lstStyle/>
                    <a:p>
                      <a:pPr indent="0" marL="0">
                        <a:buNone/>
                      </a:pPr>
                      <a:r>
                        <a:rPr lang="en-US" sz="1050" b="1" dirty="0">
                          <a:solidFill>
                            <a:srgbClr val="2B3440"/>
                          </a:solidFill>
                          <a:latin typeface="Calibri" pitchFamily="34" charset="0"/>
                          <a:ea typeface="Calibri" pitchFamily="34" charset="-122"/>
                          <a:cs typeface="Calibri" pitchFamily="34" charset="-120"/>
                        </a:rPr>
                        <a:t>Opex / SG&amp;A</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Headcount, software, agencies, logistics</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Revenue per FTE; cost per experiment; agent-automation coverage; vendor TCO vs. matrix score</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MBR / Quarterly Reset</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r h="493776">
                <a:tc>
                  <a:txBody>
                    <a:bodyPr/>
                    <a:lstStyle/>
                    <a:p>
                      <a:pPr indent="0" marL="0">
                        <a:buNone/>
                      </a:pPr>
                      <a:r>
                        <a:rPr lang="en-US" sz="1050" b="1" dirty="0">
                          <a:solidFill>
                            <a:srgbClr val="2B3440"/>
                          </a:solidFill>
                          <a:latin typeface="Calibri" pitchFamily="34" charset="0"/>
                          <a:ea typeface="Calibri" pitchFamily="34" charset="-122"/>
                          <a:cs typeface="Calibri" pitchFamily="34" charset="-120"/>
                        </a:rPr>
                        <a:t>Cash</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Conversion cycle; capex; deployments</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13-week rolling forecast; months of runway; concentration; Kelly-sized position audit</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Monthly covenant review</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493776">
                <a:tc>
                  <a:txBody>
                    <a:bodyPr/>
                    <a:lstStyle/>
                    <a:p>
                      <a:pPr indent="0" marL="0">
                        <a:buNone/>
                      </a:pPr>
                      <a:r>
                        <a:rPr lang="en-US" sz="1050" b="1" dirty="0">
                          <a:solidFill>
                            <a:srgbClr val="2B3440"/>
                          </a:solidFill>
                          <a:latin typeface="Calibri" pitchFamily="34" charset="0"/>
                          <a:ea typeface="Calibri" pitchFamily="34" charset="-122"/>
                          <a:cs typeface="Calibri" pitchFamily="34" charset="-120"/>
                        </a:rPr>
                        <a:t>Enterprise value</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Convex portfolio; reputation assets; threshold progress</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Convexity-weighted pipeline; documented wins; reference-network growth</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050" dirty="0">
                          <a:solidFill>
                            <a:srgbClr val="2B3440"/>
                          </a:solidFill>
                          <a:latin typeface="Calibri" pitchFamily="34" charset="0"/>
                          <a:ea typeface="Calibri" pitchFamily="34" charset="-122"/>
                          <a:cs typeface="Calibri" pitchFamily="34" charset="-120"/>
                        </a:rPr>
                        <a:t>Quarterly / Annual</a:t>
                      </a:r>
                      <a:endParaRPr lang="en-US" sz="10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F31"/>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0E1F31"/>
          </a:solidFill>
          <a:ln/>
        </p:spPr>
      </p:sp>
      <p:sp>
        <p:nvSpPr>
          <p:cNvPr id="3" name="Text 1"/>
          <p:cNvSpPr/>
          <p:nvPr/>
        </p:nvSpPr>
        <p:spPr>
          <a:xfrm>
            <a:off x="841248" y="384048"/>
            <a:ext cx="5486400" cy="256032"/>
          </a:xfrm>
          <a:prstGeom prst="rect">
            <a:avLst/>
          </a:prstGeom>
          <a:noFill/>
          <a:ln/>
        </p:spPr>
        <p:txBody>
          <a:bodyPr wrap="square" lIns="0" tIns="0" rIns="0" bIns="0" rtlCol="0" anchor="ctr"/>
          <a:lstStyle/>
          <a:p>
            <a:pPr indent="0" marL="0">
              <a:buNone/>
            </a:pPr>
            <a:r>
              <a:rPr lang="en-US" sz="1150" b="1" spc="360" kern="0" dirty="0">
                <a:solidFill>
                  <a:srgbClr val="D2A24C"/>
                </a:solidFill>
                <a:latin typeface="Calibri" pitchFamily="34" charset="0"/>
                <a:ea typeface="Calibri" pitchFamily="34" charset="-122"/>
                <a:cs typeface="Calibri" pitchFamily="34" charset="-120"/>
              </a:rPr>
              <a:t>EXERCISE 4</a:t>
            </a:r>
            <a:endParaRPr lang="en-US" sz="1150" dirty="0"/>
          </a:p>
        </p:txBody>
      </p:sp>
      <p:sp>
        <p:nvSpPr>
          <p:cNvPr id="4" name="Text 2"/>
          <p:cNvSpPr/>
          <p:nvPr/>
        </p:nvSpPr>
        <p:spPr>
          <a:xfrm>
            <a:off x="841248" y="731520"/>
            <a:ext cx="8131759" cy="80467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Driver Tree Build</a:t>
            </a:r>
            <a:endParaRPr lang="en-US" sz="3200" dirty="0"/>
          </a:p>
        </p:txBody>
      </p:sp>
      <p:sp>
        <p:nvSpPr>
          <p:cNvPr id="5" name="Text 3"/>
          <p:cNvSpPr/>
          <p:nvPr/>
        </p:nvSpPr>
        <p:spPr>
          <a:xfrm>
            <a:off x="841248"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FORMAT</a:t>
            </a:r>
            <a:endParaRPr lang="en-US" sz="950" dirty="0"/>
          </a:p>
        </p:txBody>
      </p:sp>
      <p:sp>
        <p:nvSpPr>
          <p:cNvPr id="6" name="Text 4"/>
          <p:cNvSpPr/>
          <p:nvPr/>
        </p:nvSpPr>
        <p:spPr>
          <a:xfrm>
            <a:off x="841248"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Function teams, then full-room reconciliation</a:t>
            </a:r>
            <a:endParaRPr lang="en-US" sz="1300" dirty="0"/>
          </a:p>
        </p:txBody>
      </p:sp>
      <p:sp>
        <p:nvSpPr>
          <p:cNvPr id="7" name="Text 5"/>
          <p:cNvSpPr/>
          <p:nvPr/>
        </p:nvSpPr>
        <p:spPr>
          <a:xfrm>
            <a:off x="4420514"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TIME</a:t>
            </a:r>
            <a:endParaRPr lang="en-US" sz="950" dirty="0"/>
          </a:p>
        </p:txBody>
      </p:sp>
      <p:sp>
        <p:nvSpPr>
          <p:cNvPr id="8" name="Text 6"/>
          <p:cNvSpPr/>
          <p:nvPr/>
        </p:nvSpPr>
        <p:spPr>
          <a:xfrm>
            <a:off x="4420514"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110 minutes</a:t>
            </a:r>
            <a:endParaRPr lang="en-US" sz="1300" dirty="0"/>
          </a:p>
        </p:txBody>
      </p:sp>
      <p:sp>
        <p:nvSpPr>
          <p:cNvPr id="9" name="Text 7"/>
          <p:cNvSpPr/>
          <p:nvPr/>
        </p:nvSpPr>
        <p:spPr>
          <a:xfrm>
            <a:off x="7999781"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OUTPUT</a:t>
            </a:r>
            <a:endParaRPr lang="en-US" sz="950" dirty="0"/>
          </a:p>
        </p:txBody>
      </p:sp>
      <p:sp>
        <p:nvSpPr>
          <p:cNvPr id="10" name="Text 8"/>
          <p:cNvSpPr/>
          <p:nvPr/>
        </p:nvSpPr>
        <p:spPr>
          <a:xfrm>
            <a:off x="7999781"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actual tree, on the wall, with names against every node</a:t>
            </a:r>
            <a:endParaRPr lang="en-US" sz="1300" dirty="0"/>
          </a:p>
        </p:txBody>
      </p:sp>
      <p:sp>
        <p:nvSpPr>
          <p:cNvPr id="11" name="Shape 9"/>
          <p:cNvSpPr/>
          <p:nvPr/>
        </p:nvSpPr>
        <p:spPr>
          <a:xfrm>
            <a:off x="841248" y="2414016"/>
            <a:ext cx="10509199" cy="18288"/>
          </a:xfrm>
          <a:prstGeom prst="rect">
            <a:avLst/>
          </a:prstGeom>
          <a:solidFill>
            <a:srgbClr val="2C4763"/>
          </a:solidFill>
          <a:ln/>
        </p:spPr>
      </p:sp>
      <p:sp>
        <p:nvSpPr>
          <p:cNvPr id="12" name="Text 10"/>
          <p:cNvSpPr/>
          <p:nvPr/>
        </p:nvSpPr>
        <p:spPr>
          <a:xfrm>
            <a:off x="841248" y="2615184"/>
            <a:ext cx="5120640" cy="219456"/>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THE BRIEF</a:t>
            </a:r>
            <a:endParaRPr lang="en-US" sz="950" dirty="0"/>
          </a:p>
        </p:txBody>
      </p:sp>
      <p:sp>
        <p:nvSpPr>
          <p:cNvPr id="13" name="Text 11"/>
          <p:cNvSpPr/>
          <p:nvPr/>
        </p:nvSpPr>
        <p:spPr>
          <a:xfrm>
            <a:off x="841248" y="2889504"/>
            <a:ext cx="6035040" cy="3310128"/>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Each function builds the tree for its own P&amp;L line on butcher paper. Level 1, then Level 2. Real numbers, current period.</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Test multiplicative completeness. If the drivers do not multiply back to the actual line, keep decomposing until they do. No residual bucket is permitted.</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Write one name against every Level-2 node. Not a function. One human.</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Mark every node where the cohort cut materially changes the picture.</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Full room: post the trees adjacently. Find every metric we currently report that does not appear anywhere on any tree.</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That orphan list is read aloud, and each orphan is either traced or deleted before we break.</a:t>
            </a:r>
            <a:endParaRPr lang="en-US" sz="1250" dirty="0"/>
          </a:p>
        </p:txBody>
      </p:sp>
      <p:sp>
        <p:nvSpPr>
          <p:cNvPr id="14" name="Shape 12"/>
          <p:cNvSpPr/>
          <p:nvPr/>
        </p:nvSpPr>
        <p:spPr>
          <a:xfrm>
            <a:off x="7287768" y="2578608"/>
            <a:ext cx="4336999" cy="3675888"/>
          </a:xfrm>
          <a:prstGeom prst="roundRect">
            <a:avLst>
              <a:gd name="adj" fmla="val 1493"/>
            </a:avLst>
          </a:prstGeom>
          <a:solidFill>
            <a:srgbClr val="16324C"/>
          </a:solidFill>
          <a:ln w="12700">
            <a:solidFill>
              <a:srgbClr val="2C4763"/>
            </a:solidFill>
            <a:prstDash val="solid"/>
          </a:ln>
        </p:spPr>
      </p:sp>
      <p:sp>
        <p:nvSpPr>
          <p:cNvPr id="15" name="Text 13"/>
          <p:cNvSpPr/>
          <p:nvPr/>
        </p:nvSpPr>
        <p:spPr>
          <a:xfrm>
            <a:off x="7516368" y="2779776"/>
            <a:ext cx="3834079" cy="219456"/>
          </a:xfrm>
          <a:prstGeom prst="rect">
            <a:avLst/>
          </a:prstGeom>
          <a:noFill/>
          <a:ln/>
        </p:spPr>
        <p:txBody>
          <a:bodyPr wrap="square" lIns="0" tIns="0" rIns="0" bIns="0" rtlCol="0" anchor="ctr"/>
          <a:lstStyle/>
          <a:p>
            <a:pPr indent="0" marL="0">
              <a:buNone/>
            </a:pPr>
            <a:r>
              <a:rPr lang="en-US" sz="950" b="1" spc="200" kern="0" dirty="0">
                <a:solidFill>
                  <a:srgbClr val="D2A24C"/>
                </a:solidFill>
                <a:latin typeface="Calibri" pitchFamily="34" charset="0"/>
                <a:ea typeface="Calibri" pitchFamily="34" charset="-122"/>
                <a:cs typeface="Calibri" pitchFamily="34" charset="-120"/>
              </a:rPr>
              <a:t>WHAT THIS ANCHORS</a:t>
            </a:r>
            <a:endParaRPr lang="en-US" sz="950" dirty="0"/>
          </a:p>
        </p:txBody>
      </p:sp>
      <p:sp>
        <p:nvSpPr>
          <p:cNvPr id="16" name="Text 14"/>
          <p:cNvSpPr/>
          <p:nvPr/>
        </p:nvSpPr>
        <p:spPr>
          <a:xfrm>
            <a:off x="7516368" y="3054096"/>
            <a:ext cx="3834079" cy="3054096"/>
          </a:xfrm>
          <a:prstGeom prst="rect">
            <a:avLst/>
          </a:prstGeom>
          <a:noFill/>
          <a:ln/>
        </p:spPr>
        <p:txBody>
          <a:bodyPr wrap="square" lIns="0" tIns="0" rIns="0" bIns="0" rtlCol="0" anchor="t"/>
          <a:lstStyle/>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This is the artifact the rest of the system hangs on. It is built in the room, by the people who own it, using real numbers — which is the only way it survives contact with next Monday.</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orphan list is the moment. Every business discovers it is reporting metrics that trace to nothing, and that at least one function has been optimising against one of them.</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unowned nodes are the second finding, and usually the more expensive one.</a:t>
            </a:r>
            <a:endParaRPr lang="en-US" sz="1250" dirty="0"/>
          </a:p>
        </p:txBody>
      </p:sp>
      <p:sp>
        <p:nvSpPr>
          <p:cNvPr id="17" name="Text 1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7304A"/>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17304A"/>
          </a:solidFill>
          <a:ln/>
        </p:spPr>
      </p:sp>
      <p:sp>
        <p:nvSpPr>
          <p:cNvPr id="3" name="Text 1"/>
          <p:cNvSpPr/>
          <p:nvPr/>
        </p:nvSpPr>
        <p:spPr>
          <a:xfrm>
            <a:off x="841248" y="1737360"/>
            <a:ext cx="2743200" cy="1463040"/>
          </a:xfrm>
          <a:prstGeom prst="rect">
            <a:avLst/>
          </a:prstGeom>
          <a:noFill/>
          <a:ln/>
        </p:spPr>
        <p:txBody>
          <a:bodyPr wrap="square" lIns="0" tIns="0" rIns="0" bIns="0" rtlCol="0" anchor="ctr"/>
          <a:lstStyle/>
          <a:p>
            <a:pPr indent="0" marL="0">
              <a:buNone/>
            </a:pPr>
            <a:r>
              <a:rPr lang="en-US" sz="9000" b="1" dirty="0">
                <a:solidFill>
                  <a:srgbClr val="3D6491"/>
                </a:solidFill>
                <a:latin typeface="Cambria" pitchFamily="34" charset="0"/>
                <a:ea typeface="Cambria" pitchFamily="34" charset="-122"/>
                <a:cs typeface="Cambria" pitchFamily="34" charset="-120"/>
              </a:rPr>
              <a:t>04</a:t>
            </a:r>
            <a:endParaRPr lang="en-US" sz="9000" dirty="0"/>
          </a:p>
        </p:txBody>
      </p:sp>
      <p:sp>
        <p:nvSpPr>
          <p:cNvPr id="4" name="Text 2"/>
          <p:cNvSpPr/>
          <p:nvPr/>
        </p:nvSpPr>
        <p:spPr>
          <a:xfrm>
            <a:off x="841248" y="3063240"/>
            <a:ext cx="9229039"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Hidden Economics</a:t>
            </a:r>
            <a:endParaRPr lang="en-US" sz="4000" dirty="0"/>
          </a:p>
        </p:txBody>
      </p:sp>
      <p:sp>
        <p:nvSpPr>
          <p:cNvPr id="5" name="Text 3"/>
          <p:cNvSpPr/>
          <p:nvPr/>
        </p:nvSpPr>
        <p:spPr>
          <a:xfrm>
            <a:off x="841248" y="4041648"/>
            <a:ext cx="8412480" cy="914400"/>
          </a:xfrm>
          <a:prstGeom prst="rect">
            <a:avLst/>
          </a:prstGeom>
          <a:noFill/>
          <a:ln/>
        </p:spPr>
        <p:txBody>
          <a:bodyPr wrap="square" lIns="0" tIns="0" rIns="0" bIns="0" rtlCol="0" anchor="ctr"/>
          <a:lstStyle/>
          <a:p>
            <a:pPr indent="0" marL="0">
              <a:lnSpc>
                <a:spcPts val="2200"/>
              </a:lnSpc>
              <a:buNone/>
            </a:pPr>
            <a:r>
              <a:rPr lang="en-US" sz="1600" dirty="0">
                <a:solidFill>
                  <a:srgbClr val="CFDCEA"/>
                </a:solidFill>
                <a:latin typeface="Calibri" pitchFamily="34" charset="0"/>
                <a:ea typeface="Calibri" pitchFamily="34" charset="-122"/>
                <a:cs typeface="Calibri" pitchFamily="34" charset="-120"/>
              </a:rPr>
              <a:t>What the second-largest line on the P&amp;L is actually doing — and why most companies cannot tell.</a:t>
            </a:r>
            <a:endParaRPr lang="en-US" sz="1600" dirty="0"/>
          </a:p>
        </p:txBody>
      </p:sp>
      <p:sp>
        <p:nvSpPr>
          <p:cNvPr id="6" name="Text 4"/>
          <p:cNvSpPr/>
          <p:nvPr/>
        </p:nvSpPr>
        <p:spPr>
          <a:xfrm>
            <a:off x="841248" y="5623560"/>
            <a:ext cx="8229600" cy="365760"/>
          </a:xfrm>
          <a:prstGeom prst="rect">
            <a:avLst/>
          </a:prstGeom>
          <a:noFill/>
          <a:ln/>
        </p:spPr>
        <p:txBody>
          <a:bodyPr wrap="square" lIns="0" tIns="0" rIns="0" bIns="0" rtlCol="0" anchor="ctr"/>
          <a:lstStyle/>
          <a:p>
            <a:pPr indent="0" marL="0">
              <a:buNone/>
            </a:pPr>
            <a:r>
              <a:rPr lang="en-US" sz="1200" b="1" spc="160" kern="0" dirty="0">
                <a:solidFill>
                  <a:srgbClr val="7FA3C9"/>
                </a:solidFill>
                <a:latin typeface="Calibri" pitchFamily="34" charset="0"/>
                <a:ea typeface="Calibri" pitchFamily="34" charset="-122"/>
                <a:cs typeface="Calibri" pitchFamily="34" charset="-120"/>
              </a:rPr>
              <a:t>NINETY MINUTES  ·  EXERCISE 5</a:t>
            </a:r>
            <a:endParaRPr lang="en-US" sz="1200" dirty="0"/>
          </a:p>
        </p:txBody>
      </p:sp>
      <p:sp>
        <p:nvSpPr>
          <p:cNvPr id="7" name="Text 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THREE FACTS EVERY OPERATOR HERE IS EXPECTED TO KNOW</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The terrain the tree is built on</a:t>
            </a:r>
            <a:endParaRPr lang="en-US" sz="3200" dirty="0"/>
          </a:p>
        </p:txBody>
      </p:sp>
      <p:sp>
        <p:nvSpPr>
          <p:cNvPr id="4" name="Text 2"/>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21</a:t>
            </a:r>
            <a:endParaRPr lang="en-US" sz="1000" dirty="0"/>
          </a:p>
        </p:txBody>
      </p:sp>
      <p:sp>
        <p:nvSpPr>
          <p:cNvPr id="5" name="Text 3"/>
          <p:cNvSpPr/>
          <p:nvPr/>
        </p:nvSpPr>
        <p:spPr>
          <a:xfrm>
            <a:off x="566928" y="2286000"/>
            <a:ext cx="3503066" cy="1143000"/>
          </a:xfrm>
          <a:prstGeom prst="rect">
            <a:avLst/>
          </a:prstGeom>
          <a:noFill/>
          <a:ln/>
        </p:spPr>
        <p:txBody>
          <a:bodyPr wrap="square" lIns="0" tIns="0" rIns="0" bIns="0" rtlCol="0" anchor="ctr"/>
          <a:lstStyle/>
          <a:p>
            <a:pPr algn="l" indent="0" marL="0">
              <a:buNone/>
            </a:pPr>
            <a:r>
              <a:rPr lang="en-US" sz="5400" b="1" dirty="0">
                <a:solidFill>
                  <a:srgbClr val="17304A"/>
                </a:solidFill>
                <a:latin typeface="Cambria" pitchFamily="34" charset="0"/>
                <a:ea typeface="Cambria" pitchFamily="34" charset="-122"/>
                <a:cs typeface="Cambria" pitchFamily="34" charset="-120"/>
              </a:rPr>
              <a:t>60–70%</a:t>
            </a:r>
            <a:endParaRPr lang="en-US" sz="5400" dirty="0"/>
          </a:p>
        </p:txBody>
      </p:sp>
      <p:sp>
        <p:nvSpPr>
          <p:cNvPr id="6" name="Text 4"/>
          <p:cNvSpPr/>
          <p:nvPr/>
        </p:nvSpPr>
        <p:spPr>
          <a:xfrm>
            <a:off x="566928" y="3383280"/>
            <a:ext cx="3503066" cy="1371600"/>
          </a:xfrm>
          <a:prstGeom prst="rect">
            <a:avLst/>
          </a:prstGeom>
          <a:noFill/>
          <a:ln/>
        </p:spPr>
        <p:txBody>
          <a:bodyPr wrap="square" lIns="0" tIns="0" rIns="0" bIns="0" rtlCol="0" anchor="t"/>
          <a:lstStyle/>
          <a:p>
            <a:pPr indent="0" marL="0">
              <a:lnSpc>
                <a:spcPts val="1800"/>
              </a:lnSpc>
              <a:buNone/>
            </a:pPr>
            <a:r>
              <a:rPr lang="en-US" sz="1350" dirty="0">
                <a:solidFill>
                  <a:srgbClr val="333F4D"/>
                </a:solidFill>
                <a:latin typeface="Calibri" pitchFamily="34" charset="0"/>
                <a:ea typeface="Calibri" pitchFamily="34" charset="-122"/>
                <a:cs typeface="Calibri" pitchFamily="34" charset="-120"/>
              </a:rPr>
              <a:t>Net revenue as a share of gross, once trade and promotional spend (15–25%), partner deductions (5–15%) and returns (3–10%) are taken out.</a:t>
            </a:r>
            <a:endParaRPr lang="en-US" sz="1350" dirty="0"/>
          </a:p>
          <a:p>
            <a:pPr indent="0" marL="0">
              <a:lnSpc>
                <a:spcPts val="1800"/>
              </a:lnSpc>
              <a:buNone/>
            </a:pPr>
            <a:endParaRPr lang="en-US" sz="1350" dirty="0"/>
          </a:p>
          <a:p>
            <a:pPr indent="0" marL="0">
              <a:lnSpc>
                <a:spcPts val="1800"/>
              </a:lnSpc>
              <a:buNone/>
            </a:pPr>
            <a:r>
              <a:rPr lang="en-US" sz="1350" dirty="0">
                <a:solidFill>
                  <a:srgbClr val="333F4D"/>
                </a:solidFill>
                <a:latin typeface="Calibri" pitchFamily="34" charset="0"/>
                <a:ea typeface="Calibri" pitchFamily="34" charset="-122"/>
                <a:cs typeface="Calibri" pitchFamily="34" charset="-120"/>
              </a:rPr>
              <a:t>Anyone quoting gross overstates the top line by roughly a third — and every ratio built on it is flattered by the same amount.</a:t>
            </a:r>
            <a:endParaRPr lang="en-US" sz="1350" dirty="0"/>
          </a:p>
        </p:txBody>
      </p:sp>
      <p:sp>
        <p:nvSpPr>
          <p:cNvPr id="7" name="Text 5"/>
          <p:cNvSpPr/>
          <p:nvPr/>
        </p:nvSpPr>
        <p:spPr>
          <a:xfrm>
            <a:off x="4344314" y="2286000"/>
            <a:ext cx="3503066" cy="1143000"/>
          </a:xfrm>
          <a:prstGeom prst="rect">
            <a:avLst/>
          </a:prstGeom>
          <a:noFill/>
          <a:ln/>
        </p:spPr>
        <p:txBody>
          <a:bodyPr wrap="square" lIns="0" tIns="0" rIns="0" bIns="0" rtlCol="0" anchor="ctr"/>
          <a:lstStyle/>
          <a:p>
            <a:pPr algn="l" indent="0" marL="0">
              <a:buNone/>
            </a:pPr>
            <a:r>
              <a:rPr lang="en-US" sz="5400" b="1" dirty="0">
                <a:solidFill>
                  <a:srgbClr val="8C2B2B"/>
                </a:solidFill>
                <a:latin typeface="Cambria" pitchFamily="34" charset="0"/>
                <a:ea typeface="Cambria" pitchFamily="34" charset="-122"/>
                <a:cs typeface="Cambria" pitchFamily="34" charset="-120"/>
              </a:rPr>
              <a:t>59 / 72%</a:t>
            </a:r>
            <a:endParaRPr lang="en-US" sz="5400" dirty="0"/>
          </a:p>
        </p:txBody>
      </p:sp>
      <p:sp>
        <p:nvSpPr>
          <p:cNvPr id="8" name="Text 6"/>
          <p:cNvSpPr/>
          <p:nvPr/>
        </p:nvSpPr>
        <p:spPr>
          <a:xfrm>
            <a:off x="4344314" y="3383280"/>
            <a:ext cx="3503066" cy="1371600"/>
          </a:xfrm>
          <a:prstGeom prst="rect">
            <a:avLst/>
          </a:prstGeom>
          <a:noFill/>
          <a:ln/>
        </p:spPr>
        <p:txBody>
          <a:bodyPr wrap="square" lIns="0" tIns="0" rIns="0" bIns="0" rtlCol="0" anchor="t"/>
          <a:lstStyle/>
          <a:p>
            <a:pPr indent="0" marL="0">
              <a:lnSpc>
                <a:spcPts val="1800"/>
              </a:lnSpc>
              <a:buNone/>
            </a:pPr>
            <a:r>
              <a:rPr lang="en-US" sz="1350" dirty="0">
                <a:solidFill>
                  <a:srgbClr val="333F4D"/>
                </a:solidFill>
                <a:latin typeface="Calibri" pitchFamily="34" charset="0"/>
                <a:ea typeface="Calibri" pitchFamily="34" charset="-122"/>
                <a:cs typeface="Calibri" pitchFamily="34" charset="-120"/>
              </a:rPr>
              <a:t>Share of promotions that lose money — globally, and in the US specifically.</a:t>
            </a:r>
            <a:endParaRPr lang="en-US" sz="1350" dirty="0"/>
          </a:p>
          <a:p>
            <a:pPr indent="0" marL="0">
              <a:lnSpc>
                <a:spcPts val="1800"/>
              </a:lnSpc>
              <a:buNone/>
            </a:pPr>
            <a:endParaRPr lang="en-US" sz="1350" dirty="0"/>
          </a:p>
          <a:p>
            <a:pPr indent="0" marL="0">
              <a:lnSpc>
                <a:spcPts val="1800"/>
              </a:lnSpc>
              <a:buNone/>
            </a:pPr>
            <a:r>
              <a:rPr lang="en-US" sz="1350" dirty="0">
                <a:solidFill>
                  <a:srgbClr val="333F4D"/>
                </a:solidFill>
                <a:latin typeface="Calibri" pitchFamily="34" charset="0"/>
                <a:ea typeface="Calibri" pitchFamily="34" charset="-122"/>
                <a:cs typeface="Calibri" pitchFamily="34" charset="-120"/>
              </a:rPr>
              <a:t>Of every $100 of promotional sales, roughly $35 subsidises buyers who would have paid full price and $8 cannibalises your own full-price volume.</a:t>
            </a:r>
            <a:endParaRPr lang="en-US" sz="1350" dirty="0"/>
          </a:p>
        </p:txBody>
      </p:sp>
      <p:sp>
        <p:nvSpPr>
          <p:cNvPr id="9" name="Text 7"/>
          <p:cNvSpPr/>
          <p:nvPr/>
        </p:nvSpPr>
        <p:spPr>
          <a:xfrm>
            <a:off x="8121701" y="2286000"/>
            <a:ext cx="3503066" cy="1143000"/>
          </a:xfrm>
          <a:prstGeom prst="rect">
            <a:avLst/>
          </a:prstGeom>
          <a:noFill/>
          <a:ln/>
        </p:spPr>
        <p:txBody>
          <a:bodyPr wrap="square" lIns="0" tIns="0" rIns="0" bIns="0" rtlCol="0" anchor="ctr"/>
          <a:lstStyle/>
          <a:p>
            <a:pPr algn="l" indent="0" marL="0">
              <a:buNone/>
            </a:pPr>
            <a:r>
              <a:rPr lang="en-US" sz="5400" b="1" dirty="0">
                <a:solidFill>
                  <a:srgbClr val="2E5A8C"/>
                </a:solidFill>
                <a:latin typeface="Cambria" pitchFamily="34" charset="0"/>
                <a:ea typeface="Cambria" pitchFamily="34" charset="-122"/>
                <a:cs typeface="Cambria" pitchFamily="34" charset="-120"/>
              </a:rPr>
              <a:t>8%</a:t>
            </a:r>
            <a:endParaRPr lang="en-US" sz="5400" dirty="0"/>
          </a:p>
        </p:txBody>
      </p:sp>
      <p:sp>
        <p:nvSpPr>
          <p:cNvPr id="10" name="Text 8"/>
          <p:cNvSpPr/>
          <p:nvPr/>
        </p:nvSpPr>
        <p:spPr>
          <a:xfrm>
            <a:off x="8121701" y="3383280"/>
            <a:ext cx="3503066" cy="1371600"/>
          </a:xfrm>
          <a:prstGeom prst="rect">
            <a:avLst/>
          </a:prstGeom>
          <a:noFill/>
          <a:ln/>
        </p:spPr>
        <p:txBody>
          <a:bodyPr wrap="square" lIns="0" tIns="0" rIns="0" bIns="0" rtlCol="0" anchor="t"/>
          <a:lstStyle/>
          <a:p>
            <a:pPr indent="0" marL="0">
              <a:lnSpc>
                <a:spcPts val="1800"/>
              </a:lnSpc>
              <a:buNone/>
            </a:pPr>
            <a:r>
              <a:rPr lang="en-US" sz="1350" dirty="0">
                <a:solidFill>
                  <a:srgbClr val="333F4D"/>
                </a:solidFill>
                <a:latin typeface="Calibri" pitchFamily="34" charset="0"/>
                <a:ea typeface="Calibri" pitchFamily="34" charset="-122"/>
                <a:cs typeface="Calibri" pitchFamily="34" charset="-120"/>
              </a:rPr>
              <a:t>Worldwide out-of-stock rate. Unchanged since it was first measured in 1996 and reconfirmed across 32 countries.</a:t>
            </a:r>
            <a:endParaRPr lang="en-US" sz="1350" dirty="0"/>
          </a:p>
          <a:p>
            <a:pPr indent="0" marL="0">
              <a:lnSpc>
                <a:spcPts val="1800"/>
              </a:lnSpc>
              <a:buNone/>
            </a:pPr>
            <a:endParaRPr lang="en-US" sz="1350" dirty="0"/>
          </a:p>
          <a:p>
            <a:pPr indent="0" marL="0">
              <a:lnSpc>
                <a:spcPts val="1800"/>
              </a:lnSpc>
              <a:buNone/>
            </a:pPr>
            <a:r>
              <a:rPr lang="en-US" sz="1350" dirty="0">
                <a:solidFill>
                  <a:srgbClr val="333F4D"/>
                </a:solidFill>
                <a:latin typeface="Calibri" pitchFamily="34" charset="0"/>
                <a:ea typeface="Calibri" pitchFamily="34" charset="-122"/>
                <a:cs typeface="Calibri" pitchFamily="34" charset="-120"/>
              </a:rPr>
              <a:t>Thirty years of technology investment did not move the base rate. Execution systems do. Carry invariants as fixed costs of reality.</a:t>
            </a:r>
            <a:endParaRPr lang="en-US" sz="1350" dirty="0"/>
          </a:p>
        </p:txBody>
      </p:sp>
      <p:sp>
        <p:nvSpPr>
          <p:cNvPr id="11" name="Text 9"/>
          <p:cNvSpPr/>
          <p:nvPr/>
        </p:nvSpPr>
        <p:spPr>
          <a:xfrm>
            <a:off x="566928" y="5486400"/>
            <a:ext cx="11057839" cy="777240"/>
          </a:xfrm>
          <a:prstGeom prst="rect">
            <a:avLst/>
          </a:prstGeom>
          <a:noFill/>
          <a:ln/>
        </p:spPr>
        <p:txBody>
          <a:bodyPr wrap="square" lIns="0" tIns="0" rIns="0" bIns="0" rtlCol="0" anchor="ctr"/>
          <a:lstStyle/>
          <a:p>
            <a:pPr indent="0" marL="0">
              <a:lnSpc>
                <a:spcPts val="1800"/>
              </a:lnSpc>
              <a:buNone/>
            </a:pPr>
            <a:r>
              <a:rPr lang="en-US" sz="1350" i="1" dirty="0">
                <a:solidFill>
                  <a:srgbClr val="17304A"/>
                </a:solidFill>
                <a:latin typeface="Calibri" pitchFamily="34" charset="0"/>
                <a:ea typeface="Calibri" pitchFamily="34" charset="-122"/>
                <a:cs typeface="Calibri" pitchFamily="34" charset="-120"/>
              </a:rPr>
              <a:t>Post-event velocity runs at 40–60% of baseline in week one, with the baseline restored only around week four. Six weeks at deep discount. Any event judged on lift-week sales is measuring a loan, not a gain.</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THE DECOMPOSITION</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Where the money in a promotion actually goes</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Four components. Only the last one is growth. Most reported promotion ROI includes all four and calls the total incremental.</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22</a:t>
            </a:r>
            <a:endParaRPr lang="en-US" sz="1000" dirty="0"/>
          </a:p>
        </p:txBody>
      </p:sp>
      <p:sp>
        <p:nvSpPr>
          <p:cNvPr id="6" name="Shape 4"/>
          <p:cNvSpPr/>
          <p:nvPr/>
        </p:nvSpPr>
        <p:spPr>
          <a:xfrm>
            <a:off x="585216" y="2185416"/>
            <a:ext cx="384048" cy="384048"/>
          </a:xfrm>
          <a:prstGeom prst="ellipse">
            <a:avLst/>
          </a:prstGeom>
          <a:solidFill>
            <a:srgbClr val="17304A"/>
          </a:solidFill>
          <a:ln/>
        </p:spPr>
      </p:sp>
      <p:sp>
        <p:nvSpPr>
          <p:cNvPr id="7" name="Text 5"/>
          <p:cNvSpPr/>
          <p:nvPr/>
        </p:nvSpPr>
        <p:spPr>
          <a:xfrm>
            <a:off x="585216" y="2185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33856" y="2148840"/>
            <a:ext cx="10417759" cy="716890"/>
          </a:xfrm>
          <a:prstGeom prst="rect">
            <a:avLst/>
          </a:prstGeom>
          <a:noFill/>
          <a:ln/>
        </p:spPr>
        <p:txBody>
          <a:bodyPr wrap="square" lIns="0" tIns="0" rIns="0" bIns="0" rtlCol="0" anchor="t"/>
          <a:lstStyle/>
          <a:p>
            <a:pPr indent="0" marL="0">
              <a:lnSpc>
                <a:spcPts val="1800"/>
              </a:lnSpc>
              <a:buNone/>
            </a:pPr>
            <a:r>
              <a:rPr lang="en-US" sz="1500" b="1" dirty="0">
                <a:solidFill>
                  <a:srgbClr val="17304A"/>
                </a:solidFill>
                <a:latin typeface="Calibri" pitchFamily="34" charset="0"/>
                <a:ea typeface="Calibri" pitchFamily="34" charset="-122"/>
                <a:cs typeface="Calibri" pitchFamily="34" charset="-120"/>
              </a:rPr>
              <a:t>Subsidisation</a:t>
            </a:r>
            <a:pPr indent="0" marL="0">
              <a:lnSpc>
                <a:spcPts val="1800"/>
              </a:lnSpc>
              <a:buNone/>
            </a:pPr>
            <a:r>
              <a:rPr lang="en-US" sz="1300" dirty="0">
                <a:solidFill>
                  <a:srgbClr val="333F4D"/>
                </a:solidFill>
                <a:latin typeface="Calibri" pitchFamily="34" charset="0"/>
                <a:ea typeface="Calibri" pitchFamily="34" charset="-122"/>
                <a:cs typeface="Calibri" pitchFamily="34" charset="-120"/>
              </a:rPr>
              <a:t>   — volume bought by customers who would have paid full price. Roughly $35 of every $100 of promoted sales. Pure margin transfer, recorded as revenue.</a:t>
            </a:r>
            <a:endParaRPr lang="en-US" sz="1500" dirty="0"/>
          </a:p>
        </p:txBody>
      </p:sp>
      <p:sp>
        <p:nvSpPr>
          <p:cNvPr id="9" name="Shape 7"/>
          <p:cNvSpPr/>
          <p:nvPr/>
        </p:nvSpPr>
        <p:spPr>
          <a:xfrm>
            <a:off x="585216" y="3012034"/>
            <a:ext cx="384048" cy="384048"/>
          </a:xfrm>
          <a:prstGeom prst="ellipse">
            <a:avLst/>
          </a:prstGeom>
          <a:solidFill>
            <a:srgbClr val="2E5A8C"/>
          </a:solidFill>
          <a:ln/>
        </p:spPr>
      </p:sp>
      <p:sp>
        <p:nvSpPr>
          <p:cNvPr id="10" name="Text 8"/>
          <p:cNvSpPr/>
          <p:nvPr/>
        </p:nvSpPr>
        <p:spPr>
          <a:xfrm>
            <a:off x="585216" y="301203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33856" y="2975458"/>
            <a:ext cx="10417759" cy="716890"/>
          </a:xfrm>
          <a:prstGeom prst="rect">
            <a:avLst/>
          </a:prstGeom>
          <a:noFill/>
          <a:ln/>
        </p:spPr>
        <p:txBody>
          <a:bodyPr wrap="square" lIns="0" tIns="0" rIns="0" bIns="0" rtlCol="0" anchor="t"/>
          <a:lstStyle/>
          <a:p>
            <a:pPr indent="0" marL="0">
              <a:lnSpc>
                <a:spcPts val="1800"/>
              </a:lnSpc>
              <a:buNone/>
            </a:pPr>
            <a:r>
              <a:rPr lang="en-US" sz="1500" b="1" dirty="0">
                <a:solidFill>
                  <a:srgbClr val="17304A"/>
                </a:solidFill>
                <a:latin typeface="Calibri" pitchFamily="34" charset="0"/>
                <a:ea typeface="Calibri" pitchFamily="34" charset="-122"/>
                <a:cs typeface="Calibri" pitchFamily="34" charset="-120"/>
              </a:rPr>
              <a:t>Cannibalisation</a:t>
            </a:r>
            <a:pPr indent="0" marL="0">
              <a:lnSpc>
                <a:spcPts val="1800"/>
              </a:lnSpc>
              <a:buNone/>
            </a:pPr>
            <a:r>
              <a:rPr lang="en-US" sz="1300" dirty="0">
                <a:solidFill>
                  <a:srgbClr val="333F4D"/>
                </a:solidFill>
                <a:latin typeface="Calibri" pitchFamily="34" charset="0"/>
                <a:ea typeface="Calibri" pitchFamily="34" charset="-122"/>
                <a:cs typeface="Calibri" pitchFamily="34" charset="-120"/>
              </a:rPr>
              <a:t>   — volume drawn from our own other items or our own full-price sales. Roughly $8 of every $100. Recorded as a win in one line and a loss nowhere.</a:t>
            </a:r>
            <a:endParaRPr lang="en-US" sz="1500" dirty="0"/>
          </a:p>
        </p:txBody>
      </p:sp>
      <p:sp>
        <p:nvSpPr>
          <p:cNvPr id="12" name="Shape 10"/>
          <p:cNvSpPr/>
          <p:nvPr/>
        </p:nvSpPr>
        <p:spPr>
          <a:xfrm>
            <a:off x="585216" y="3838651"/>
            <a:ext cx="384048" cy="384048"/>
          </a:xfrm>
          <a:prstGeom prst="ellipse">
            <a:avLst/>
          </a:prstGeom>
          <a:solidFill>
            <a:srgbClr val="17304A"/>
          </a:solidFill>
          <a:ln/>
        </p:spPr>
      </p:sp>
      <p:sp>
        <p:nvSpPr>
          <p:cNvPr id="13" name="Text 11"/>
          <p:cNvSpPr/>
          <p:nvPr/>
        </p:nvSpPr>
        <p:spPr>
          <a:xfrm>
            <a:off x="585216" y="3838651"/>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33856" y="3802075"/>
            <a:ext cx="10417759" cy="716890"/>
          </a:xfrm>
          <a:prstGeom prst="rect">
            <a:avLst/>
          </a:prstGeom>
          <a:noFill/>
          <a:ln/>
        </p:spPr>
        <p:txBody>
          <a:bodyPr wrap="square" lIns="0" tIns="0" rIns="0" bIns="0" rtlCol="0" anchor="t"/>
          <a:lstStyle/>
          <a:p>
            <a:pPr indent="0" marL="0">
              <a:lnSpc>
                <a:spcPts val="1800"/>
              </a:lnSpc>
              <a:buNone/>
            </a:pPr>
            <a:r>
              <a:rPr lang="en-US" sz="1500" b="1" dirty="0">
                <a:solidFill>
                  <a:srgbClr val="17304A"/>
                </a:solidFill>
                <a:latin typeface="Calibri" pitchFamily="34" charset="0"/>
                <a:ea typeface="Calibri" pitchFamily="34" charset="-122"/>
                <a:cs typeface="Calibri" pitchFamily="34" charset="-120"/>
              </a:rPr>
              <a:t>Forward-buying</a:t>
            </a:r>
            <a:pPr indent="0" marL="0">
              <a:lnSpc>
                <a:spcPts val="1800"/>
              </a:lnSpc>
              <a:buNone/>
            </a:pPr>
            <a:r>
              <a:rPr lang="en-US" sz="1300" dirty="0">
                <a:solidFill>
                  <a:srgbClr val="333F4D"/>
                </a:solidFill>
                <a:latin typeface="Calibri" pitchFamily="34" charset="0"/>
                <a:ea typeface="Calibri" pitchFamily="34" charset="-122"/>
                <a:cs typeface="Calibri" pitchFamily="34" charset="-120"/>
              </a:rPr>
              <a:t>   — volume pulled from a future period. Shows as growth this quarter and as a hole next quarter, at a lower price. This is borrowing, and the interest is margin.</a:t>
            </a:r>
            <a:endParaRPr lang="en-US" sz="1500" dirty="0"/>
          </a:p>
        </p:txBody>
      </p:sp>
      <p:sp>
        <p:nvSpPr>
          <p:cNvPr id="15" name="Shape 13"/>
          <p:cNvSpPr/>
          <p:nvPr/>
        </p:nvSpPr>
        <p:spPr>
          <a:xfrm>
            <a:off x="585216" y="4665269"/>
            <a:ext cx="384048" cy="384048"/>
          </a:xfrm>
          <a:prstGeom prst="ellipse">
            <a:avLst/>
          </a:prstGeom>
          <a:solidFill>
            <a:srgbClr val="2E5A8C"/>
          </a:solidFill>
          <a:ln/>
        </p:spPr>
      </p:sp>
      <p:sp>
        <p:nvSpPr>
          <p:cNvPr id="16" name="Text 14"/>
          <p:cNvSpPr/>
          <p:nvPr/>
        </p:nvSpPr>
        <p:spPr>
          <a:xfrm>
            <a:off x="585216" y="4665269"/>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133856" y="4628693"/>
            <a:ext cx="10417759" cy="716890"/>
          </a:xfrm>
          <a:prstGeom prst="rect">
            <a:avLst/>
          </a:prstGeom>
          <a:noFill/>
          <a:ln/>
        </p:spPr>
        <p:txBody>
          <a:bodyPr wrap="square" lIns="0" tIns="0" rIns="0" bIns="0" rtlCol="0" anchor="t"/>
          <a:lstStyle/>
          <a:p>
            <a:pPr indent="0" marL="0">
              <a:lnSpc>
                <a:spcPts val="1800"/>
              </a:lnSpc>
              <a:buNone/>
            </a:pPr>
            <a:r>
              <a:rPr lang="en-US" sz="1500" b="1" dirty="0">
                <a:solidFill>
                  <a:srgbClr val="17304A"/>
                </a:solidFill>
                <a:latin typeface="Calibri" pitchFamily="34" charset="0"/>
                <a:ea typeface="Calibri" pitchFamily="34" charset="-122"/>
                <a:cs typeface="Calibri" pitchFamily="34" charset="-120"/>
              </a:rPr>
              <a:t>Genuine incrementality</a:t>
            </a:r>
            <a:pPr indent="0" marL="0">
              <a:lnSpc>
                <a:spcPts val="1800"/>
              </a:lnSpc>
              <a:buNone/>
            </a:pPr>
            <a:r>
              <a:rPr lang="en-US" sz="1300" dirty="0">
                <a:solidFill>
                  <a:srgbClr val="333F4D"/>
                </a:solidFill>
                <a:latin typeface="Calibri" pitchFamily="34" charset="0"/>
                <a:ea typeface="Calibri" pitchFamily="34" charset="-122"/>
                <a:cs typeface="Calibri" pitchFamily="34" charset="-120"/>
              </a:rPr>
              <a:t>   — new demand from new buyers who would not otherwise have purchased. The only part that is growth. Usually far smaller than the headline lift.</a:t>
            </a:r>
            <a:endParaRPr lang="en-US" sz="1500" dirty="0"/>
          </a:p>
        </p:txBody>
      </p:sp>
      <p:sp>
        <p:nvSpPr>
          <p:cNvPr id="18" name="Shape 16"/>
          <p:cNvSpPr/>
          <p:nvPr/>
        </p:nvSpPr>
        <p:spPr>
          <a:xfrm>
            <a:off x="585216" y="5491886"/>
            <a:ext cx="384048" cy="384048"/>
          </a:xfrm>
          <a:prstGeom prst="ellipse">
            <a:avLst/>
          </a:prstGeom>
          <a:solidFill>
            <a:srgbClr val="17304A"/>
          </a:solidFill>
          <a:ln/>
        </p:spPr>
      </p:sp>
      <p:sp>
        <p:nvSpPr>
          <p:cNvPr id="19" name="Text 17"/>
          <p:cNvSpPr/>
          <p:nvPr/>
        </p:nvSpPr>
        <p:spPr>
          <a:xfrm>
            <a:off x="585216" y="549188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p:nvPr/>
        </p:nvSpPr>
        <p:spPr>
          <a:xfrm>
            <a:off x="1133856" y="5455310"/>
            <a:ext cx="10417759" cy="716890"/>
          </a:xfrm>
          <a:prstGeom prst="rect">
            <a:avLst/>
          </a:prstGeom>
          <a:noFill/>
          <a:ln/>
        </p:spPr>
        <p:txBody>
          <a:bodyPr wrap="square" lIns="0" tIns="0" rIns="0" bIns="0" rtlCol="0" anchor="t"/>
          <a:lstStyle/>
          <a:p>
            <a:pPr indent="0" marL="0">
              <a:lnSpc>
                <a:spcPts val="1800"/>
              </a:lnSpc>
              <a:buNone/>
            </a:pPr>
            <a:r>
              <a:rPr lang="en-US" sz="1500" b="1" dirty="0">
                <a:solidFill>
                  <a:srgbClr val="17304A"/>
                </a:solidFill>
                <a:latin typeface="Calibri" pitchFamily="34" charset="0"/>
                <a:ea typeface="Calibri" pitchFamily="34" charset="-122"/>
                <a:cs typeface="Calibri" pitchFamily="34" charset="-120"/>
              </a:rPr>
              <a:t>And then decay</a:t>
            </a:r>
            <a:pPr indent="0" marL="0">
              <a:lnSpc>
                <a:spcPts val="1800"/>
              </a:lnSpc>
              <a:buNone/>
            </a:pPr>
            <a:r>
              <a:rPr lang="en-US" sz="1300" dirty="0">
                <a:solidFill>
                  <a:srgbClr val="333F4D"/>
                </a:solidFill>
                <a:latin typeface="Calibri" pitchFamily="34" charset="0"/>
                <a:ea typeface="Calibri" pitchFamily="34" charset="-122"/>
                <a:cs typeface="Calibri" pitchFamily="34" charset="-120"/>
              </a:rPr>
              <a:t>   — week-one post-event velocity at 40–60% of baseline, restored around week four. One brand adding decay to its model watched measured ROI fall from 1.8× to 0.7×. It had been losing money while believing it was profitable.</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F31"/>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0E1F31"/>
          </a:solidFill>
          <a:ln/>
        </p:spPr>
      </p:sp>
      <p:sp>
        <p:nvSpPr>
          <p:cNvPr id="3" name="Text 1"/>
          <p:cNvSpPr/>
          <p:nvPr/>
        </p:nvSpPr>
        <p:spPr>
          <a:xfrm>
            <a:off x="841248" y="384048"/>
            <a:ext cx="5486400" cy="256032"/>
          </a:xfrm>
          <a:prstGeom prst="rect">
            <a:avLst/>
          </a:prstGeom>
          <a:noFill/>
          <a:ln/>
        </p:spPr>
        <p:txBody>
          <a:bodyPr wrap="square" lIns="0" tIns="0" rIns="0" bIns="0" rtlCol="0" anchor="ctr"/>
          <a:lstStyle/>
          <a:p>
            <a:pPr indent="0" marL="0">
              <a:buNone/>
            </a:pPr>
            <a:r>
              <a:rPr lang="en-US" sz="1150" b="1" spc="360" kern="0" dirty="0">
                <a:solidFill>
                  <a:srgbClr val="D2A24C"/>
                </a:solidFill>
                <a:latin typeface="Calibri" pitchFamily="34" charset="0"/>
                <a:ea typeface="Calibri" pitchFamily="34" charset="-122"/>
                <a:cs typeface="Calibri" pitchFamily="34" charset="-120"/>
              </a:rPr>
              <a:t>EXERCISE 5</a:t>
            </a:r>
            <a:endParaRPr lang="en-US" sz="1150" dirty="0"/>
          </a:p>
        </p:txBody>
      </p:sp>
      <p:sp>
        <p:nvSpPr>
          <p:cNvPr id="4" name="Text 2"/>
          <p:cNvSpPr/>
          <p:nvPr/>
        </p:nvSpPr>
        <p:spPr>
          <a:xfrm>
            <a:off x="841248" y="731520"/>
            <a:ext cx="8131759" cy="80467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True ROI Recompute</a:t>
            </a:r>
            <a:endParaRPr lang="en-US" sz="3200" dirty="0"/>
          </a:p>
        </p:txBody>
      </p:sp>
      <p:sp>
        <p:nvSpPr>
          <p:cNvPr id="5" name="Text 3"/>
          <p:cNvSpPr/>
          <p:nvPr/>
        </p:nvSpPr>
        <p:spPr>
          <a:xfrm>
            <a:off x="841248"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FORMAT</a:t>
            </a:r>
            <a:endParaRPr lang="en-US" sz="950" dirty="0"/>
          </a:p>
        </p:txBody>
      </p:sp>
      <p:sp>
        <p:nvSpPr>
          <p:cNvPr id="6" name="Text 4"/>
          <p:cNvSpPr/>
          <p:nvPr/>
        </p:nvSpPr>
        <p:spPr>
          <a:xfrm>
            <a:off x="841248"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Mixed teams, one real event each</a:t>
            </a:r>
            <a:endParaRPr lang="en-US" sz="1300" dirty="0"/>
          </a:p>
        </p:txBody>
      </p:sp>
      <p:sp>
        <p:nvSpPr>
          <p:cNvPr id="7" name="Text 5"/>
          <p:cNvSpPr/>
          <p:nvPr/>
        </p:nvSpPr>
        <p:spPr>
          <a:xfrm>
            <a:off x="4420514"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TIME</a:t>
            </a:r>
            <a:endParaRPr lang="en-US" sz="950" dirty="0"/>
          </a:p>
        </p:txBody>
      </p:sp>
      <p:sp>
        <p:nvSpPr>
          <p:cNvPr id="8" name="Text 6"/>
          <p:cNvSpPr/>
          <p:nvPr/>
        </p:nvSpPr>
        <p:spPr>
          <a:xfrm>
            <a:off x="4420514"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80 minutes</a:t>
            </a:r>
            <a:endParaRPr lang="en-US" sz="1300" dirty="0"/>
          </a:p>
        </p:txBody>
      </p:sp>
      <p:sp>
        <p:nvSpPr>
          <p:cNvPr id="9" name="Text 7"/>
          <p:cNvSpPr/>
          <p:nvPr/>
        </p:nvSpPr>
        <p:spPr>
          <a:xfrm>
            <a:off x="7999781"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OUTPUT</a:t>
            </a:r>
            <a:endParaRPr lang="en-US" sz="950" dirty="0"/>
          </a:p>
        </p:txBody>
      </p:sp>
      <p:sp>
        <p:nvSpPr>
          <p:cNvPr id="10" name="Text 8"/>
          <p:cNvSpPr/>
          <p:nvPr/>
        </p:nvSpPr>
        <p:spPr>
          <a:xfrm>
            <a:off x="7999781"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Recomputed ROI on our five largest events, side by side with what we reported</a:t>
            </a:r>
            <a:endParaRPr lang="en-US" sz="1300" dirty="0"/>
          </a:p>
        </p:txBody>
      </p:sp>
      <p:sp>
        <p:nvSpPr>
          <p:cNvPr id="11" name="Shape 9"/>
          <p:cNvSpPr/>
          <p:nvPr/>
        </p:nvSpPr>
        <p:spPr>
          <a:xfrm>
            <a:off x="841248" y="2414016"/>
            <a:ext cx="10509199" cy="18288"/>
          </a:xfrm>
          <a:prstGeom prst="rect">
            <a:avLst/>
          </a:prstGeom>
          <a:solidFill>
            <a:srgbClr val="2C4763"/>
          </a:solidFill>
          <a:ln/>
        </p:spPr>
      </p:sp>
      <p:sp>
        <p:nvSpPr>
          <p:cNvPr id="12" name="Text 10"/>
          <p:cNvSpPr/>
          <p:nvPr/>
        </p:nvSpPr>
        <p:spPr>
          <a:xfrm>
            <a:off x="841248" y="2615184"/>
            <a:ext cx="5120640" cy="219456"/>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THE BRIEF</a:t>
            </a:r>
            <a:endParaRPr lang="en-US" sz="950" dirty="0"/>
          </a:p>
        </p:txBody>
      </p:sp>
      <p:sp>
        <p:nvSpPr>
          <p:cNvPr id="13" name="Text 11"/>
          <p:cNvSpPr/>
          <p:nvPr/>
        </p:nvSpPr>
        <p:spPr>
          <a:xfrm>
            <a:off x="841248" y="2889504"/>
            <a:ext cx="6035040" cy="3310128"/>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Each team takes one of our five largest discretionary spend events from the last four quarters — the ones we celebrated.</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Start with the number we reported at the time. Write it at the top of the page.</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Subtract subsidisation, cannibalisation and forward-buy using our own data where it exists and stated assumptions where it does not.</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Extend the window to 60–90 days and apply the measured post-event decay curve.</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Compute the true number. Write it directly under the reported one.</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Answer one question in writing: if this event were proposed today, with these actuals, would it clear the Gate?</a:t>
            </a:r>
            <a:endParaRPr lang="en-US" sz="1250" dirty="0"/>
          </a:p>
        </p:txBody>
      </p:sp>
      <p:sp>
        <p:nvSpPr>
          <p:cNvPr id="14" name="Shape 12"/>
          <p:cNvSpPr/>
          <p:nvPr/>
        </p:nvSpPr>
        <p:spPr>
          <a:xfrm>
            <a:off x="7287768" y="2578608"/>
            <a:ext cx="4336999" cy="3675888"/>
          </a:xfrm>
          <a:prstGeom prst="roundRect">
            <a:avLst>
              <a:gd name="adj" fmla="val 1493"/>
            </a:avLst>
          </a:prstGeom>
          <a:solidFill>
            <a:srgbClr val="16324C"/>
          </a:solidFill>
          <a:ln w="12700">
            <a:solidFill>
              <a:srgbClr val="2C4763"/>
            </a:solidFill>
            <a:prstDash val="solid"/>
          </a:ln>
        </p:spPr>
      </p:sp>
      <p:sp>
        <p:nvSpPr>
          <p:cNvPr id="15" name="Text 13"/>
          <p:cNvSpPr/>
          <p:nvPr/>
        </p:nvSpPr>
        <p:spPr>
          <a:xfrm>
            <a:off x="7516368" y="2779776"/>
            <a:ext cx="3834079" cy="219456"/>
          </a:xfrm>
          <a:prstGeom prst="rect">
            <a:avLst/>
          </a:prstGeom>
          <a:noFill/>
          <a:ln/>
        </p:spPr>
        <p:txBody>
          <a:bodyPr wrap="square" lIns="0" tIns="0" rIns="0" bIns="0" rtlCol="0" anchor="ctr"/>
          <a:lstStyle/>
          <a:p>
            <a:pPr indent="0" marL="0">
              <a:buNone/>
            </a:pPr>
            <a:r>
              <a:rPr lang="en-US" sz="950" b="1" spc="200" kern="0" dirty="0">
                <a:solidFill>
                  <a:srgbClr val="D2A24C"/>
                </a:solidFill>
                <a:latin typeface="Calibri" pitchFamily="34" charset="0"/>
                <a:ea typeface="Calibri" pitchFamily="34" charset="-122"/>
                <a:cs typeface="Calibri" pitchFamily="34" charset="-120"/>
              </a:rPr>
              <a:t>WHAT THIS ANCHORS</a:t>
            </a:r>
            <a:endParaRPr lang="en-US" sz="950" dirty="0"/>
          </a:p>
        </p:txBody>
      </p:sp>
      <p:sp>
        <p:nvSpPr>
          <p:cNvPr id="16" name="Text 14"/>
          <p:cNvSpPr/>
          <p:nvPr/>
        </p:nvSpPr>
        <p:spPr>
          <a:xfrm>
            <a:off x="7516368" y="3054096"/>
            <a:ext cx="3834079" cy="3054096"/>
          </a:xfrm>
          <a:prstGeom prst="rect">
            <a:avLst/>
          </a:prstGeom>
          <a:noFill/>
          <a:ln/>
        </p:spPr>
        <p:txBody>
          <a:bodyPr wrap="square" lIns="0" tIns="0" rIns="0" bIns="0" rtlCol="0" anchor="t"/>
          <a:lstStyle/>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This is the exercise people talk about six months later. It uses our money, our decisions, and our own celebration emails.</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Some events will hold up. Those are genuinely valuable to identify — they become the template. Some will not, and the gap between the two numbers is the argument for the Spend Gate that no slide can make.</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final question is what converts insight into governance. It is answered in writing, by name.</a:t>
            </a:r>
            <a:endParaRPr lang="en-US" sz="1250" dirty="0"/>
          </a:p>
        </p:txBody>
      </p:sp>
      <p:sp>
        <p:nvSpPr>
          <p:cNvPr id="17" name="Text 1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7304A"/>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17304A"/>
          </a:solidFill>
          <a:ln/>
        </p:spPr>
      </p:sp>
      <p:sp>
        <p:nvSpPr>
          <p:cNvPr id="3" name="Text 1"/>
          <p:cNvSpPr/>
          <p:nvPr/>
        </p:nvSpPr>
        <p:spPr>
          <a:xfrm>
            <a:off x="841248" y="1737360"/>
            <a:ext cx="2743200" cy="1463040"/>
          </a:xfrm>
          <a:prstGeom prst="rect">
            <a:avLst/>
          </a:prstGeom>
          <a:noFill/>
          <a:ln/>
        </p:spPr>
        <p:txBody>
          <a:bodyPr wrap="square" lIns="0" tIns="0" rIns="0" bIns="0" rtlCol="0" anchor="ctr"/>
          <a:lstStyle/>
          <a:p>
            <a:pPr indent="0" marL="0">
              <a:buNone/>
            </a:pPr>
            <a:r>
              <a:rPr lang="en-US" sz="9000" b="1" dirty="0">
                <a:solidFill>
                  <a:srgbClr val="3D6491"/>
                </a:solidFill>
                <a:latin typeface="Cambria" pitchFamily="34" charset="0"/>
                <a:ea typeface="Cambria" pitchFamily="34" charset="-122"/>
                <a:cs typeface="Cambria" pitchFamily="34" charset="-120"/>
              </a:rPr>
              <a:t>05</a:t>
            </a:r>
            <a:endParaRPr lang="en-US" sz="9000" dirty="0"/>
          </a:p>
        </p:txBody>
      </p:sp>
      <p:sp>
        <p:nvSpPr>
          <p:cNvPr id="4" name="Text 2"/>
          <p:cNvSpPr/>
          <p:nvPr/>
        </p:nvSpPr>
        <p:spPr>
          <a:xfrm>
            <a:off x="841248" y="3063240"/>
            <a:ext cx="9229039"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Execution Loop</a:t>
            </a:r>
            <a:endParaRPr lang="en-US" sz="4000" dirty="0"/>
          </a:p>
        </p:txBody>
      </p:sp>
      <p:sp>
        <p:nvSpPr>
          <p:cNvPr id="5" name="Text 3"/>
          <p:cNvSpPr/>
          <p:nvPr/>
        </p:nvSpPr>
        <p:spPr>
          <a:xfrm>
            <a:off x="841248" y="4041648"/>
            <a:ext cx="8412480" cy="914400"/>
          </a:xfrm>
          <a:prstGeom prst="rect">
            <a:avLst/>
          </a:prstGeom>
          <a:noFill/>
          <a:ln/>
        </p:spPr>
        <p:txBody>
          <a:bodyPr wrap="square" lIns="0" tIns="0" rIns="0" bIns="0" rtlCol="0" anchor="ctr"/>
          <a:lstStyle/>
          <a:p>
            <a:pPr indent="0" marL="0">
              <a:lnSpc>
                <a:spcPts val="2200"/>
              </a:lnSpc>
              <a:buNone/>
            </a:pPr>
            <a:r>
              <a:rPr lang="en-US" sz="1600" dirty="0">
                <a:solidFill>
                  <a:srgbClr val="CFDCEA"/>
                </a:solidFill>
                <a:latin typeface="Calibri" pitchFamily="34" charset="0"/>
                <a:ea typeface="Calibri" pitchFamily="34" charset="-122"/>
                <a:cs typeface="Calibri" pitchFamily="34" charset="-120"/>
              </a:rPr>
              <a:t>One loop, five phases, one set of gates. A brand turnaround, a product launch, a vendor implementation, a single week’s experiment — same loop, only the nouns change.</a:t>
            </a:r>
            <a:endParaRPr lang="en-US" sz="1600" dirty="0"/>
          </a:p>
        </p:txBody>
      </p:sp>
      <p:sp>
        <p:nvSpPr>
          <p:cNvPr id="6" name="Text 4"/>
          <p:cNvSpPr/>
          <p:nvPr/>
        </p:nvSpPr>
        <p:spPr>
          <a:xfrm>
            <a:off x="841248" y="5623560"/>
            <a:ext cx="8229600" cy="365760"/>
          </a:xfrm>
          <a:prstGeom prst="rect">
            <a:avLst/>
          </a:prstGeom>
          <a:noFill/>
          <a:ln/>
        </p:spPr>
        <p:txBody>
          <a:bodyPr wrap="square" lIns="0" tIns="0" rIns="0" bIns="0" rtlCol="0" anchor="ctr"/>
          <a:lstStyle/>
          <a:p>
            <a:pPr indent="0" marL="0">
              <a:buNone/>
            </a:pPr>
            <a:r>
              <a:rPr lang="en-US" sz="1200" b="1" spc="160" kern="0" dirty="0">
                <a:solidFill>
                  <a:srgbClr val="7FA3C9"/>
                </a:solidFill>
                <a:latin typeface="Calibri" pitchFamily="34" charset="0"/>
                <a:ea typeface="Calibri" pitchFamily="34" charset="-122"/>
                <a:cs typeface="Calibri" pitchFamily="34" charset="-120"/>
              </a:rPr>
              <a:t>ONE HOUR  ·  EXERCISE 6</a:t>
            </a:r>
            <a:endParaRPr lang="en-US" sz="1200" dirty="0"/>
          </a:p>
        </p:txBody>
      </p:sp>
      <p:sp>
        <p:nvSpPr>
          <p:cNvPr id="7" name="Text 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R.A.P.I.D.</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Five phases, five gates</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Read the gate row as the operating system and everything else as documentation. The default answer at every gate is No-Go, and the burden of proof sits with continuation.</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25</a:t>
            </a:r>
            <a:endParaRPr lang="en-US" sz="1000" dirty="0"/>
          </a:p>
        </p:txBody>
      </p:sp>
      <p:sp>
        <p:nvSpPr>
          <p:cNvPr id="6" name="Shape 4"/>
          <p:cNvSpPr/>
          <p:nvPr/>
        </p:nvSpPr>
        <p:spPr>
          <a:xfrm>
            <a:off x="566928" y="2194560"/>
            <a:ext cx="2050633" cy="3429000"/>
          </a:xfrm>
          <a:prstGeom prst="roundRect">
            <a:avLst>
              <a:gd name="adj" fmla="val 2675"/>
            </a:avLst>
          </a:prstGeom>
          <a:solidFill>
            <a:srgbClr val="EDF1F7"/>
          </a:solidFill>
          <a:ln w="12700">
            <a:solidFill>
              <a:srgbClr val="D6DEE8"/>
            </a:solidFill>
            <a:prstDash val="solid"/>
          </a:ln>
        </p:spPr>
      </p:sp>
      <p:sp>
        <p:nvSpPr>
          <p:cNvPr id="7" name="Shape 5"/>
          <p:cNvSpPr/>
          <p:nvPr/>
        </p:nvSpPr>
        <p:spPr>
          <a:xfrm>
            <a:off x="786384" y="2414016"/>
            <a:ext cx="475488" cy="475488"/>
          </a:xfrm>
          <a:prstGeom prst="ellipse">
            <a:avLst/>
          </a:prstGeom>
          <a:solidFill>
            <a:srgbClr val="17304A"/>
          </a:solidFill>
          <a:ln/>
        </p:spPr>
      </p:sp>
      <p:sp>
        <p:nvSpPr>
          <p:cNvPr id="8" name="Text 6"/>
          <p:cNvSpPr/>
          <p:nvPr/>
        </p:nvSpPr>
        <p:spPr>
          <a:xfrm>
            <a:off x="786384" y="241401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R</a:t>
            </a:r>
            <a:endParaRPr lang="en-US" sz="1800" dirty="0"/>
          </a:p>
        </p:txBody>
      </p:sp>
      <p:sp>
        <p:nvSpPr>
          <p:cNvPr id="9" name="Text 7"/>
          <p:cNvSpPr/>
          <p:nvPr/>
        </p:nvSpPr>
        <p:spPr>
          <a:xfrm>
            <a:off x="786384" y="3035808"/>
            <a:ext cx="1611721" cy="502920"/>
          </a:xfrm>
          <a:prstGeom prst="rect">
            <a:avLst/>
          </a:prstGeom>
          <a:noFill/>
          <a:ln/>
        </p:spPr>
        <p:txBody>
          <a:bodyPr wrap="square" lIns="0" tIns="0" rIns="0" bIns="0" rtlCol="0" anchor="t"/>
          <a:lstStyle/>
          <a:p>
            <a:pPr indent="0" marL="0">
              <a:buNone/>
            </a:pPr>
            <a:r>
              <a:rPr lang="en-US" sz="1450" b="1" dirty="0">
                <a:solidFill>
                  <a:srgbClr val="17304A"/>
                </a:solidFill>
                <a:latin typeface="Calibri" pitchFamily="34" charset="0"/>
                <a:ea typeface="Calibri" pitchFamily="34" charset="-122"/>
                <a:cs typeface="Calibri" pitchFamily="34" charset="-120"/>
              </a:rPr>
              <a:t>Diagnose</a:t>
            </a:r>
            <a:endParaRPr lang="en-US" sz="1450" dirty="0"/>
          </a:p>
        </p:txBody>
      </p:sp>
      <p:sp>
        <p:nvSpPr>
          <p:cNvPr id="10" name="Text 8"/>
          <p:cNvSpPr/>
          <p:nvPr/>
        </p:nvSpPr>
        <p:spPr>
          <a:xfrm>
            <a:off x="786384" y="3529584"/>
            <a:ext cx="1611721" cy="1856232"/>
          </a:xfrm>
          <a:prstGeom prst="rect">
            <a:avLst/>
          </a:prstGeom>
          <a:noFill/>
          <a:ln/>
        </p:spPr>
        <p:txBody>
          <a:bodyPr wrap="square" lIns="0" tIns="0" rIns="0" bIns="0" rtlCol="0" anchor="t"/>
          <a:lstStyle/>
          <a:p>
            <a:pPr indent="0" marL="0">
              <a:lnSpc>
                <a:spcPts val="1500"/>
              </a:lnSpc>
              <a:buNone/>
            </a:pPr>
            <a:r>
              <a:rPr lang="en-US" sz="1150" dirty="0">
                <a:solidFill>
                  <a:srgbClr val="333F4D"/>
                </a:solidFill>
                <a:latin typeface="Calibri" pitchFamily="34" charset="0"/>
                <a:ea typeface="Calibri" pitchFamily="34" charset="-122"/>
                <a:cs typeface="Calibri" pitchFamily="34" charset="-120"/>
              </a:rPr>
              <a:t>Find the binding constraint in 10 days using cohort data.</a:t>
            </a:r>
            <a:endParaRPr lang="en-US" sz="1150" dirty="0"/>
          </a:p>
          <a:p>
            <a:pPr indent="0" marL="0">
              <a:lnSpc>
                <a:spcPts val="1500"/>
              </a:lnSpc>
              <a:buNone/>
            </a:pPr>
            <a:endParaRPr lang="en-US" sz="1150" dirty="0"/>
          </a:p>
          <a:p>
            <a:pPr indent="0" marL="0">
              <a:lnSpc>
                <a:spcPts val="1500"/>
              </a:lnSpc>
              <a:buNone/>
            </a:pPr>
            <a:r>
              <a:rPr lang="en-US" sz="1150" dirty="0">
                <a:solidFill>
                  <a:srgbClr val="333F4D"/>
                </a:solidFill>
                <a:latin typeface="Calibri" pitchFamily="34" charset="0"/>
                <a:ea typeface="Calibri" pitchFamily="34" charset="-122"/>
                <a:cs typeface="Calibri" pitchFamily="34" charset="-120"/>
              </a:rPr>
              <a:t>GATE: constraint named with cohort evidence; scorecard live at ≤ 7 metrics with owners and baselines.</a:t>
            </a:r>
            <a:endParaRPr lang="en-US" sz="1150" dirty="0"/>
          </a:p>
        </p:txBody>
      </p:sp>
      <p:sp>
        <p:nvSpPr>
          <p:cNvPr id="11" name="Shape 9"/>
          <p:cNvSpPr/>
          <p:nvPr/>
        </p:nvSpPr>
        <p:spPr>
          <a:xfrm>
            <a:off x="2818729" y="2194560"/>
            <a:ext cx="2050633" cy="3429000"/>
          </a:xfrm>
          <a:prstGeom prst="roundRect">
            <a:avLst>
              <a:gd name="adj" fmla="val 2675"/>
            </a:avLst>
          </a:prstGeom>
          <a:solidFill>
            <a:srgbClr val="EDF1F7"/>
          </a:solidFill>
          <a:ln w="12700">
            <a:solidFill>
              <a:srgbClr val="D6DEE8"/>
            </a:solidFill>
            <a:prstDash val="solid"/>
          </a:ln>
        </p:spPr>
      </p:sp>
      <p:sp>
        <p:nvSpPr>
          <p:cNvPr id="12" name="Shape 10"/>
          <p:cNvSpPr/>
          <p:nvPr/>
        </p:nvSpPr>
        <p:spPr>
          <a:xfrm>
            <a:off x="3038185" y="2414016"/>
            <a:ext cx="475488" cy="475488"/>
          </a:xfrm>
          <a:prstGeom prst="ellipse">
            <a:avLst/>
          </a:prstGeom>
          <a:solidFill>
            <a:srgbClr val="17304A"/>
          </a:solidFill>
          <a:ln/>
        </p:spPr>
      </p:sp>
      <p:sp>
        <p:nvSpPr>
          <p:cNvPr id="13" name="Text 11"/>
          <p:cNvSpPr/>
          <p:nvPr/>
        </p:nvSpPr>
        <p:spPr>
          <a:xfrm>
            <a:off x="3038185" y="241401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A</a:t>
            </a:r>
            <a:endParaRPr lang="en-US" sz="1800" dirty="0"/>
          </a:p>
        </p:txBody>
      </p:sp>
      <p:sp>
        <p:nvSpPr>
          <p:cNvPr id="14" name="Text 12"/>
          <p:cNvSpPr/>
          <p:nvPr/>
        </p:nvSpPr>
        <p:spPr>
          <a:xfrm>
            <a:off x="3038185" y="3035808"/>
            <a:ext cx="1611721" cy="502920"/>
          </a:xfrm>
          <a:prstGeom prst="rect">
            <a:avLst/>
          </a:prstGeom>
          <a:noFill/>
          <a:ln/>
        </p:spPr>
        <p:txBody>
          <a:bodyPr wrap="square" lIns="0" tIns="0" rIns="0" bIns="0" rtlCol="0" anchor="t"/>
          <a:lstStyle/>
          <a:p>
            <a:pPr indent="0" marL="0">
              <a:buNone/>
            </a:pPr>
            <a:r>
              <a:rPr lang="en-US" sz="1450" b="1" dirty="0">
                <a:solidFill>
                  <a:srgbClr val="17304A"/>
                </a:solidFill>
                <a:latin typeface="Calibri" pitchFamily="34" charset="0"/>
                <a:ea typeface="Calibri" pitchFamily="34" charset="-122"/>
                <a:cs typeface="Calibri" pitchFamily="34" charset="-120"/>
              </a:rPr>
              <a:t>Stabilize</a:t>
            </a:r>
            <a:endParaRPr lang="en-US" sz="1450" dirty="0"/>
          </a:p>
        </p:txBody>
      </p:sp>
      <p:sp>
        <p:nvSpPr>
          <p:cNvPr id="15" name="Text 13"/>
          <p:cNvSpPr/>
          <p:nvPr/>
        </p:nvSpPr>
        <p:spPr>
          <a:xfrm>
            <a:off x="3038185" y="3529584"/>
            <a:ext cx="1611721" cy="1856232"/>
          </a:xfrm>
          <a:prstGeom prst="rect">
            <a:avLst/>
          </a:prstGeom>
          <a:noFill/>
          <a:ln/>
        </p:spPr>
        <p:txBody>
          <a:bodyPr wrap="square" lIns="0" tIns="0" rIns="0" bIns="0" rtlCol="0" anchor="t"/>
          <a:lstStyle/>
          <a:p>
            <a:pPr indent="0" marL="0">
              <a:lnSpc>
                <a:spcPts val="1500"/>
              </a:lnSpc>
              <a:buNone/>
            </a:pPr>
            <a:r>
              <a:rPr lang="en-US" sz="1150" dirty="0">
                <a:solidFill>
                  <a:srgbClr val="333F4D"/>
                </a:solidFill>
                <a:latin typeface="Calibri" pitchFamily="34" charset="0"/>
                <a:ea typeface="Calibri" pitchFamily="34" charset="-122"/>
                <a:cs typeface="Calibri" pitchFamily="34" charset="-120"/>
              </a:rPr>
              <a:t>Stop the bleed. Install the spine. Concentrate on the vital few.</a:t>
            </a:r>
            <a:endParaRPr lang="en-US" sz="1150" dirty="0"/>
          </a:p>
          <a:p>
            <a:pPr indent="0" marL="0">
              <a:lnSpc>
                <a:spcPts val="1500"/>
              </a:lnSpc>
              <a:buNone/>
            </a:pPr>
            <a:endParaRPr lang="en-US" sz="1150" dirty="0"/>
          </a:p>
          <a:p>
            <a:pPr indent="0" marL="0">
              <a:lnSpc>
                <a:spcPts val="1500"/>
              </a:lnSpc>
              <a:buNone/>
            </a:pPr>
            <a:r>
              <a:rPr lang="en-US" sz="1150" dirty="0">
                <a:solidFill>
                  <a:srgbClr val="333F4D"/>
                </a:solidFill>
                <a:latin typeface="Calibri" pitchFamily="34" charset="0"/>
                <a:ea typeface="Calibri" pitchFamily="34" charset="-122"/>
                <a:cs typeface="Calibri" pitchFamily="34" charset="-120"/>
              </a:rPr>
              <a:t>GATE: bleed quantified and slowed; WIP limit enforced; single-threaded owners named.</a:t>
            </a:r>
            <a:endParaRPr lang="en-US" sz="1150" dirty="0"/>
          </a:p>
        </p:txBody>
      </p:sp>
      <p:sp>
        <p:nvSpPr>
          <p:cNvPr id="16" name="Shape 14"/>
          <p:cNvSpPr/>
          <p:nvPr/>
        </p:nvSpPr>
        <p:spPr>
          <a:xfrm>
            <a:off x="5070531" y="2194560"/>
            <a:ext cx="2050633" cy="3429000"/>
          </a:xfrm>
          <a:prstGeom prst="roundRect">
            <a:avLst>
              <a:gd name="adj" fmla="val 2675"/>
            </a:avLst>
          </a:prstGeom>
          <a:solidFill>
            <a:srgbClr val="EDF1F7"/>
          </a:solidFill>
          <a:ln w="12700">
            <a:solidFill>
              <a:srgbClr val="D6DEE8"/>
            </a:solidFill>
            <a:prstDash val="solid"/>
          </a:ln>
        </p:spPr>
      </p:sp>
      <p:sp>
        <p:nvSpPr>
          <p:cNvPr id="17" name="Shape 15"/>
          <p:cNvSpPr/>
          <p:nvPr/>
        </p:nvSpPr>
        <p:spPr>
          <a:xfrm>
            <a:off x="5289987" y="2414016"/>
            <a:ext cx="475488" cy="475488"/>
          </a:xfrm>
          <a:prstGeom prst="ellipse">
            <a:avLst/>
          </a:prstGeom>
          <a:solidFill>
            <a:srgbClr val="17304A"/>
          </a:solidFill>
          <a:ln/>
        </p:spPr>
      </p:sp>
      <p:sp>
        <p:nvSpPr>
          <p:cNvPr id="18" name="Text 16"/>
          <p:cNvSpPr/>
          <p:nvPr/>
        </p:nvSpPr>
        <p:spPr>
          <a:xfrm>
            <a:off x="5289987" y="241401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a:t>
            </a:r>
            <a:endParaRPr lang="en-US" sz="1800" dirty="0"/>
          </a:p>
        </p:txBody>
      </p:sp>
      <p:sp>
        <p:nvSpPr>
          <p:cNvPr id="19" name="Text 17"/>
          <p:cNvSpPr/>
          <p:nvPr/>
        </p:nvSpPr>
        <p:spPr>
          <a:xfrm>
            <a:off x="5289987" y="3035808"/>
            <a:ext cx="1611721" cy="502920"/>
          </a:xfrm>
          <a:prstGeom prst="rect">
            <a:avLst/>
          </a:prstGeom>
          <a:noFill/>
          <a:ln/>
        </p:spPr>
        <p:txBody>
          <a:bodyPr wrap="square" lIns="0" tIns="0" rIns="0" bIns="0" rtlCol="0" anchor="t"/>
          <a:lstStyle/>
          <a:p>
            <a:pPr indent="0" marL="0">
              <a:buNone/>
            </a:pPr>
            <a:r>
              <a:rPr lang="en-US" sz="1450" b="1" dirty="0">
                <a:solidFill>
                  <a:srgbClr val="17304A"/>
                </a:solidFill>
                <a:latin typeface="Calibri" pitchFamily="34" charset="0"/>
                <a:ea typeface="Calibri" pitchFamily="34" charset="-122"/>
                <a:cs typeface="Calibri" pitchFamily="34" charset="-120"/>
              </a:rPr>
              <a:t>Pilot</a:t>
            </a:r>
            <a:endParaRPr lang="en-US" sz="1450" dirty="0"/>
          </a:p>
        </p:txBody>
      </p:sp>
      <p:sp>
        <p:nvSpPr>
          <p:cNvPr id="20" name="Text 18"/>
          <p:cNvSpPr/>
          <p:nvPr/>
        </p:nvSpPr>
        <p:spPr>
          <a:xfrm>
            <a:off x="5289987" y="3529584"/>
            <a:ext cx="1611721" cy="1856232"/>
          </a:xfrm>
          <a:prstGeom prst="rect">
            <a:avLst/>
          </a:prstGeom>
          <a:noFill/>
          <a:ln/>
        </p:spPr>
        <p:txBody>
          <a:bodyPr wrap="square" lIns="0" tIns="0" rIns="0" bIns="0" rtlCol="0" anchor="t"/>
          <a:lstStyle/>
          <a:p>
            <a:pPr indent="0" marL="0">
              <a:lnSpc>
                <a:spcPts val="1500"/>
              </a:lnSpc>
              <a:buNone/>
            </a:pPr>
            <a:r>
              <a:rPr lang="en-US" sz="1150" dirty="0">
                <a:solidFill>
                  <a:srgbClr val="333F4D"/>
                </a:solidFill>
                <a:latin typeface="Calibri" pitchFamily="34" charset="0"/>
                <a:ea typeface="Calibri" pitchFamily="34" charset="-122"/>
                <a:cs typeface="Calibri" pitchFamily="34" charset="-120"/>
              </a:rPr>
              <a:t>Test on a bounded cohort against pre-registered criteria.</a:t>
            </a:r>
            <a:endParaRPr lang="en-US" sz="1150" dirty="0"/>
          </a:p>
          <a:p>
            <a:pPr indent="0" marL="0">
              <a:lnSpc>
                <a:spcPts val="1500"/>
              </a:lnSpc>
              <a:buNone/>
            </a:pPr>
            <a:endParaRPr lang="en-US" sz="1150" dirty="0"/>
          </a:p>
          <a:p>
            <a:pPr indent="0" marL="0">
              <a:lnSpc>
                <a:spcPts val="1500"/>
              </a:lnSpc>
              <a:buNone/>
            </a:pPr>
            <a:r>
              <a:rPr lang="en-US" sz="1150" dirty="0">
                <a:solidFill>
                  <a:srgbClr val="333F4D"/>
                </a:solidFill>
                <a:latin typeface="Calibri" pitchFamily="34" charset="0"/>
                <a:ea typeface="Calibri" pitchFamily="34" charset="-122"/>
                <a:cs typeface="Calibri" pitchFamily="34" charset="-120"/>
              </a:rPr>
              <a:t>GATE: movement at or beyond the registered MDE against control, inside 30 days.</a:t>
            </a:r>
            <a:endParaRPr lang="en-US" sz="1150" dirty="0"/>
          </a:p>
        </p:txBody>
      </p:sp>
      <p:sp>
        <p:nvSpPr>
          <p:cNvPr id="21" name="Shape 19"/>
          <p:cNvSpPr/>
          <p:nvPr/>
        </p:nvSpPr>
        <p:spPr>
          <a:xfrm>
            <a:off x="7322332" y="2194560"/>
            <a:ext cx="2050633" cy="3429000"/>
          </a:xfrm>
          <a:prstGeom prst="roundRect">
            <a:avLst>
              <a:gd name="adj" fmla="val 2675"/>
            </a:avLst>
          </a:prstGeom>
          <a:solidFill>
            <a:srgbClr val="EDF1F7"/>
          </a:solidFill>
          <a:ln w="12700">
            <a:solidFill>
              <a:srgbClr val="D6DEE8"/>
            </a:solidFill>
            <a:prstDash val="solid"/>
          </a:ln>
        </p:spPr>
      </p:sp>
      <p:sp>
        <p:nvSpPr>
          <p:cNvPr id="22" name="Shape 20"/>
          <p:cNvSpPr/>
          <p:nvPr/>
        </p:nvSpPr>
        <p:spPr>
          <a:xfrm>
            <a:off x="7541788" y="2414016"/>
            <a:ext cx="475488" cy="475488"/>
          </a:xfrm>
          <a:prstGeom prst="ellipse">
            <a:avLst/>
          </a:prstGeom>
          <a:solidFill>
            <a:srgbClr val="17304A"/>
          </a:solidFill>
          <a:ln/>
        </p:spPr>
      </p:sp>
      <p:sp>
        <p:nvSpPr>
          <p:cNvPr id="23" name="Text 21"/>
          <p:cNvSpPr/>
          <p:nvPr/>
        </p:nvSpPr>
        <p:spPr>
          <a:xfrm>
            <a:off x="7541788" y="241401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I</a:t>
            </a:r>
            <a:endParaRPr lang="en-US" sz="1800" dirty="0"/>
          </a:p>
        </p:txBody>
      </p:sp>
      <p:sp>
        <p:nvSpPr>
          <p:cNvPr id="24" name="Text 22"/>
          <p:cNvSpPr/>
          <p:nvPr/>
        </p:nvSpPr>
        <p:spPr>
          <a:xfrm>
            <a:off x="7541788" y="3035808"/>
            <a:ext cx="1611721" cy="502920"/>
          </a:xfrm>
          <a:prstGeom prst="rect">
            <a:avLst/>
          </a:prstGeom>
          <a:noFill/>
          <a:ln/>
        </p:spPr>
        <p:txBody>
          <a:bodyPr wrap="square" lIns="0" tIns="0" rIns="0" bIns="0" rtlCol="0" anchor="t"/>
          <a:lstStyle/>
          <a:p>
            <a:pPr indent="0" marL="0">
              <a:buNone/>
            </a:pPr>
            <a:r>
              <a:rPr lang="en-US" sz="1450" b="1" dirty="0">
                <a:solidFill>
                  <a:srgbClr val="17304A"/>
                </a:solidFill>
                <a:latin typeface="Calibri" pitchFamily="34" charset="0"/>
                <a:ea typeface="Calibri" pitchFamily="34" charset="-122"/>
                <a:cs typeface="Calibri" pitchFamily="34" charset="-120"/>
              </a:rPr>
              <a:t>Iterate &amp; Scale</a:t>
            </a:r>
            <a:endParaRPr lang="en-US" sz="1450" dirty="0"/>
          </a:p>
        </p:txBody>
      </p:sp>
      <p:sp>
        <p:nvSpPr>
          <p:cNvPr id="25" name="Text 23"/>
          <p:cNvSpPr/>
          <p:nvPr/>
        </p:nvSpPr>
        <p:spPr>
          <a:xfrm>
            <a:off x="7541788" y="3529584"/>
            <a:ext cx="1611721" cy="1856232"/>
          </a:xfrm>
          <a:prstGeom prst="rect">
            <a:avLst/>
          </a:prstGeom>
          <a:noFill/>
          <a:ln/>
        </p:spPr>
        <p:txBody>
          <a:bodyPr wrap="square" lIns="0" tIns="0" rIns="0" bIns="0" rtlCol="0" anchor="t"/>
          <a:lstStyle/>
          <a:p>
            <a:pPr indent="0" marL="0">
              <a:lnSpc>
                <a:spcPts val="1500"/>
              </a:lnSpc>
              <a:buNone/>
            </a:pPr>
            <a:r>
              <a:rPr lang="en-US" sz="1150" dirty="0">
                <a:solidFill>
                  <a:srgbClr val="333F4D"/>
                </a:solidFill>
                <a:latin typeface="Calibri" pitchFamily="34" charset="0"/>
                <a:ea typeface="Calibri" pitchFamily="34" charset="-122"/>
                <a:cs typeface="Calibri" pitchFamily="34" charset="-120"/>
              </a:rPr>
              <a:t>Expand ring by ring. Re-validate economics at every ring.</a:t>
            </a:r>
            <a:endParaRPr lang="en-US" sz="1150" dirty="0"/>
          </a:p>
          <a:p>
            <a:pPr indent="0" marL="0">
              <a:lnSpc>
                <a:spcPts val="1500"/>
              </a:lnSpc>
              <a:buNone/>
            </a:pPr>
            <a:endParaRPr lang="en-US" sz="1150" dirty="0"/>
          </a:p>
          <a:p>
            <a:pPr indent="0" marL="0">
              <a:lnSpc>
                <a:spcPts val="1500"/>
              </a:lnSpc>
              <a:buNone/>
            </a:pPr>
            <a:r>
              <a:rPr lang="en-US" sz="1150" dirty="0">
                <a:solidFill>
                  <a:srgbClr val="333F4D"/>
                </a:solidFill>
                <a:latin typeface="Calibri" pitchFamily="34" charset="0"/>
                <a:ea typeface="Calibri" pitchFamily="34" charset="-122"/>
                <a:cs typeface="Calibri" pitchFamily="34" charset="-120"/>
              </a:rPr>
              <a:t>GATE: unit economics hold at each ring; overlay ROI ≥ 1.5×; no unintended-consequence flags.</a:t>
            </a:r>
            <a:endParaRPr lang="en-US" sz="1150" dirty="0"/>
          </a:p>
        </p:txBody>
      </p:sp>
      <p:sp>
        <p:nvSpPr>
          <p:cNvPr id="26" name="Shape 24"/>
          <p:cNvSpPr/>
          <p:nvPr/>
        </p:nvSpPr>
        <p:spPr>
          <a:xfrm>
            <a:off x="9574134" y="2194560"/>
            <a:ext cx="2050633" cy="3429000"/>
          </a:xfrm>
          <a:prstGeom prst="roundRect">
            <a:avLst>
              <a:gd name="adj" fmla="val 2675"/>
            </a:avLst>
          </a:prstGeom>
          <a:solidFill>
            <a:srgbClr val="EDF1F7"/>
          </a:solidFill>
          <a:ln w="12700">
            <a:solidFill>
              <a:srgbClr val="D6DEE8"/>
            </a:solidFill>
            <a:prstDash val="solid"/>
          </a:ln>
        </p:spPr>
      </p:sp>
      <p:sp>
        <p:nvSpPr>
          <p:cNvPr id="27" name="Shape 25"/>
          <p:cNvSpPr/>
          <p:nvPr/>
        </p:nvSpPr>
        <p:spPr>
          <a:xfrm>
            <a:off x="9793590" y="2414016"/>
            <a:ext cx="475488" cy="475488"/>
          </a:xfrm>
          <a:prstGeom prst="ellipse">
            <a:avLst/>
          </a:prstGeom>
          <a:solidFill>
            <a:srgbClr val="17304A"/>
          </a:solidFill>
          <a:ln/>
        </p:spPr>
      </p:sp>
      <p:sp>
        <p:nvSpPr>
          <p:cNvPr id="28" name="Text 26"/>
          <p:cNvSpPr/>
          <p:nvPr/>
        </p:nvSpPr>
        <p:spPr>
          <a:xfrm>
            <a:off x="9793590" y="2414016"/>
            <a:ext cx="475488"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D</a:t>
            </a:r>
            <a:endParaRPr lang="en-US" sz="1800" dirty="0"/>
          </a:p>
        </p:txBody>
      </p:sp>
      <p:sp>
        <p:nvSpPr>
          <p:cNvPr id="29" name="Text 27"/>
          <p:cNvSpPr/>
          <p:nvPr/>
        </p:nvSpPr>
        <p:spPr>
          <a:xfrm>
            <a:off x="9793590" y="3035808"/>
            <a:ext cx="1611721" cy="502920"/>
          </a:xfrm>
          <a:prstGeom prst="rect">
            <a:avLst/>
          </a:prstGeom>
          <a:noFill/>
          <a:ln/>
        </p:spPr>
        <p:txBody>
          <a:bodyPr wrap="square" lIns="0" tIns="0" rIns="0" bIns="0" rtlCol="0" anchor="t"/>
          <a:lstStyle/>
          <a:p>
            <a:pPr indent="0" marL="0">
              <a:buNone/>
            </a:pPr>
            <a:r>
              <a:rPr lang="en-US" sz="1450" b="1" dirty="0">
                <a:solidFill>
                  <a:srgbClr val="17304A"/>
                </a:solidFill>
                <a:latin typeface="Calibri" pitchFamily="34" charset="0"/>
                <a:ea typeface="Calibri" pitchFamily="34" charset="-122"/>
                <a:cs typeface="Calibri" pitchFamily="34" charset="-120"/>
              </a:rPr>
              <a:t>Deploy &amp; Lock In</a:t>
            </a:r>
            <a:endParaRPr lang="en-US" sz="1450" dirty="0"/>
          </a:p>
        </p:txBody>
      </p:sp>
      <p:sp>
        <p:nvSpPr>
          <p:cNvPr id="30" name="Text 28"/>
          <p:cNvSpPr/>
          <p:nvPr/>
        </p:nvSpPr>
        <p:spPr>
          <a:xfrm>
            <a:off x="9793590" y="3529584"/>
            <a:ext cx="1611721" cy="1856232"/>
          </a:xfrm>
          <a:prstGeom prst="rect">
            <a:avLst/>
          </a:prstGeom>
          <a:noFill/>
          <a:ln/>
        </p:spPr>
        <p:txBody>
          <a:bodyPr wrap="square" lIns="0" tIns="0" rIns="0" bIns="0" rtlCol="0" anchor="t"/>
          <a:lstStyle/>
          <a:p>
            <a:pPr indent="0" marL="0">
              <a:lnSpc>
                <a:spcPts val="1500"/>
              </a:lnSpc>
              <a:buNone/>
            </a:pPr>
            <a:r>
              <a:rPr lang="en-US" sz="1150" dirty="0">
                <a:solidFill>
                  <a:srgbClr val="333F4D"/>
                </a:solidFill>
                <a:latin typeface="Calibri" pitchFamily="34" charset="0"/>
                <a:ea typeface="Calibri" pitchFamily="34" charset="-122"/>
                <a:cs typeface="Calibri" pitchFamily="34" charset="-120"/>
              </a:rPr>
              <a:t>Convert wins into standard work and permanent governance.</a:t>
            </a:r>
            <a:endParaRPr lang="en-US" sz="1150" dirty="0"/>
          </a:p>
          <a:p>
            <a:pPr indent="0" marL="0">
              <a:lnSpc>
                <a:spcPts val="1500"/>
              </a:lnSpc>
              <a:buNone/>
            </a:pPr>
            <a:endParaRPr lang="en-US" sz="1150" dirty="0"/>
          </a:p>
          <a:p>
            <a:pPr indent="0" marL="0">
              <a:lnSpc>
                <a:spcPts val="1500"/>
              </a:lnSpc>
              <a:buNone/>
            </a:pPr>
            <a:r>
              <a:rPr lang="en-US" sz="1150" dirty="0">
                <a:solidFill>
                  <a:srgbClr val="333F4D"/>
                </a:solidFill>
                <a:latin typeface="Calibri" pitchFamily="34" charset="0"/>
                <a:ea typeface="Calibri" pitchFamily="34" charset="-122"/>
                <a:cs typeface="Calibri" pitchFamily="34" charset="-120"/>
              </a:rPr>
              <a:t>GATE: playbooks trained; gains sustained two review cycles without founder intervention.</a:t>
            </a:r>
            <a:endParaRPr lang="en-US" sz="1150" dirty="0"/>
          </a:p>
        </p:txBody>
      </p:sp>
      <p:sp>
        <p:nvSpPr>
          <p:cNvPr id="31" name="Text 29"/>
          <p:cNvSpPr/>
          <p:nvPr/>
        </p:nvSpPr>
        <p:spPr>
          <a:xfrm>
            <a:off x="566928" y="5879592"/>
            <a:ext cx="11057839" cy="640080"/>
          </a:xfrm>
          <a:prstGeom prst="rect">
            <a:avLst/>
          </a:prstGeom>
          <a:noFill/>
          <a:ln/>
        </p:spPr>
        <p:txBody>
          <a:bodyPr wrap="square" lIns="0" tIns="0" rIns="0" bIns="0" rtlCol="0" anchor="ctr"/>
          <a:lstStyle/>
          <a:p>
            <a:pPr indent="0" marL="0">
              <a:lnSpc>
                <a:spcPts val="1800"/>
              </a:lnSpc>
              <a:buNone/>
            </a:pPr>
            <a:r>
              <a:rPr lang="en-US" sz="1350" i="1" dirty="0">
                <a:solidFill>
                  <a:srgbClr val="17304A"/>
                </a:solidFill>
                <a:latin typeface="Calibri" pitchFamily="34" charset="0"/>
                <a:ea typeface="Calibri" pitchFamily="34" charset="-122"/>
                <a:cs typeface="Calibri" pitchFamily="34" charset="-120"/>
              </a:rPr>
              <a:t>Sunk cost is not an argument. Continuing a failed pilot is not perseverance — it is a new, and worse, capital allocation decision.</a:t>
            </a:r>
            <a:endParaRPr lang="en-US" sz="13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SAME LOOP, THREE SCALES</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"Our thing is different"</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A multi-market turnaround, a fifty-thousand-dollar vendor implementation, and a one-week growth test. Same five phases, same gates, three orders of magnitude apart.</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26</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2148840"/>
          <a:ext cx="11057839" cy="914400"/>
        </p:xfrm>
        <a:graphic>
          <a:graphicData uri="http://schemas.openxmlformats.org/drawingml/2006/table">
            <a:tbl>
              <a:tblPr/>
              <a:tblGrid>
                <a:gridCol w="1554480"/>
                <a:gridCol w="3291840"/>
                <a:gridCol w="3108960"/>
                <a:gridCol w="3118104"/>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Phase</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Multi-market turnaround</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Vendor implementation</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One-week experiment</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r>
              <a:tr h="566928">
                <a:tc>
                  <a:txBody>
                    <a:bodyPr/>
                    <a:lstStyle/>
                    <a:p>
                      <a:pPr indent="0" marL="0">
                        <a:buNone/>
                      </a:pPr>
                      <a:r>
                        <a:rPr lang="en-US" sz="1150" b="1" dirty="0">
                          <a:solidFill>
                            <a:srgbClr val="2B3440"/>
                          </a:solidFill>
                          <a:latin typeface="Calibri" pitchFamily="34" charset="0"/>
                          <a:ea typeface="Calibri" pitchFamily="34" charset="-122"/>
                          <a:cs typeface="Calibri" pitchFamily="34" charset="-120"/>
                        </a:rPr>
                        <a:t>Diagnose</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Cohort decomposition across accounts, products and channels; trust scan; hidden-economics check.</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Which workflows actually bleed margin or cycle time today?</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Which driver-tree node is underperforming, and by how much?</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2B3440"/>
                          </a:solidFill>
                          <a:latin typeface="Calibri" pitchFamily="34" charset="0"/>
                          <a:ea typeface="Calibri" pitchFamily="34" charset="-122"/>
                          <a:cs typeface="Calibri" pitchFamily="34" charset="-120"/>
                        </a:rPr>
                        <a:t>Stabilize</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Spend gate live; stop-doing list; WIP limit; commercial compact.</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Stop the spreadsheet shadow system; freeze process changes.</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Freeze concurrent changes on the same surface; clean baseline.</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r h="566928">
                <a:tc>
                  <a:txBody>
                    <a:bodyPr/>
                    <a:lstStyle/>
                    <a:p>
                      <a:pPr indent="0" marL="0">
                        <a:buNone/>
                      </a:pPr>
                      <a:r>
                        <a:rPr lang="en-US" sz="1150" b="1" dirty="0">
                          <a:solidFill>
                            <a:srgbClr val="2B3440"/>
                          </a:solidFill>
                          <a:latin typeface="Calibri" pitchFamily="34" charset="0"/>
                          <a:ea typeface="Calibri" pitchFamily="34" charset="-122"/>
                          <a:cs typeface="Calibri" pitchFamily="34" charset="-120"/>
                        </a:rPr>
                        <a:t>Pilot</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Two banners or segments, matched controls, 30 days.</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Two divisions, pre-registered adoption criteria, paid, 30–60 days.</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Bounded audience, MDE and kill criteria set in advance.</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566928">
                <a:tc>
                  <a:txBody>
                    <a:bodyPr/>
                    <a:lstStyle/>
                    <a:p>
                      <a:pPr indent="0" marL="0">
                        <a:buNone/>
                      </a:pPr>
                      <a:r>
                        <a:rPr lang="en-US" sz="1150" b="1" dirty="0">
                          <a:solidFill>
                            <a:srgbClr val="2B3440"/>
                          </a:solidFill>
                          <a:latin typeface="Calibri" pitchFamily="34" charset="0"/>
                          <a:ea typeface="Calibri" pitchFamily="34" charset="-122"/>
                          <a:cs typeface="Calibri" pitchFamily="34" charset="-120"/>
                        </a:rPr>
                        <a:t>Iterate</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Ring by ring with economics re-validated at each.</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Expand by region, re-validating adoption at each step.</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Iterate the variant or kill it. No third option.</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r h="566928">
                <a:tc>
                  <a:txBody>
                    <a:bodyPr/>
                    <a:lstStyle/>
                    <a:p>
                      <a:pPr indent="0" marL="0">
                        <a:buNone/>
                      </a:pPr>
                      <a:r>
                        <a:rPr lang="en-US" sz="1150" b="1" dirty="0">
                          <a:solidFill>
                            <a:srgbClr val="2B3440"/>
                          </a:solidFill>
                          <a:latin typeface="Calibri" pitchFamily="34" charset="0"/>
                          <a:ea typeface="Calibri" pitchFamily="34" charset="-122"/>
                          <a:cs typeface="Calibri" pitchFamily="34" charset="-120"/>
                        </a:rPr>
                        <a:t>Deploy</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Playbooks, standard work, war room sunsetted.</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Codified into the monthly business review.</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Winner becomes standard; result filed either way.</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F31"/>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0E1F31"/>
          </a:solidFill>
          <a:ln/>
        </p:spPr>
      </p:sp>
      <p:sp>
        <p:nvSpPr>
          <p:cNvPr id="3" name="Text 1"/>
          <p:cNvSpPr/>
          <p:nvPr/>
        </p:nvSpPr>
        <p:spPr>
          <a:xfrm>
            <a:off x="841248" y="384048"/>
            <a:ext cx="5486400" cy="256032"/>
          </a:xfrm>
          <a:prstGeom prst="rect">
            <a:avLst/>
          </a:prstGeom>
          <a:noFill/>
          <a:ln/>
        </p:spPr>
        <p:txBody>
          <a:bodyPr wrap="square" lIns="0" tIns="0" rIns="0" bIns="0" rtlCol="0" anchor="ctr"/>
          <a:lstStyle/>
          <a:p>
            <a:pPr indent="0" marL="0">
              <a:buNone/>
            </a:pPr>
            <a:r>
              <a:rPr lang="en-US" sz="1150" b="1" spc="360" kern="0" dirty="0">
                <a:solidFill>
                  <a:srgbClr val="D2A24C"/>
                </a:solidFill>
                <a:latin typeface="Calibri" pitchFamily="34" charset="0"/>
                <a:ea typeface="Calibri" pitchFamily="34" charset="-122"/>
                <a:cs typeface="Calibri" pitchFamily="34" charset="-120"/>
              </a:rPr>
              <a:t>EXERCISE 6</a:t>
            </a:r>
            <a:endParaRPr lang="en-US" sz="1150" dirty="0"/>
          </a:p>
        </p:txBody>
      </p:sp>
      <p:sp>
        <p:nvSpPr>
          <p:cNvPr id="4" name="Text 2"/>
          <p:cNvSpPr/>
          <p:nvPr/>
        </p:nvSpPr>
        <p:spPr>
          <a:xfrm>
            <a:off x="841248" y="731520"/>
            <a:ext cx="8131759" cy="80467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Route the Initiative</a:t>
            </a:r>
            <a:endParaRPr lang="en-US" sz="3200" dirty="0"/>
          </a:p>
        </p:txBody>
      </p:sp>
      <p:sp>
        <p:nvSpPr>
          <p:cNvPr id="5" name="Text 3"/>
          <p:cNvSpPr/>
          <p:nvPr/>
        </p:nvSpPr>
        <p:spPr>
          <a:xfrm>
            <a:off x="841248"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FORMAT</a:t>
            </a:r>
            <a:endParaRPr lang="en-US" sz="950" dirty="0"/>
          </a:p>
        </p:txBody>
      </p:sp>
      <p:sp>
        <p:nvSpPr>
          <p:cNvPr id="6" name="Text 4"/>
          <p:cNvSpPr/>
          <p:nvPr/>
        </p:nvSpPr>
        <p:spPr>
          <a:xfrm>
            <a:off x="841248"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Pairs, then rapid plenary</a:t>
            </a:r>
            <a:endParaRPr lang="en-US" sz="1300" dirty="0"/>
          </a:p>
        </p:txBody>
      </p:sp>
      <p:sp>
        <p:nvSpPr>
          <p:cNvPr id="7" name="Text 5"/>
          <p:cNvSpPr/>
          <p:nvPr/>
        </p:nvSpPr>
        <p:spPr>
          <a:xfrm>
            <a:off x="4420514"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TIME</a:t>
            </a:r>
            <a:endParaRPr lang="en-US" sz="950" dirty="0"/>
          </a:p>
        </p:txBody>
      </p:sp>
      <p:sp>
        <p:nvSpPr>
          <p:cNvPr id="8" name="Text 6"/>
          <p:cNvSpPr/>
          <p:nvPr/>
        </p:nvSpPr>
        <p:spPr>
          <a:xfrm>
            <a:off x="4420514"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50 minutes</a:t>
            </a:r>
            <a:endParaRPr lang="en-US" sz="1300" dirty="0"/>
          </a:p>
        </p:txBody>
      </p:sp>
      <p:sp>
        <p:nvSpPr>
          <p:cNvPr id="9" name="Text 7"/>
          <p:cNvSpPr/>
          <p:nvPr/>
        </p:nvSpPr>
        <p:spPr>
          <a:xfrm>
            <a:off x="7999781"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OUTPUT</a:t>
            </a:r>
            <a:endParaRPr lang="en-US" sz="950" dirty="0"/>
          </a:p>
        </p:txBody>
      </p:sp>
      <p:sp>
        <p:nvSpPr>
          <p:cNvPr id="10" name="Text 8"/>
          <p:cNvSpPr/>
          <p:nvPr/>
        </p:nvSpPr>
        <p:spPr>
          <a:xfrm>
            <a:off x="7999781"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Every live initiative phased, gated and owned</a:t>
            </a:r>
            <a:endParaRPr lang="en-US" sz="1300" dirty="0"/>
          </a:p>
        </p:txBody>
      </p:sp>
      <p:sp>
        <p:nvSpPr>
          <p:cNvPr id="11" name="Shape 9"/>
          <p:cNvSpPr/>
          <p:nvPr/>
        </p:nvSpPr>
        <p:spPr>
          <a:xfrm>
            <a:off x="841248" y="2414016"/>
            <a:ext cx="10509199" cy="18288"/>
          </a:xfrm>
          <a:prstGeom prst="rect">
            <a:avLst/>
          </a:prstGeom>
          <a:solidFill>
            <a:srgbClr val="2C4763"/>
          </a:solidFill>
          <a:ln/>
        </p:spPr>
      </p:sp>
      <p:sp>
        <p:nvSpPr>
          <p:cNvPr id="12" name="Text 10"/>
          <p:cNvSpPr/>
          <p:nvPr/>
        </p:nvSpPr>
        <p:spPr>
          <a:xfrm>
            <a:off x="841248" y="2615184"/>
            <a:ext cx="5120640" cy="219456"/>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THE BRIEF</a:t>
            </a:r>
            <a:endParaRPr lang="en-US" sz="950" dirty="0"/>
          </a:p>
        </p:txBody>
      </p:sp>
      <p:sp>
        <p:nvSpPr>
          <p:cNvPr id="13" name="Text 11"/>
          <p:cNvSpPr/>
          <p:nvPr/>
        </p:nvSpPr>
        <p:spPr>
          <a:xfrm>
            <a:off x="841248" y="2889504"/>
            <a:ext cx="6035040" cy="3310128"/>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Take the sorted cards from Exercise 2. Each pair takes three to four.</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For each: which phase is this initiative actually in? Not which phase we say it is in — which gate has it genuinely passed, with evidence?</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Write the gate criterion it must clear to advance, and the date it will be assessed.</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Write one name against it. One.</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Flag any initiative that has been in the same phase for more than two quarters.</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Plenary: read out only the flagged ones and the ones where the phase we claimed and the phase we are in differ.</a:t>
            </a:r>
            <a:endParaRPr lang="en-US" sz="1250" dirty="0"/>
          </a:p>
        </p:txBody>
      </p:sp>
      <p:sp>
        <p:nvSpPr>
          <p:cNvPr id="14" name="Shape 12"/>
          <p:cNvSpPr/>
          <p:nvPr/>
        </p:nvSpPr>
        <p:spPr>
          <a:xfrm>
            <a:off x="7287768" y="2578608"/>
            <a:ext cx="4336999" cy="3675888"/>
          </a:xfrm>
          <a:prstGeom prst="roundRect">
            <a:avLst>
              <a:gd name="adj" fmla="val 1493"/>
            </a:avLst>
          </a:prstGeom>
          <a:solidFill>
            <a:srgbClr val="16324C"/>
          </a:solidFill>
          <a:ln w="12700">
            <a:solidFill>
              <a:srgbClr val="2C4763"/>
            </a:solidFill>
            <a:prstDash val="solid"/>
          </a:ln>
        </p:spPr>
      </p:sp>
      <p:sp>
        <p:nvSpPr>
          <p:cNvPr id="15" name="Text 13"/>
          <p:cNvSpPr/>
          <p:nvPr/>
        </p:nvSpPr>
        <p:spPr>
          <a:xfrm>
            <a:off x="7516368" y="2779776"/>
            <a:ext cx="3834079" cy="219456"/>
          </a:xfrm>
          <a:prstGeom prst="rect">
            <a:avLst/>
          </a:prstGeom>
          <a:noFill/>
          <a:ln/>
        </p:spPr>
        <p:txBody>
          <a:bodyPr wrap="square" lIns="0" tIns="0" rIns="0" bIns="0" rtlCol="0" anchor="ctr"/>
          <a:lstStyle/>
          <a:p>
            <a:pPr indent="0" marL="0">
              <a:buNone/>
            </a:pPr>
            <a:r>
              <a:rPr lang="en-US" sz="950" b="1" spc="200" kern="0" dirty="0">
                <a:solidFill>
                  <a:srgbClr val="D2A24C"/>
                </a:solidFill>
                <a:latin typeface="Calibri" pitchFamily="34" charset="0"/>
                <a:ea typeface="Calibri" pitchFamily="34" charset="-122"/>
                <a:cs typeface="Calibri" pitchFamily="34" charset="-120"/>
              </a:rPr>
              <a:t>WHAT THIS ANCHORS</a:t>
            </a:r>
            <a:endParaRPr lang="en-US" sz="950" dirty="0"/>
          </a:p>
        </p:txBody>
      </p:sp>
      <p:sp>
        <p:nvSpPr>
          <p:cNvPr id="16" name="Text 14"/>
          <p:cNvSpPr/>
          <p:nvPr/>
        </p:nvSpPr>
        <p:spPr>
          <a:xfrm>
            <a:off x="7516368" y="3054096"/>
            <a:ext cx="3834079" cy="3054096"/>
          </a:xfrm>
          <a:prstGeom prst="rect">
            <a:avLst/>
          </a:prstGeom>
          <a:noFill/>
          <a:ln/>
        </p:spPr>
        <p:txBody>
          <a:bodyPr wrap="square" lIns="0" tIns="0" rIns="0" bIns="0" rtlCol="0" anchor="t"/>
          <a:lstStyle/>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Most businesses discover that a third of their portfolio is in Pilot on paper and has never had a pre-registered criterion — which means it is not in Pilot, it is in a launch that has not been declared.</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two-quarter flags are the zombie list. They consume budget, management attention and the belief that gates are real.</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Every initiative leaves this exercise with a phase, a criterion, a date and a name. That set is the input to Monday.</a:t>
            </a:r>
            <a:endParaRPr lang="en-US" sz="1250" dirty="0"/>
          </a:p>
        </p:txBody>
      </p:sp>
      <p:sp>
        <p:nvSpPr>
          <p:cNvPr id="17" name="Text 1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7304A"/>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17304A"/>
          </a:solidFill>
          <a:ln/>
        </p:spPr>
      </p:sp>
      <p:sp>
        <p:nvSpPr>
          <p:cNvPr id="3" name="Text 1"/>
          <p:cNvSpPr/>
          <p:nvPr/>
        </p:nvSpPr>
        <p:spPr>
          <a:xfrm>
            <a:off x="841248" y="1737360"/>
            <a:ext cx="2743200" cy="1463040"/>
          </a:xfrm>
          <a:prstGeom prst="rect">
            <a:avLst/>
          </a:prstGeom>
          <a:noFill/>
          <a:ln/>
        </p:spPr>
        <p:txBody>
          <a:bodyPr wrap="square" lIns="0" tIns="0" rIns="0" bIns="0" rtlCol="0" anchor="ctr"/>
          <a:lstStyle/>
          <a:p>
            <a:pPr indent="0" marL="0">
              <a:buNone/>
            </a:pPr>
            <a:r>
              <a:rPr lang="en-US" sz="9000" b="1" dirty="0">
                <a:solidFill>
                  <a:srgbClr val="3D6491"/>
                </a:solidFill>
                <a:latin typeface="Cambria" pitchFamily="34" charset="0"/>
                <a:ea typeface="Cambria" pitchFamily="34" charset="-122"/>
                <a:cs typeface="Cambria" pitchFamily="34" charset="-120"/>
              </a:rPr>
              <a:t>06</a:t>
            </a:r>
            <a:endParaRPr lang="en-US" sz="9000" dirty="0"/>
          </a:p>
        </p:txBody>
      </p:sp>
      <p:sp>
        <p:nvSpPr>
          <p:cNvPr id="4" name="Text 2"/>
          <p:cNvSpPr/>
          <p:nvPr/>
        </p:nvSpPr>
        <p:spPr>
          <a:xfrm>
            <a:off x="841248" y="3063240"/>
            <a:ext cx="9229039"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Experimentation and Gates</a:t>
            </a:r>
            <a:endParaRPr lang="en-US" sz="4000" dirty="0"/>
          </a:p>
        </p:txBody>
      </p:sp>
      <p:sp>
        <p:nvSpPr>
          <p:cNvPr id="5" name="Text 3"/>
          <p:cNvSpPr/>
          <p:nvPr/>
        </p:nvSpPr>
        <p:spPr>
          <a:xfrm>
            <a:off x="841248" y="4041648"/>
            <a:ext cx="8412480" cy="914400"/>
          </a:xfrm>
          <a:prstGeom prst="rect">
            <a:avLst/>
          </a:prstGeom>
          <a:noFill/>
          <a:ln/>
        </p:spPr>
        <p:txBody>
          <a:bodyPr wrap="square" lIns="0" tIns="0" rIns="0" bIns="0" rtlCol="0" anchor="ctr"/>
          <a:lstStyle/>
          <a:p>
            <a:pPr indent="0" marL="0">
              <a:lnSpc>
                <a:spcPts val="2200"/>
              </a:lnSpc>
              <a:buNone/>
            </a:pPr>
            <a:r>
              <a:rPr lang="en-US" sz="1600" dirty="0">
                <a:solidFill>
                  <a:srgbClr val="CFDCEA"/>
                </a:solidFill>
                <a:latin typeface="Calibri" pitchFamily="34" charset="0"/>
                <a:ea typeface="Calibri" pitchFamily="34" charset="-122"/>
                <a:cs typeface="Calibri" pitchFamily="34" charset="-120"/>
              </a:rPr>
              <a:t>The production line of the entire system. Everything else exists to feed it, fund it, or enforce its verdicts.</a:t>
            </a:r>
            <a:endParaRPr lang="en-US" sz="1600" dirty="0"/>
          </a:p>
        </p:txBody>
      </p:sp>
      <p:sp>
        <p:nvSpPr>
          <p:cNvPr id="6" name="Text 4"/>
          <p:cNvSpPr/>
          <p:nvPr/>
        </p:nvSpPr>
        <p:spPr>
          <a:xfrm>
            <a:off x="841248" y="5623560"/>
            <a:ext cx="8229600" cy="365760"/>
          </a:xfrm>
          <a:prstGeom prst="rect">
            <a:avLst/>
          </a:prstGeom>
          <a:noFill/>
          <a:ln/>
        </p:spPr>
        <p:txBody>
          <a:bodyPr wrap="square" lIns="0" tIns="0" rIns="0" bIns="0" rtlCol="0" anchor="ctr"/>
          <a:lstStyle/>
          <a:p>
            <a:pPr indent="0" marL="0">
              <a:buNone/>
            </a:pPr>
            <a:r>
              <a:rPr lang="en-US" sz="1200" b="1" spc="160" kern="0" dirty="0">
                <a:solidFill>
                  <a:srgbClr val="7FA3C9"/>
                </a:solidFill>
                <a:latin typeface="Calibri" pitchFamily="34" charset="0"/>
                <a:ea typeface="Calibri" pitchFamily="34" charset="-122"/>
                <a:cs typeface="Calibri" pitchFamily="34" charset="-120"/>
              </a:rPr>
              <a:t>TWO HOURS  ·  EXERCISES 7 AND 8</a:t>
            </a:r>
            <a:endParaRPr lang="en-US" sz="1200" dirty="0"/>
          </a:p>
        </p:txBody>
      </p:sp>
      <p:sp>
        <p:nvSpPr>
          <p:cNvPr id="7" name="Text 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THE STATISTIC THAT JUSTIFIES ALL OF IT</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Expert intuition is a coin flip weighted against you</a:t>
            </a:r>
            <a:endParaRPr lang="en-US" sz="3200" dirty="0"/>
          </a:p>
        </p:txBody>
      </p:sp>
      <p:sp>
        <p:nvSpPr>
          <p:cNvPr id="4" name="Text 2"/>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29</a:t>
            </a:r>
            <a:endParaRPr lang="en-US" sz="1000" dirty="0"/>
          </a:p>
        </p:txBody>
      </p:sp>
      <p:sp>
        <p:nvSpPr>
          <p:cNvPr id="5" name="Text 3"/>
          <p:cNvSpPr/>
          <p:nvPr/>
        </p:nvSpPr>
        <p:spPr>
          <a:xfrm>
            <a:off x="566928" y="2286000"/>
            <a:ext cx="3503066" cy="1143000"/>
          </a:xfrm>
          <a:prstGeom prst="rect">
            <a:avLst/>
          </a:prstGeom>
          <a:noFill/>
          <a:ln/>
        </p:spPr>
        <p:txBody>
          <a:bodyPr wrap="square" lIns="0" tIns="0" rIns="0" bIns="0" rtlCol="0" anchor="ctr"/>
          <a:lstStyle/>
          <a:p>
            <a:pPr algn="l" indent="0" marL="0">
              <a:buNone/>
            </a:pPr>
            <a:r>
              <a:rPr lang="en-US" sz="5400" b="1" dirty="0">
                <a:solidFill>
                  <a:srgbClr val="17304A"/>
                </a:solidFill>
                <a:latin typeface="Cambria" pitchFamily="34" charset="0"/>
                <a:ea typeface="Cambria" pitchFamily="34" charset="-122"/>
                <a:cs typeface="Cambria" pitchFamily="34" charset="-120"/>
              </a:rPr>
              <a:t>⅓</a:t>
            </a:r>
            <a:endParaRPr lang="en-US" sz="5400" dirty="0"/>
          </a:p>
        </p:txBody>
      </p:sp>
      <p:sp>
        <p:nvSpPr>
          <p:cNvPr id="6" name="Text 4"/>
          <p:cNvSpPr/>
          <p:nvPr/>
        </p:nvSpPr>
        <p:spPr>
          <a:xfrm>
            <a:off x="566928" y="3383280"/>
            <a:ext cx="3503066" cy="1371600"/>
          </a:xfrm>
          <a:prstGeom prst="rect">
            <a:avLst/>
          </a:prstGeom>
          <a:noFill/>
          <a:ln/>
        </p:spPr>
        <p:txBody>
          <a:bodyPr wrap="square" lIns="0" tIns="0" rIns="0" bIns="0" rtlCol="0" anchor="t"/>
          <a:lstStyle/>
          <a:p>
            <a:pPr indent="0" marL="0">
              <a:lnSpc>
                <a:spcPts val="1800"/>
              </a:lnSpc>
              <a:buNone/>
            </a:pPr>
            <a:r>
              <a:rPr lang="en-US" sz="1350" dirty="0">
                <a:solidFill>
                  <a:srgbClr val="333F4D"/>
                </a:solidFill>
                <a:latin typeface="Calibri" pitchFamily="34" charset="0"/>
                <a:ea typeface="Calibri" pitchFamily="34" charset="-122"/>
                <a:cs typeface="Calibri" pitchFamily="34" charset="-120"/>
              </a:rPr>
              <a:t>Share of ideas tested at Microsoft-scale experimentation programmes that improved the metric they were designed to improve.</a:t>
            </a:r>
            <a:endParaRPr lang="en-US" sz="1350" dirty="0"/>
          </a:p>
          <a:p>
            <a:pPr indent="0" marL="0">
              <a:lnSpc>
                <a:spcPts val="1800"/>
              </a:lnSpc>
              <a:buNone/>
            </a:pPr>
            <a:endParaRPr lang="en-US" sz="1350" dirty="0"/>
          </a:p>
          <a:p>
            <a:pPr indent="0" marL="0">
              <a:lnSpc>
                <a:spcPts val="1800"/>
              </a:lnSpc>
              <a:buNone/>
            </a:pPr>
            <a:r>
              <a:rPr lang="en-US" sz="1350" dirty="0">
                <a:solidFill>
                  <a:srgbClr val="333F4D"/>
                </a:solidFill>
                <a:latin typeface="Calibri" pitchFamily="34" charset="0"/>
                <a:ea typeface="Calibri" pitchFamily="34" charset="-122"/>
                <a:cs typeface="Calibri" pitchFamily="34" charset="-120"/>
              </a:rPr>
              <a:t>A third did nothing. A third actively harmed it.</a:t>
            </a:r>
            <a:endParaRPr lang="en-US" sz="1350" dirty="0"/>
          </a:p>
        </p:txBody>
      </p:sp>
      <p:sp>
        <p:nvSpPr>
          <p:cNvPr id="7" name="Text 5"/>
          <p:cNvSpPr/>
          <p:nvPr/>
        </p:nvSpPr>
        <p:spPr>
          <a:xfrm>
            <a:off x="4344314" y="2286000"/>
            <a:ext cx="3503066" cy="1143000"/>
          </a:xfrm>
          <a:prstGeom prst="rect">
            <a:avLst/>
          </a:prstGeom>
          <a:noFill/>
          <a:ln/>
        </p:spPr>
        <p:txBody>
          <a:bodyPr wrap="square" lIns="0" tIns="0" rIns="0" bIns="0" rtlCol="0" anchor="ctr"/>
          <a:lstStyle/>
          <a:p>
            <a:pPr algn="l" indent="0" marL="0">
              <a:buNone/>
            </a:pPr>
            <a:r>
              <a:rPr lang="en-US" sz="5400" b="1" dirty="0">
                <a:solidFill>
                  <a:srgbClr val="2E5A8C"/>
                </a:solidFill>
                <a:latin typeface="Cambria" pitchFamily="34" charset="0"/>
                <a:ea typeface="Cambria" pitchFamily="34" charset="-122"/>
                <a:cs typeface="Cambria" pitchFamily="34" charset="-120"/>
              </a:rPr>
              <a:t>10%</a:t>
            </a:r>
            <a:endParaRPr lang="en-US" sz="5400" dirty="0"/>
          </a:p>
        </p:txBody>
      </p:sp>
      <p:sp>
        <p:nvSpPr>
          <p:cNvPr id="8" name="Text 6"/>
          <p:cNvSpPr/>
          <p:nvPr/>
        </p:nvSpPr>
        <p:spPr>
          <a:xfrm>
            <a:off x="4344314" y="3383280"/>
            <a:ext cx="3503066" cy="1371600"/>
          </a:xfrm>
          <a:prstGeom prst="rect">
            <a:avLst/>
          </a:prstGeom>
          <a:noFill/>
          <a:ln/>
        </p:spPr>
        <p:txBody>
          <a:bodyPr wrap="square" lIns="0" tIns="0" rIns="0" bIns="0" rtlCol="0" anchor="t"/>
          <a:lstStyle/>
          <a:p>
            <a:pPr indent="0" marL="0">
              <a:lnSpc>
                <a:spcPts val="1800"/>
              </a:lnSpc>
              <a:buNone/>
            </a:pPr>
            <a:r>
              <a:rPr lang="en-US" sz="1350" dirty="0">
                <a:solidFill>
                  <a:srgbClr val="333F4D"/>
                </a:solidFill>
                <a:latin typeface="Calibri" pitchFamily="34" charset="0"/>
                <a:ea typeface="Calibri" pitchFamily="34" charset="-122"/>
                <a:cs typeface="Calibri" pitchFamily="34" charset="-120"/>
              </a:rPr>
              <a:t>Share of roughly 12,000 Google experiments in a single year that led to an actual business change.</a:t>
            </a:r>
            <a:endParaRPr lang="en-US" sz="1350" dirty="0"/>
          </a:p>
        </p:txBody>
      </p:sp>
      <p:sp>
        <p:nvSpPr>
          <p:cNvPr id="9" name="Text 7"/>
          <p:cNvSpPr/>
          <p:nvPr/>
        </p:nvSpPr>
        <p:spPr>
          <a:xfrm>
            <a:off x="8121701" y="2286000"/>
            <a:ext cx="3503066" cy="1143000"/>
          </a:xfrm>
          <a:prstGeom prst="rect">
            <a:avLst/>
          </a:prstGeom>
          <a:noFill/>
          <a:ln/>
        </p:spPr>
        <p:txBody>
          <a:bodyPr wrap="square" lIns="0" tIns="0" rIns="0" bIns="0" rtlCol="0" anchor="ctr"/>
          <a:lstStyle/>
          <a:p>
            <a:pPr algn="l" indent="0" marL="0">
              <a:buNone/>
            </a:pPr>
            <a:r>
              <a:rPr lang="en-US" sz="5400" b="1" dirty="0">
                <a:solidFill>
                  <a:srgbClr val="8C2B2B"/>
                </a:solidFill>
                <a:latin typeface="Cambria" pitchFamily="34" charset="0"/>
                <a:ea typeface="Cambria" pitchFamily="34" charset="-122"/>
                <a:cs typeface="Cambria" pitchFamily="34" charset="-120"/>
              </a:rPr>
              <a:t>90%</a:t>
            </a:r>
            <a:endParaRPr lang="en-US" sz="5400" dirty="0"/>
          </a:p>
        </p:txBody>
      </p:sp>
      <p:sp>
        <p:nvSpPr>
          <p:cNvPr id="10" name="Text 8"/>
          <p:cNvSpPr/>
          <p:nvPr/>
        </p:nvSpPr>
        <p:spPr>
          <a:xfrm>
            <a:off x="8121701" y="3383280"/>
            <a:ext cx="3503066" cy="1371600"/>
          </a:xfrm>
          <a:prstGeom prst="rect">
            <a:avLst/>
          </a:prstGeom>
          <a:noFill/>
          <a:ln/>
        </p:spPr>
        <p:txBody>
          <a:bodyPr wrap="square" lIns="0" tIns="0" rIns="0" bIns="0" rtlCol="0" anchor="t"/>
          <a:lstStyle/>
          <a:p>
            <a:pPr indent="0" marL="0">
              <a:lnSpc>
                <a:spcPts val="1800"/>
              </a:lnSpc>
              <a:buNone/>
            </a:pPr>
            <a:r>
              <a:rPr lang="en-US" sz="1350" dirty="0">
                <a:solidFill>
                  <a:srgbClr val="333F4D"/>
                </a:solidFill>
                <a:latin typeface="Calibri" pitchFamily="34" charset="0"/>
                <a:ea typeface="Calibri" pitchFamily="34" charset="-122"/>
                <a:cs typeface="Calibri" pitchFamily="34" charset="-120"/>
              </a:rPr>
              <a:t>What Netflix assumes is wrong about everything it tries. That is a standing operating assumption, not a bad year.</a:t>
            </a:r>
            <a:endParaRPr lang="en-US" sz="1350" dirty="0"/>
          </a:p>
        </p:txBody>
      </p:sp>
      <p:sp>
        <p:nvSpPr>
          <p:cNvPr id="11" name="Text 9"/>
          <p:cNvSpPr/>
          <p:nvPr/>
        </p:nvSpPr>
        <p:spPr>
          <a:xfrm>
            <a:off x="566928" y="5486400"/>
            <a:ext cx="11057839" cy="777240"/>
          </a:xfrm>
          <a:prstGeom prst="rect">
            <a:avLst/>
          </a:prstGeom>
          <a:noFill/>
          <a:ln/>
        </p:spPr>
        <p:txBody>
          <a:bodyPr wrap="square" lIns="0" tIns="0" rIns="0" bIns="0" rtlCol="0" anchor="ctr"/>
          <a:lstStyle/>
          <a:p>
            <a:pPr indent="0" marL="0">
              <a:lnSpc>
                <a:spcPts val="1800"/>
              </a:lnSpc>
              <a:buNone/>
            </a:pPr>
            <a:r>
              <a:rPr lang="en-US" sz="1350" i="1" dirty="0">
                <a:solidFill>
                  <a:srgbClr val="17304A"/>
                </a:solidFill>
                <a:latin typeface="Calibri" pitchFamily="34" charset="0"/>
                <a:ea typeface="Calibri" pitchFamily="34" charset="-122"/>
                <a:cs typeface="Calibri" pitchFamily="34" charset="-120"/>
              </a:rPr>
              <a:t>Read those together. Yours, mine, the CMO’s, the board’s — intuition performs at or below chance. Testing velocity is not a growth tactic. It is the only honest epistemology available to an operator.</a:t>
            </a:r>
            <a:endParaRPr lang="en-US" sz="13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THE MECHANISM</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Pre-registration is the whole trick</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An un-pre-registered test produces the same failure rate as a pre-registered one — but converts its failures into anecdotes, which then get scaled.</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30</a:t>
            </a:r>
            <a:endParaRPr lang="en-US" sz="1000" dirty="0"/>
          </a:p>
        </p:txBody>
      </p:sp>
      <p:sp>
        <p:nvSpPr>
          <p:cNvPr id="6" name="Shape 4"/>
          <p:cNvSpPr/>
          <p:nvPr/>
        </p:nvSpPr>
        <p:spPr>
          <a:xfrm>
            <a:off x="566928" y="2148840"/>
            <a:ext cx="5400904" cy="3520440"/>
          </a:xfrm>
          <a:prstGeom prst="roundRect">
            <a:avLst>
              <a:gd name="adj" fmla="val 1558"/>
            </a:avLst>
          </a:prstGeom>
          <a:solidFill>
            <a:srgbClr val="EDF1F7"/>
          </a:solidFill>
          <a:ln w="12700">
            <a:solidFill>
              <a:srgbClr val="D6DEE8"/>
            </a:solidFill>
            <a:prstDash val="solid"/>
          </a:ln>
        </p:spPr>
      </p:sp>
      <p:sp>
        <p:nvSpPr>
          <p:cNvPr id="7" name="Text 5"/>
          <p:cNvSpPr/>
          <p:nvPr/>
        </p:nvSpPr>
        <p:spPr>
          <a:xfrm>
            <a:off x="804672" y="2368296"/>
            <a:ext cx="4943704" cy="219456"/>
          </a:xfrm>
          <a:prstGeom prst="rect">
            <a:avLst/>
          </a:prstGeom>
          <a:noFill/>
          <a:ln/>
        </p:spPr>
        <p:txBody>
          <a:bodyPr wrap="square" lIns="0" tIns="0" rIns="0" bIns="0" rtlCol="0" anchor="ctr"/>
          <a:lstStyle/>
          <a:p>
            <a:pPr indent="0" marL="0">
              <a:buNone/>
            </a:pPr>
            <a:r>
              <a:rPr lang="en-US" sz="950" b="1" spc="200" kern="0" dirty="0">
                <a:solidFill>
                  <a:srgbClr val="2E5A8C"/>
                </a:solidFill>
                <a:latin typeface="Calibri" pitchFamily="34" charset="0"/>
                <a:ea typeface="Calibri" pitchFamily="34" charset="-122"/>
                <a:cs typeface="Calibri" pitchFamily="34" charset="-120"/>
              </a:rPr>
              <a:t>WRITTEN AND SIGNED BEFORE LAUNCH</a:t>
            </a:r>
            <a:endParaRPr lang="en-US" sz="950" dirty="0"/>
          </a:p>
        </p:txBody>
      </p:sp>
      <p:sp>
        <p:nvSpPr>
          <p:cNvPr id="8" name="Text 6"/>
          <p:cNvSpPr/>
          <p:nvPr/>
        </p:nvSpPr>
        <p:spPr>
          <a:xfrm>
            <a:off x="804672" y="2624328"/>
            <a:ext cx="4943704" cy="566928"/>
          </a:xfrm>
          <a:prstGeom prst="rect">
            <a:avLst/>
          </a:prstGeom>
          <a:noFill/>
          <a:ln/>
        </p:spPr>
        <p:txBody>
          <a:bodyPr wrap="square" lIns="0" tIns="0" rIns="0" bIns="0" rtlCol="0" anchor="t"/>
          <a:lstStyle/>
          <a:p>
            <a:pPr indent="0" marL="0">
              <a:buNone/>
            </a:pPr>
            <a:r>
              <a:rPr lang="en-US" sz="1600" b="1" dirty="0">
                <a:solidFill>
                  <a:srgbClr val="17304A"/>
                </a:solidFill>
                <a:latin typeface="Calibri" pitchFamily="34" charset="0"/>
                <a:ea typeface="Calibri" pitchFamily="34" charset="-122"/>
                <a:cs typeface="Calibri" pitchFamily="34" charset="-120"/>
              </a:rPr>
              <a:t>What a pre-registration contains</a:t>
            </a:r>
            <a:endParaRPr lang="en-US" sz="1600" dirty="0"/>
          </a:p>
        </p:txBody>
      </p:sp>
      <p:sp>
        <p:nvSpPr>
          <p:cNvPr id="9" name="Text 7"/>
          <p:cNvSpPr/>
          <p:nvPr/>
        </p:nvSpPr>
        <p:spPr>
          <a:xfrm>
            <a:off x="804672" y="3227832"/>
            <a:ext cx="4943704" cy="2221992"/>
          </a:xfrm>
          <a:prstGeom prst="rect">
            <a:avLst/>
          </a:prstGeom>
          <a:noFill/>
          <a:ln/>
        </p:spPr>
        <p:txBody>
          <a:bodyPr wrap="square" lIns="0" tIns="0" rIns="0" bIns="0" rtlCol="0" anchor="t"/>
          <a:lstStyle/>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A falsifiable hypothesis in "if–then–because" form.</a:t>
            </a:r>
            <a:endParaRPr lang="en-US" sz="1250" dirty="0"/>
          </a:p>
          <a:p>
            <a:pPr indent="0" marL="0">
              <a:lnSpc>
                <a:spcPts val="1600"/>
              </a:lnSpc>
              <a:buNone/>
            </a:pPr>
            <a:endParaRPr lang="en-US" sz="1250" dirty="0"/>
          </a:p>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Exactly one target metric, named on the driver tree.</a:t>
            </a:r>
            <a:endParaRPr lang="en-US" sz="1250" dirty="0"/>
          </a:p>
          <a:p>
            <a:pPr indent="0" marL="0">
              <a:lnSpc>
                <a:spcPts val="1600"/>
              </a:lnSpc>
              <a:buNone/>
            </a:pPr>
            <a:endParaRPr lang="en-US" sz="1250" dirty="0"/>
          </a:p>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Minimum detectable effect, stated as a number.</a:t>
            </a:r>
            <a:endParaRPr lang="en-US" sz="1250" dirty="0"/>
          </a:p>
          <a:p>
            <a:pPr indent="0" marL="0">
              <a:lnSpc>
                <a:spcPts val="1600"/>
              </a:lnSpc>
              <a:buNone/>
            </a:pPr>
            <a:endParaRPr lang="en-US" sz="1250" dirty="0"/>
          </a:p>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Sample size and run time computed from the MDE.</a:t>
            </a:r>
            <a:endParaRPr lang="en-US" sz="1250" dirty="0"/>
          </a:p>
          <a:p>
            <a:pPr indent="0" marL="0">
              <a:lnSpc>
                <a:spcPts val="1600"/>
              </a:lnSpc>
              <a:buNone/>
            </a:pPr>
            <a:endParaRPr lang="en-US" sz="1250" dirty="0"/>
          </a:p>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Randomisation unit, with a sample-ratio-mismatch check scheduled.</a:t>
            </a:r>
            <a:endParaRPr lang="en-US" sz="1250" dirty="0"/>
          </a:p>
          <a:p>
            <a:pPr indent="0" marL="0">
              <a:lnSpc>
                <a:spcPts val="1600"/>
              </a:lnSpc>
              <a:buNone/>
            </a:pPr>
            <a:endParaRPr lang="en-US" sz="1250" dirty="0"/>
          </a:p>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Guardrails on trust, margin and returns.</a:t>
            </a:r>
            <a:endParaRPr lang="en-US" sz="1250" dirty="0"/>
          </a:p>
          <a:p>
            <a:pPr indent="0" marL="0">
              <a:lnSpc>
                <a:spcPts val="1600"/>
              </a:lnSpc>
              <a:buNone/>
            </a:pPr>
            <a:endParaRPr lang="en-US" sz="1250" dirty="0"/>
          </a:p>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Kill criteria, and the decision each outcome triggers.</a:t>
            </a:r>
            <a:endParaRPr lang="en-US" sz="1250" dirty="0"/>
          </a:p>
          <a:p>
            <a:pPr indent="0" marL="0">
              <a:lnSpc>
                <a:spcPts val="1600"/>
              </a:lnSpc>
              <a:buNone/>
            </a:pPr>
            <a:endParaRPr lang="en-US" sz="1250" dirty="0"/>
          </a:p>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Two signatures: owner and forum chair.</a:t>
            </a:r>
            <a:endParaRPr lang="en-US" sz="1250" dirty="0"/>
          </a:p>
        </p:txBody>
      </p:sp>
      <p:sp>
        <p:nvSpPr>
          <p:cNvPr id="10" name="Shape 8"/>
          <p:cNvSpPr/>
          <p:nvPr/>
        </p:nvSpPr>
        <p:spPr>
          <a:xfrm>
            <a:off x="6223864" y="2148840"/>
            <a:ext cx="5400904" cy="3520440"/>
          </a:xfrm>
          <a:prstGeom prst="roundRect">
            <a:avLst>
              <a:gd name="adj" fmla="val 1558"/>
            </a:avLst>
          </a:prstGeom>
          <a:solidFill>
            <a:srgbClr val="17304A"/>
          </a:solidFill>
          <a:ln w="12700">
            <a:solidFill>
              <a:srgbClr val="17304A"/>
            </a:solidFill>
            <a:prstDash val="solid"/>
          </a:ln>
        </p:spPr>
      </p:sp>
      <p:sp>
        <p:nvSpPr>
          <p:cNvPr id="11" name="Text 9"/>
          <p:cNvSpPr/>
          <p:nvPr/>
        </p:nvSpPr>
        <p:spPr>
          <a:xfrm>
            <a:off x="6461608" y="2368296"/>
            <a:ext cx="4943704" cy="219456"/>
          </a:xfrm>
          <a:prstGeom prst="rect">
            <a:avLst/>
          </a:prstGeom>
          <a:noFill/>
          <a:ln/>
        </p:spPr>
        <p:txBody>
          <a:bodyPr wrap="square" lIns="0" tIns="0" rIns="0" bIns="0" rtlCol="0" anchor="ctr"/>
          <a:lstStyle/>
          <a:p>
            <a:pPr indent="0" marL="0">
              <a:buNone/>
            </a:pPr>
            <a:r>
              <a:rPr lang="en-US" sz="950" b="1" spc="200" kern="0" dirty="0">
                <a:solidFill>
                  <a:srgbClr val="8FB2D6"/>
                </a:solidFill>
                <a:latin typeface="Calibri" pitchFamily="34" charset="0"/>
                <a:ea typeface="Calibri" pitchFamily="34" charset="-122"/>
                <a:cs typeface="Calibri" pitchFamily="34" charset="-120"/>
              </a:rPr>
              <a:t>WHY IT IS NON-NEGOTIABLE</a:t>
            </a:r>
            <a:endParaRPr lang="en-US" sz="950" dirty="0"/>
          </a:p>
        </p:txBody>
      </p:sp>
      <p:sp>
        <p:nvSpPr>
          <p:cNvPr id="12" name="Text 10"/>
          <p:cNvSpPr/>
          <p:nvPr/>
        </p:nvSpPr>
        <p:spPr>
          <a:xfrm>
            <a:off x="6461608" y="2624328"/>
            <a:ext cx="4943704" cy="566928"/>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What it prevents</a:t>
            </a:r>
            <a:endParaRPr lang="en-US" sz="1600" dirty="0"/>
          </a:p>
        </p:txBody>
      </p:sp>
      <p:sp>
        <p:nvSpPr>
          <p:cNvPr id="13" name="Text 11"/>
          <p:cNvSpPr/>
          <p:nvPr/>
        </p:nvSpPr>
        <p:spPr>
          <a:xfrm>
            <a:off x="6461608" y="3227832"/>
            <a:ext cx="4943704" cy="2221992"/>
          </a:xfrm>
          <a:prstGeom prst="rect">
            <a:avLst/>
          </a:prstGeom>
          <a:noFill/>
          <a:ln/>
        </p:spPr>
        <p:txBody>
          <a:bodyPr wrap="square" lIns="0" tIns="0" rIns="0" bIns="0" rtlCol="0" anchor="t"/>
          <a:lstStyle/>
          <a:p>
            <a:pPr indent="0" marL="0">
              <a:lnSpc>
                <a:spcPts val="1600"/>
              </a:lnSpc>
              <a:buNone/>
            </a:pPr>
            <a:r>
              <a:rPr lang="en-US" sz="1250" dirty="0">
                <a:solidFill>
                  <a:srgbClr val="CFDCEA"/>
                </a:solidFill>
                <a:latin typeface="Calibri" pitchFamily="34" charset="0"/>
                <a:ea typeface="Calibri" pitchFamily="34" charset="-122"/>
                <a:cs typeface="Calibri" pitchFamily="34" charset="-120"/>
              </a:rPr>
              <a:t>Criteria drift — the pilot misses its bar and the room renegotiates the definition of success after the fact.</a:t>
            </a:r>
            <a:endParaRPr lang="en-US" sz="1250" dirty="0"/>
          </a:p>
          <a:p>
            <a:pPr indent="0" marL="0">
              <a:lnSpc>
                <a:spcPts val="1600"/>
              </a:lnSpc>
              <a:buNone/>
            </a:pPr>
            <a:endParaRPr lang="en-US" sz="1250" dirty="0"/>
          </a:p>
          <a:p>
            <a:pPr indent="0" marL="0">
              <a:lnSpc>
                <a:spcPts val="1600"/>
              </a:lnSpc>
              <a:buNone/>
            </a:pPr>
            <a:r>
              <a:rPr lang="en-US" sz="1250" dirty="0">
                <a:solidFill>
                  <a:srgbClr val="CFDCEA"/>
                </a:solidFill>
                <a:latin typeface="Calibri" pitchFamily="34" charset="0"/>
                <a:ea typeface="Calibri" pitchFamily="34" charset="-122"/>
                <a:cs typeface="Calibri" pitchFamily="34" charset="-120"/>
              </a:rPr>
              <a:t>Metric shopping — four metrics moved, we report the one that moved up.</a:t>
            </a:r>
            <a:endParaRPr lang="en-US" sz="1250" dirty="0"/>
          </a:p>
          <a:p>
            <a:pPr indent="0" marL="0">
              <a:lnSpc>
                <a:spcPts val="1600"/>
              </a:lnSpc>
              <a:buNone/>
            </a:pPr>
            <a:endParaRPr lang="en-US" sz="1250" dirty="0"/>
          </a:p>
          <a:p>
            <a:pPr indent="0" marL="0">
              <a:lnSpc>
                <a:spcPts val="1600"/>
              </a:lnSpc>
              <a:buNone/>
            </a:pPr>
            <a:r>
              <a:rPr lang="en-US" sz="1250" dirty="0">
                <a:solidFill>
                  <a:srgbClr val="CFDCEA"/>
                </a:solidFill>
                <a:latin typeface="Calibri" pitchFamily="34" charset="0"/>
                <a:ea typeface="Calibri" pitchFamily="34" charset="-122"/>
                <a:cs typeface="Calibri" pitchFamily="34" charset="-120"/>
              </a:rPr>
              <a:t>Peeking — stopping early on noise and calling it significance.</a:t>
            </a:r>
            <a:endParaRPr lang="en-US" sz="1250" dirty="0"/>
          </a:p>
          <a:p>
            <a:pPr indent="0" marL="0">
              <a:lnSpc>
                <a:spcPts val="1600"/>
              </a:lnSpc>
              <a:buNone/>
            </a:pPr>
            <a:endParaRPr lang="en-US" sz="1250" dirty="0"/>
          </a:p>
          <a:p>
            <a:pPr indent="0" marL="0">
              <a:lnSpc>
                <a:spcPts val="1600"/>
              </a:lnSpc>
              <a:buNone/>
            </a:pPr>
            <a:r>
              <a:rPr lang="en-US" sz="1250" dirty="0">
                <a:solidFill>
                  <a:srgbClr val="CFDCEA"/>
                </a:solidFill>
                <a:latin typeface="Calibri" pitchFamily="34" charset="0"/>
                <a:ea typeface="Calibri" pitchFamily="34" charset="-122"/>
                <a:cs typeface="Calibri" pitchFamily="34" charset="-120"/>
              </a:rPr>
              <a:t>The zombie — "keep watching," which is not a verdict but is how a failing test consumes budget indefinitely.</a:t>
            </a:r>
            <a:endParaRPr lang="en-US" sz="1250" dirty="0"/>
          </a:p>
          <a:p>
            <a:pPr indent="0" marL="0">
              <a:lnSpc>
                <a:spcPts val="1600"/>
              </a:lnSpc>
              <a:buNone/>
            </a:pPr>
            <a:endParaRPr lang="en-US" sz="1250" dirty="0"/>
          </a:p>
          <a:p>
            <a:pPr indent="0" marL="0">
              <a:lnSpc>
                <a:spcPts val="1600"/>
              </a:lnSpc>
              <a:buNone/>
            </a:pPr>
            <a:r>
              <a:rPr lang="en-US" sz="1250" dirty="0">
                <a:solidFill>
                  <a:srgbClr val="CFDCEA"/>
                </a:solidFill>
                <a:latin typeface="Calibri" pitchFamily="34" charset="0"/>
                <a:ea typeface="Calibri" pitchFamily="34" charset="-122"/>
                <a:cs typeface="Calibri" pitchFamily="34" charset="-120"/>
              </a:rPr>
              <a:t>And most expensively: the story. A result without a criterion is not an analysis. It is a narrative waiting to be written by whoever speaks first.</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THE GATE SCRIPT</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Six moves, in this order, every time</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The script exists so that gate discipline does not depend on the seniority, energy or mood of whoever is chairing.</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31</a:t>
            </a:r>
            <a:endParaRPr lang="en-US" sz="1000" dirty="0"/>
          </a:p>
        </p:txBody>
      </p:sp>
      <p:sp>
        <p:nvSpPr>
          <p:cNvPr id="6" name="Shape 4"/>
          <p:cNvSpPr/>
          <p:nvPr/>
        </p:nvSpPr>
        <p:spPr>
          <a:xfrm>
            <a:off x="585216" y="2185416"/>
            <a:ext cx="384048" cy="384048"/>
          </a:xfrm>
          <a:prstGeom prst="ellipse">
            <a:avLst/>
          </a:prstGeom>
          <a:solidFill>
            <a:srgbClr val="17304A"/>
          </a:solidFill>
          <a:ln/>
        </p:spPr>
      </p:sp>
      <p:sp>
        <p:nvSpPr>
          <p:cNvPr id="7" name="Text 5"/>
          <p:cNvSpPr/>
          <p:nvPr/>
        </p:nvSpPr>
        <p:spPr>
          <a:xfrm>
            <a:off x="585216" y="2185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33856" y="2148840"/>
            <a:ext cx="10417759" cy="579120"/>
          </a:xfrm>
          <a:prstGeom prst="rect">
            <a:avLst/>
          </a:prstGeom>
          <a:noFill/>
          <a:ln/>
        </p:spPr>
        <p:txBody>
          <a:bodyPr wrap="square" lIns="0" tIns="0" rIns="0" bIns="0" rtlCol="0" anchor="t"/>
          <a:lstStyle/>
          <a:p>
            <a:pPr indent="0" marL="0">
              <a:lnSpc>
                <a:spcPts val="1800"/>
              </a:lnSpc>
              <a:buNone/>
            </a:pPr>
            <a:r>
              <a:rPr lang="en-US" sz="1450" b="1" dirty="0">
                <a:solidFill>
                  <a:srgbClr val="17304A"/>
                </a:solidFill>
                <a:latin typeface="Calibri" pitchFamily="34" charset="0"/>
                <a:ea typeface="Calibri" pitchFamily="34" charset="-122"/>
                <a:cs typeface="Calibri" pitchFamily="34" charset="-120"/>
              </a:rPr>
              <a:t>Read the criterion aloud</a:t>
            </a:r>
            <a:pPr indent="0" marL="0">
              <a:lnSpc>
                <a:spcPts val="1800"/>
              </a:lnSpc>
              <a:buNone/>
            </a:pPr>
            <a:r>
              <a:rPr lang="en-US" sz="1250" dirty="0">
                <a:solidFill>
                  <a:srgbClr val="333F4D"/>
                </a:solidFill>
                <a:latin typeface="Calibri" pitchFamily="34" charset="0"/>
                <a:ea typeface="Calibri" pitchFamily="34" charset="-122"/>
                <a:cs typeface="Calibri" pitchFamily="34" charset="-120"/>
              </a:rPr>
              <a:t>   — from the signed document, with its date. Not from memory. Reading it aloud removes the option of a quiet redefinition.</a:t>
            </a:r>
            <a:endParaRPr lang="en-US" sz="1450" dirty="0"/>
          </a:p>
        </p:txBody>
      </p:sp>
      <p:sp>
        <p:nvSpPr>
          <p:cNvPr id="9" name="Shape 7"/>
          <p:cNvSpPr/>
          <p:nvPr/>
        </p:nvSpPr>
        <p:spPr>
          <a:xfrm>
            <a:off x="585216" y="2874264"/>
            <a:ext cx="384048" cy="384048"/>
          </a:xfrm>
          <a:prstGeom prst="ellipse">
            <a:avLst/>
          </a:prstGeom>
          <a:solidFill>
            <a:srgbClr val="2E5A8C"/>
          </a:solidFill>
          <a:ln/>
        </p:spPr>
      </p:sp>
      <p:sp>
        <p:nvSpPr>
          <p:cNvPr id="10" name="Text 8"/>
          <p:cNvSpPr/>
          <p:nvPr/>
        </p:nvSpPr>
        <p:spPr>
          <a:xfrm>
            <a:off x="585216" y="28742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33856" y="2837688"/>
            <a:ext cx="10417759" cy="579120"/>
          </a:xfrm>
          <a:prstGeom prst="rect">
            <a:avLst/>
          </a:prstGeom>
          <a:noFill/>
          <a:ln/>
        </p:spPr>
        <p:txBody>
          <a:bodyPr wrap="square" lIns="0" tIns="0" rIns="0" bIns="0" rtlCol="0" anchor="t"/>
          <a:lstStyle/>
          <a:p>
            <a:pPr indent="0" marL="0">
              <a:lnSpc>
                <a:spcPts val="1800"/>
              </a:lnSpc>
              <a:buNone/>
            </a:pPr>
            <a:r>
              <a:rPr lang="en-US" sz="1450" b="1" dirty="0">
                <a:solidFill>
                  <a:srgbClr val="17304A"/>
                </a:solidFill>
                <a:latin typeface="Calibri" pitchFamily="34" charset="0"/>
                <a:ea typeface="Calibri" pitchFamily="34" charset="-122"/>
                <a:cs typeface="Calibri" pitchFamily="34" charset="-120"/>
              </a:rPr>
              <a:t>State the result</a:t>
            </a:r>
            <a:pPr indent="0" marL="0">
              <a:lnSpc>
                <a:spcPts val="1800"/>
              </a:lnSpc>
              <a:buNone/>
            </a:pPr>
            <a:r>
              <a:rPr lang="en-US" sz="1250" dirty="0">
                <a:solidFill>
                  <a:srgbClr val="333F4D"/>
                </a:solidFill>
                <a:latin typeface="Calibri" pitchFamily="34" charset="0"/>
                <a:ea typeface="Calibri" pitchFamily="34" charset="-122"/>
                <a:cs typeface="Calibri" pitchFamily="34" charset="-120"/>
              </a:rPr>
              <a:t>   — the measured number against the required number. Result before interpretation. Numbers first, always.</a:t>
            </a:r>
            <a:endParaRPr lang="en-US" sz="1450" dirty="0"/>
          </a:p>
        </p:txBody>
      </p:sp>
      <p:sp>
        <p:nvSpPr>
          <p:cNvPr id="12" name="Shape 10"/>
          <p:cNvSpPr/>
          <p:nvPr/>
        </p:nvSpPr>
        <p:spPr>
          <a:xfrm>
            <a:off x="585216" y="3563112"/>
            <a:ext cx="384048" cy="384048"/>
          </a:xfrm>
          <a:prstGeom prst="ellipse">
            <a:avLst/>
          </a:prstGeom>
          <a:solidFill>
            <a:srgbClr val="17304A"/>
          </a:solidFill>
          <a:ln/>
        </p:spPr>
      </p:sp>
      <p:sp>
        <p:nvSpPr>
          <p:cNvPr id="13" name="Text 11"/>
          <p:cNvSpPr/>
          <p:nvPr/>
        </p:nvSpPr>
        <p:spPr>
          <a:xfrm>
            <a:off x="585216" y="356311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33856" y="3526536"/>
            <a:ext cx="10417759" cy="579120"/>
          </a:xfrm>
          <a:prstGeom prst="rect">
            <a:avLst/>
          </a:prstGeom>
          <a:noFill/>
          <a:ln/>
        </p:spPr>
        <p:txBody>
          <a:bodyPr wrap="square" lIns="0" tIns="0" rIns="0" bIns="0" rtlCol="0" anchor="t"/>
          <a:lstStyle/>
          <a:p>
            <a:pPr indent="0" marL="0">
              <a:lnSpc>
                <a:spcPts val="1800"/>
              </a:lnSpc>
              <a:buNone/>
            </a:pPr>
            <a:r>
              <a:rPr lang="en-US" sz="1450" b="1" dirty="0">
                <a:solidFill>
                  <a:srgbClr val="17304A"/>
                </a:solidFill>
                <a:latin typeface="Calibri" pitchFamily="34" charset="0"/>
                <a:ea typeface="Calibri" pitchFamily="34" charset="-122"/>
                <a:cs typeface="Calibri" pitchFamily="34" charset="-120"/>
              </a:rPr>
              <a:t>Call the verdict</a:t>
            </a:r>
            <a:pPr indent="0" marL="0">
              <a:lnSpc>
                <a:spcPts val="1800"/>
              </a:lnSpc>
              <a:buNone/>
            </a:pPr>
            <a:r>
              <a:rPr lang="en-US" sz="1250" dirty="0">
                <a:solidFill>
                  <a:srgbClr val="333F4D"/>
                </a:solidFill>
                <a:latin typeface="Calibri" pitchFamily="34" charset="0"/>
                <a:ea typeface="Calibri" pitchFamily="34" charset="-122"/>
                <a:cs typeface="Calibri" pitchFamily="34" charset="-120"/>
              </a:rPr>
              <a:t>   — kill, iterate or scale. Three verdicts exist. "Keep watching" is not one of them.</a:t>
            </a:r>
            <a:endParaRPr lang="en-US" sz="1450" dirty="0"/>
          </a:p>
        </p:txBody>
      </p:sp>
      <p:sp>
        <p:nvSpPr>
          <p:cNvPr id="15" name="Shape 13"/>
          <p:cNvSpPr/>
          <p:nvPr/>
        </p:nvSpPr>
        <p:spPr>
          <a:xfrm>
            <a:off x="585216" y="4251960"/>
            <a:ext cx="384048" cy="384048"/>
          </a:xfrm>
          <a:prstGeom prst="ellipse">
            <a:avLst/>
          </a:prstGeom>
          <a:solidFill>
            <a:srgbClr val="2E5A8C"/>
          </a:solidFill>
          <a:ln/>
        </p:spPr>
      </p:sp>
      <p:sp>
        <p:nvSpPr>
          <p:cNvPr id="16" name="Text 14"/>
          <p:cNvSpPr/>
          <p:nvPr/>
        </p:nvSpPr>
        <p:spPr>
          <a:xfrm>
            <a:off x="585216" y="4251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133856" y="4215384"/>
            <a:ext cx="10417759" cy="579120"/>
          </a:xfrm>
          <a:prstGeom prst="rect">
            <a:avLst/>
          </a:prstGeom>
          <a:noFill/>
          <a:ln/>
        </p:spPr>
        <p:txBody>
          <a:bodyPr wrap="square" lIns="0" tIns="0" rIns="0" bIns="0" rtlCol="0" anchor="t"/>
          <a:lstStyle/>
          <a:p>
            <a:pPr indent="0" marL="0">
              <a:lnSpc>
                <a:spcPts val="1800"/>
              </a:lnSpc>
              <a:buNone/>
            </a:pPr>
            <a:r>
              <a:rPr lang="en-US" sz="1450" b="1" dirty="0">
                <a:solidFill>
                  <a:srgbClr val="17304A"/>
                </a:solidFill>
                <a:latin typeface="Calibri" pitchFamily="34" charset="0"/>
                <a:ea typeface="Calibri" pitchFamily="34" charset="-122"/>
                <a:cs typeface="Calibri" pitchFamily="34" charset="-120"/>
              </a:rPr>
              <a:t>Ask the override question</a:t>
            </a:r>
            <a:pPr indent="0" marL="0">
              <a:lnSpc>
                <a:spcPts val="1800"/>
              </a:lnSpc>
              <a:buNone/>
            </a:pPr>
            <a:r>
              <a:rPr lang="en-US" sz="1250" dirty="0">
                <a:solidFill>
                  <a:srgbClr val="333F4D"/>
                </a:solidFill>
                <a:latin typeface="Calibri" pitchFamily="34" charset="0"/>
                <a:ea typeface="Calibri" pitchFamily="34" charset="-122"/>
                <a:cs typeface="Calibri" pitchFamily="34" charset="-120"/>
              </a:rPr>
              <a:t>   — "what would have to be true for us to override our own criterion?" This is the only legitimate route to continuation. If nobody answers in one sentence, the verdict stands.</a:t>
            </a:r>
            <a:endParaRPr lang="en-US" sz="1450" dirty="0"/>
          </a:p>
        </p:txBody>
      </p:sp>
      <p:sp>
        <p:nvSpPr>
          <p:cNvPr id="18" name="Shape 16"/>
          <p:cNvSpPr/>
          <p:nvPr/>
        </p:nvSpPr>
        <p:spPr>
          <a:xfrm>
            <a:off x="585216" y="4940808"/>
            <a:ext cx="384048" cy="384048"/>
          </a:xfrm>
          <a:prstGeom prst="ellipse">
            <a:avLst/>
          </a:prstGeom>
          <a:solidFill>
            <a:srgbClr val="17304A"/>
          </a:solidFill>
          <a:ln/>
        </p:spPr>
      </p:sp>
      <p:sp>
        <p:nvSpPr>
          <p:cNvPr id="19" name="Text 17"/>
          <p:cNvSpPr/>
          <p:nvPr/>
        </p:nvSpPr>
        <p:spPr>
          <a:xfrm>
            <a:off x="585216" y="49408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p:nvPr/>
        </p:nvSpPr>
        <p:spPr>
          <a:xfrm>
            <a:off x="1133856" y="4904232"/>
            <a:ext cx="10417759" cy="579120"/>
          </a:xfrm>
          <a:prstGeom prst="rect">
            <a:avLst/>
          </a:prstGeom>
          <a:noFill/>
          <a:ln/>
        </p:spPr>
        <p:txBody>
          <a:bodyPr wrap="square" lIns="0" tIns="0" rIns="0" bIns="0" rtlCol="0" anchor="t"/>
          <a:lstStyle/>
          <a:p>
            <a:pPr indent="0" marL="0">
              <a:lnSpc>
                <a:spcPts val="1800"/>
              </a:lnSpc>
              <a:buNone/>
            </a:pPr>
            <a:r>
              <a:rPr lang="en-US" sz="1450" b="1" dirty="0">
                <a:solidFill>
                  <a:srgbClr val="17304A"/>
                </a:solidFill>
                <a:latin typeface="Calibri" pitchFamily="34" charset="0"/>
                <a:ea typeface="Calibri" pitchFamily="34" charset="-122"/>
                <a:cs typeface="Calibri" pitchFamily="34" charset="-120"/>
              </a:rPr>
              <a:t>Name the next commitment</a:t>
            </a:r>
            <a:pPr indent="0" marL="0">
              <a:lnSpc>
                <a:spcPts val="1800"/>
              </a:lnSpc>
              <a:buNone/>
            </a:pPr>
            <a:r>
              <a:rPr lang="en-US" sz="1250" dirty="0">
                <a:solidFill>
                  <a:srgbClr val="333F4D"/>
                </a:solidFill>
                <a:latin typeface="Calibri" pitchFamily="34" charset="0"/>
                <a:ea typeface="Calibri" pitchFamily="34" charset="-122"/>
                <a:cs typeface="Calibri" pitchFamily="34" charset="-120"/>
              </a:rPr>
              <a:t>   — owner, resource, date. A gate that ends without one has produced awareness, not a decision.</a:t>
            </a:r>
            <a:endParaRPr lang="en-US" sz="1450" dirty="0"/>
          </a:p>
        </p:txBody>
      </p:sp>
      <p:sp>
        <p:nvSpPr>
          <p:cNvPr id="21" name="Shape 19"/>
          <p:cNvSpPr/>
          <p:nvPr/>
        </p:nvSpPr>
        <p:spPr>
          <a:xfrm>
            <a:off x="585216" y="5629656"/>
            <a:ext cx="384048" cy="384048"/>
          </a:xfrm>
          <a:prstGeom prst="ellipse">
            <a:avLst/>
          </a:prstGeom>
          <a:solidFill>
            <a:srgbClr val="2E5A8C"/>
          </a:solidFill>
          <a:ln/>
        </p:spPr>
      </p:sp>
      <p:sp>
        <p:nvSpPr>
          <p:cNvPr id="22" name="Text 20"/>
          <p:cNvSpPr/>
          <p:nvPr/>
        </p:nvSpPr>
        <p:spPr>
          <a:xfrm>
            <a:off x="585216" y="56296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3" name="Text 21"/>
          <p:cNvSpPr/>
          <p:nvPr/>
        </p:nvSpPr>
        <p:spPr>
          <a:xfrm>
            <a:off x="1133856" y="5593080"/>
            <a:ext cx="10417759" cy="579120"/>
          </a:xfrm>
          <a:prstGeom prst="rect">
            <a:avLst/>
          </a:prstGeom>
          <a:noFill/>
          <a:ln/>
        </p:spPr>
        <p:txBody>
          <a:bodyPr wrap="square" lIns="0" tIns="0" rIns="0" bIns="0" rtlCol="0" anchor="t"/>
          <a:lstStyle/>
          <a:p>
            <a:pPr indent="0" marL="0">
              <a:lnSpc>
                <a:spcPts val="1800"/>
              </a:lnSpc>
              <a:buNone/>
            </a:pPr>
            <a:r>
              <a:rPr lang="en-US" sz="1450" b="1" dirty="0">
                <a:solidFill>
                  <a:srgbClr val="17304A"/>
                </a:solidFill>
                <a:latin typeface="Calibri" pitchFamily="34" charset="0"/>
                <a:ea typeface="Calibri" pitchFamily="34" charset="-122"/>
                <a:cs typeface="Calibri" pitchFamily="34" charset="-120"/>
              </a:rPr>
              <a:t>File it</a:t>
            </a:r>
            <a:pPr indent="0" marL="0">
              <a:lnSpc>
                <a:spcPts val="1800"/>
              </a:lnSpc>
              <a:buNone/>
            </a:pPr>
            <a:r>
              <a:rPr lang="en-US" sz="1250" dirty="0">
                <a:solidFill>
                  <a:srgbClr val="333F4D"/>
                </a:solidFill>
                <a:latin typeface="Calibri" pitchFamily="34" charset="0"/>
                <a:ea typeface="Calibri" pitchFamily="34" charset="-122"/>
                <a:cs typeface="Calibri" pitchFamily="34" charset="-120"/>
              </a:rPr>
              <a:t>   — journal entry and prediction recorded. This converts the gate from an event into longitudinal data.</a:t>
            </a:r>
            <a:endParaRPr lang="en-US" sz="1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E1F31"/>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0E1F31"/>
          </a:solidFill>
          <a:ln/>
        </p:spPr>
      </p:sp>
      <p:sp>
        <p:nvSpPr>
          <p:cNvPr id="3" name="Text 1"/>
          <p:cNvSpPr/>
          <p:nvPr/>
        </p:nvSpPr>
        <p:spPr>
          <a:xfrm>
            <a:off x="841248" y="384048"/>
            <a:ext cx="5486400" cy="256032"/>
          </a:xfrm>
          <a:prstGeom prst="rect">
            <a:avLst/>
          </a:prstGeom>
          <a:noFill/>
          <a:ln/>
        </p:spPr>
        <p:txBody>
          <a:bodyPr wrap="square" lIns="0" tIns="0" rIns="0" bIns="0" rtlCol="0" anchor="ctr"/>
          <a:lstStyle/>
          <a:p>
            <a:pPr indent="0" marL="0">
              <a:buNone/>
            </a:pPr>
            <a:r>
              <a:rPr lang="en-US" sz="1150" b="1" spc="360" kern="0" dirty="0">
                <a:solidFill>
                  <a:srgbClr val="D2A24C"/>
                </a:solidFill>
                <a:latin typeface="Calibri" pitchFamily="34" charset="0"/>
                <a:ea typeface="Calibri" pitchFamily="34" charset="-122"/>
                <a:cs typeface="Calibri" pitchFamily="34" charset="-120"/>
              </a:rPr>
              <a:t>EXERCISE 7</a:t>
            </a:r>
            <a:endParaRPr lang="en-US" sz="1150" dirty="0"/>
          </a:p>
        </p:txBody>
      </p:sp>
      <p:sp>
        <p:nvSpPr>
          <p:cNvPr id="4" name="Text 2"/>
          <p:cNvSpPr/>
          <p:nvPr/>
        </p:nvSpPr>
        <p:spPr>
          <a:xfrm>
            <a:off x="841248" y="731520"/>
            <a:ext cx="8131759" cy="80467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Pre-Registration Sprint</a:t>
            </a:r>
            <a:endParaRPr lang="en-US" sz="3200" dirty="0"/>
          </a:p>
        </p:txBody>
      </p:sp>
      <p:sp>
        <p:nvSpPr>
          <p:cNvPr id="5" name="Text 3"/>
          <p:cNvSpPr/>
          <p:nvPr/>
        </p:nvSpPr>
        <p:spPr>
          <a:xfrm>
            <a:off x="841248"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FORMAT</a:t>
            </a:r>
            <a:endParaRPr lang="en-US" sz="950" dirty="0"/>
          </a:p>
        </p:txBody>
      </p:sp>
      <p:sp>
        <p:nvSpPr>
          <p:cNvPr id="6" name="Text 4"/>
          <p:cNvSpPr/>
          <p:nvPr/>
        </p:nvSpPr>
        <p:spPr>
          <a:xfrm>
            <a:off x="841248"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Individually, then peer review in threes</a:t>
            </a:r>
            <a:endParaRPr lang="en-US" sz="1300" dirty="0"/>
          </a:p>
        </p:txBody>
      </p:sp>
      <p:sp>
        <p:nvSpPr>
          <p:cNvPr id="7" name="Text 5"/>
          <p:cNvSpPr/>
          <p:nvPr/>
        </p:nvSpPr>
        <p:spPr>
          <a:xfrm>
            <a:off x="4420514"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TIME</a:t>
            </a:r>
            <a:endParaRPr lang="en-US" sz="950" dirty="0"/>
          </a:p>
        </p:txBody>
      </p:sp>
      <p:sp>
        <p:nvSpPr>
          <p:cNvPr id="8" name="Text 6"/>
          <p:cNvSpPr/>
          <p:nvPr/>
        </p:nvSpPr>
        <p:spPr>
          <a:xfrm>
            <a:off x="4420514"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45 minutes</a:t>
            </a:r>
            <a:endParaRPr lang="en-US" sz="1300" dirty="0"/>
          </a:p>
        </p:txBody>
      </p:sp>
      <p:sp>
        <p:nvSpPr>
          <p:cNvPr id="9" name="Text 7"/>
          <p:cNvSpPr/>
          <p:nvPr/>
        </p:nvSpPr>
        <p:spPr>
          <a:xfrm>
            <a:off x="7999781"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OUTPUT</a:t>
            </a:r>
            <a:endParaRPr lang="en-US" sz="950" dirty="0"/>
          </a:p>
        </p:txBody>
      </p:sp>
      <p:sp>
        <p:nvSpPr>
          <p:cNvPr id="10" name="Text 8"/>
          <p:cNvSpPr/>
          <p:nvPr/>
        </p:nvSpPr>
        <p:spPr>
          <a:xfrm>
            <a:off x="7999781"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signed pre-registration for a real test launching this month</a:t>
            </a:r>
            <a:endParaRPr lang="en-US" sz="1300" dirty="0"/>
          </a:p>
        </p:txBody>
      </p:sp>
      <p:sp>
        <p:nvSpPr>
          <p:cNvPr id="11" name="Shape 9"/>
          <p:cNvSpPr/>
          <p:nvPr/>
        </p:nvSpPr>
        <p:spPr>
          <a:xfrm>
            <a:off x="841248" y="2414016"/>
            <a:ext cx="10509199" cy="18288"/>
          </a:xfrm>
          <a:prstGeom prst="rect">
            <a:avLst/>
          </a:prstGeom>
          <a:solidFill>
            <a:srgbClr val="2C4763"/>
          </a:solidFill>
          <a:ln/>
        </p:spPr>
      </p:sp>
      <p:sp>
        <p:nvSpPr>
          <p:cNvPr id="12" name="Text 10"/>
          <p:cNvSpPr/>
          <p:nvPr/>
        </p:nvSpPr>
        <p:spPr>
          <a:xfrm>
            <a:off x="841248" y="2615184"/>
            <a:ext cx="5120640" cy="219456"/>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THE BRIEF</a:t>
            </a:r>
            <a:endParaRPr lang="en-US" sz="950" dirty="0"/>
          </a:p>
        </p:txBody>
      </p:sp>
      <p:sp>
        <p:nvSpPr>
          <p:cNvPr id="13" name="Text 11"/>
          <p:cNvSpPr/>
          <p:nvPr/>
        </p:nvSpPr>
        <p:spPr>
          <a:xfrm>
            <a:off x="841248" y="2889504"/>
            <a:ext cx="6035040" cy="3310128"/>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Everyone writes one complete pre-registration for a real test they intend to run. Not a hypothetical.</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Twenty minutes, all eight fields, no blanks. A blank field means the test does not launch.</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Peer review in threes. Each reviewer attacks two things only: is the hypothesis falsifiable, and is the MDE larger than the effect we would act on?</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Rewrite. Ten minutes.</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Sign it. Two names — owner and forum chair. Chairs are in the room; get the signature now.</a:t>
            </a:r>
            <a:endParaRPr lang="en-US" sz="1250" dirty="0"/>
          </a:p>
        </p:txBody>
      </p:sp>
      <p:sp>
        <p:nvSpPr>
          <p:cNvPr id="14" name="Shape 12"/>
          <p:cNvSpPr/>
          <p:nvPr/>
        </p:nvSpPr>
        <p:spPr>
          <a:xfrm>
            <a:off x="7287768" y="2578608"/>
            <a:ext cx="4336999" cy="3675888"/>
          </a:xfrm>
          <a:prstGeom prst="roundRect">
            <a:avLst>
              <a:gd name="adj" fmla="val 1493"/>
            </a:avLst>
          </a:prstGeom>
          <a:solidFill>
            <a:srgbClr val="16324C"/>
          </a:solidFill>
          <a:ln w="12700">
            <a:solidFill>
              <a:srgbClr val="2C4763"/>
            </a:solidFill>
            <a:prstDash val="solid"/>
          </a:ln>
        </p:spPr>
      </p:sp>
      <p:sp>
        <p:nvSpPr>
          <p:cNvPr id="15" name="Text 13"/>
          <p:cNvSpPr/>
          <p:nvPr/>
        </p:nvSpPr>
        <p:spPr>
          <a:xfrm>
            <a:off x="7516368" y="2779776"/>
            <a:ext cx="3834079" cy="219456"/>
          </a:xfrm>
          <a:prstGeom prst="rect">
            <a:avLst/>
          </a:prstGeom>
          <a:noFill/>
          <a:ln/>
        </p:spPr>
        <p:txBody>
          <a:bodyPr wrap="square" lIns="0" tIns="0" rIns="0" bIns="0" rtlCol="0" anchor="ctr"/>
          <a:lstStyle/>
          <a:p>
            <a:pPr indent="0" marL="0">
              <a:buNone/>
            </a:pPr>
            <a:r>
              <a:rPr lang="en-US" sz="950" b="1" spc="200" kern="0" dirty="0">
                <a:solidFill>
                  <a:srgbClr val="D2A24C"/>
                </a:solidFill>
                <a:latin typeface="Calibri" pitchFamily="34" charset="0"/>
                <a:ea typeface="Calibri" pitchFamily="34" charset="-122"/>
                <a:cs typeface="Calibri" pitchFamily="34" charset="-120"/>
              </a:rPr>
              <a:t>WHAT THIS ANCHORS</a:t>
            </a:r>
            <a:endParaRPr lang="en-US" sz="950" dirty="0"/>
          </a:p>
        </p:txBody>
      </p:sp>
      <p:sp>
        <p:nvSpPr>
          <p:cNvPr id="16" name="Text 14"/>
          <p:cNvSpPr/>
          <p:nvPr/>
        </p:nvSpPr>
        <p:spPr>
          <a:xfrm>
            <a:off x="7516368" y="3054096"/>
            <a:ext cx="3834079" cy="3054096"/>
          </a:xfrm>
          <a:prstGeom prst="rect">
            <a:avLst/>
          </a:prstGeom>
          <a:noFill/>
          <a:ln/>
        </p:spPr>
        <p:txBody>
          <a:bodyPr wrap="square" lIns="0" tIns="0" rIns="0" bIns="0" rtlCol="0" anchor="t"/>
          <a:lstStyle/>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People discover that writing a falsifiable hypothesis is much harder than having an idea, and that most of what they intended to test could not have produced a decision either way.</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MDE question is where the most work happens. Roughly half of all drafts propose detecting an effect smaller than anyone would act on — which means the test was never going to change anything.</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Every signed document here is a real test that launches this month.</a:t>
            </a:r>
            <a:endParaRPr lang="en-US" sz="1250" dirty="0"/>
          </a:p>
        </p:txBody>
      </p:sp>
      <p:sp>
        <p:nvSpPr>
          <p:cNvPr id="17" name="Text 1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1F31"/>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0E1F31"/>
          </a:solidFill>
          <a:ln/>
        </p:spPr>
      </p:sp>
      <p:sp>
        <p:nvSpPr>
          <p:cNvPr id="3" name="Text 1"/>
          <p:cNvSpPr/>
          <p:nvPr/>
        </p:nvSpPr>
        <p:spPr>
          <a:xfrm>
            <a:off x="841248" y="1234440"/>
            <a:ext cx="11057839" cy="274320"/>
          </a:xfrm>
          <a:prstGeom prst="rect">
            <a:avLst/>
          </a:prstGeom>
          <a:noFill/>
          <a:ln/>
        </p:spPr>
        <p:txBody>
          <a:bodyPr wrap="square" lIns="0" tIns="0" rIns="0" bIns="0" rtlCol="0" anchor="ctr"/>
          <a:lstStyle/>
          <a:p>
            <a:pPr indent="0" marL="0">
              <a:buNone/>
            </a:pPr>
            <a:r>
              <a:rPr lang="en-US" sz="1100" b="1" spc="300" kern="0" dirty="0">
                <a:solidFill>
                  <a:srgbClr val="8FB2D6"/>
                </a:solidFill>
                <a:latin typeface="Calibri" pitchFamily="34" charset="0"/>
                <a:ea typeface="Calibri" pitchFamily="34" charset="-122"/>
                <a:cs typeface="Calibri" pitchFamily="34" charset="-120"/>
              </a:rPr>
              <a:t>BEFORE THE NEXT EXERCISE</a:t>
            </a:r>
            <a:endParaRPr lang="en-US" sz="1100" dirty="0"/>
          </a:p>
        </p:txBody>
      </p:sp>
      <p:sp>
        <p:nvSpPr>
          <p:cNvPr id="4" name="Text 2"/>
          <p:cNvSpPr/>
          <p:nvPr/>
        </p:nvSpPr>
        <p:spPr>
          <a:xfrm>
            <a:off x="841248" y="1783080"/>
            <a:ext cx="9777679" cy="2834640"/>
          </a:xfrm>
          <a:prstGeom prst="rect">
            <a:avLst/>
          </a:prstGeom>
          <a:noFill/>
          <a:ln/>
        </p:spPr>
        <p:txBody>
          <a:bodyPr wrap="square" lIns="0" tIns="0" rIns="0" bIns="0" rtlCol="0" anchor="t"/>
          <a:lstStyle/>
          <a:p>
            <a:pPr indent="0" marL="0">
              <a:lnSpc>
                <a:spcPts val="4400"/>
              </a:lnSpc>
              <a:buNone/>
            </a:pPr>
            <a:r>
              <a:rPr lang="en-US" sz="3200" b="1" dirty="0">
                <a:solidFill>
                  <a:srgbClr val="FFFFFF"/>
                </a:solidFill>
                <a:latin typeface="Cambria" pitchFamily="34" charset="0"/>
                <a:ea typeface="Cambria" pitchFamily="34" charset="-122"/>
                <a:cs typeface="Cambria" pitchFamily="34" charset="-120"/>
              </a:rPr>
              <a:t>The meeting that changes an organisation’s reflexes is almost never the one where something is approved.</a:t>
            </a:r>
            <a:endParaRPr lang="en-US" sz="3200" dirty="0"/>
          </a:p>
        </p:txBody>
      </p:sp>
      <p:sp>
        <p:nvSpPr>
          <p:cNvPr id="5" name="Text 3"/>
          <p:cNvSpPr/>
          <p:nvPr/>
        </p:nvSpPr>
        <p:spPr>
          <a:xfrm>
            <a:off x="841248" y="4800600"/>
            <a:ext cx="9046159" cy="1371600"/>
          </a:xfrm>
          <a:prstGeom prst="rect">
            <a:avLst/>
          </a:prstGeom>
          <a:noFill/>
          <a:ln/>
        </p:spPr>
        <p:txBody>
          <a:bodyPr wrap="square" lIns="0" tIns="0" rIns="0" bIns="0" rtlCol="0" anchor="t"/>
          <a:lstStyle/>
          <a:p>
            <a:pPr indent="0" marL="0">
              <a:lnSpc>
                <a:spcPts val="2100"/>
              </a:lnSpc>
              <a:buNone/>
            </a:pPr>
            <a:r>
              <a:rPr lang="en-US" sz="1500" dirty="0">
                <a:solidFill>
                  <a:srgbClr val="CFDCEA"/>
                </a:solidFill>
                <a:latin typeface="Calibri" pitchFamily="34" charset="0"/>
                <a:ea typeface="Calibri" pitchFamily="34" charset="-122"/>
                <a:cs typeface="Calibri" pitchFamily="34" charset="-120"/>
              </a:rPr>
              <a:t>It is the first one where a pre-registered floor is enforced against a senior voice asking for one more quarter. Once the room watches a gate hold under real pressure, the gates become real everywhere else at zero additional cost.</a:t>
            </a:r>
            <a:endParaRPr lang="en-US" sz="1500" dirty="0"/>
          </a:p>
          <a:p>
            <a:pPr indent="0" marL="0">
              <a:lnSpc>
                <a:spcPts val="2100"/>
              </a:lnSpc>
              <a:buNone/>
            </a:pPr>
            <a:endParaRPr lang="en-US" sz="1500" dirty="0"/>
          </a:p>
          <a:p>
            <a:pPr indent="0" marL="0">
              <a:lnSpc>
                <a:spcPts val="2100"/>
              </a:lnSpc>
              <a:buNone/>
            </a:pPr>
            <a:r>
              <a:rPr lang="en-US" sz="1500" dirty="0">
                <a:solidFill>
                  <a:srgbClr val="CFDCEA"/>
                </a:solidFill>
                <a:latin typeface="Calibri" pitchFamily="34" charset="0"/>
                <a:ea typeface="Calibri" pitchFamily="34" charset="-122"/>
                <a:cs typeface="Calibri" pitchFamily="34" charset="-120"/>
              </a:rPr>
              <a:t>So we are going to rehearse that meeting. Now, in this room, with the actual people who will be in it.</a:t>
            </a:r>
            <a:endParaRPr lang="en-US" sz="1500" dirty="0"/>
          </a:p>
        </p:txBody>
      </p:sp>
      <p:sp>
        <p:nvSpPr>
          <p:cNvPr id="6" name="Text 4"/>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1F31"/>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0E1F31"/>
          </a:solidFill>
          <a:ln/>
        </p:spPr>
      </p:sp>
      <p:sp>
        <p:nvSpPr>
          <p:cNvPr id="3" name="Text 1"/>
          <p:cNvSpPr/>
          <p:nvPr/>
        </p:nvSpPr>
        <p:spPr>
          <a:xfrm>
            <a:off x="841248" y="384048"/>
            <a:ext cx="5486400" cy="256032"/>
          </a:xfrm>
          <a:prstGeom prst="rect">
            <a:avLst/>
          </a:prstGeom>
          <a:noFill/>
          <a:ln/>
        </p:spPr>
        <p:txBody>
          <a:bodyPr wrap="square" lIns="0" tIns="0" rIns="0" bIns="0" rtlCol="0" anchor="ctr"/>
          <a:lstStyle/>
          <a:p>
            <a:pPr indent="0" marL="0">
              <a:buNone/>
            </a:pPr>
            <a:r>
              <a:rPr lang="en-US" sz="1150" b="1" spc="360" kern="0" dirty="0">
                <a:solidFill>
                  <a:srgbClr val="D2A24C"/>
                </a:solidFill>
                <a:latin typeface="Calibri" pitchFamily="34" charset="0"/>
                <a:ea typeface="Calibri" pitchFamily="34" charset="-122"/>
                <a:cs typeface="Calibri" pitchFamily="34" charset="-120"/>
              </a:rPr>
              <a:t>EXERCISE 8</a:t>
            </a:r>
            <a:endParaRPr lang="en-US" sz="1150" dirty="0"/>
          </a:p>
        </p:txBody>
      </p:sp>
      <p:sp>
        <p:nvSpPr>
          <p:cNvPr id="4" name="Text 2"/>
          <p:cNvSpPr/>
          <p:nvPr/>
        </p:nvSpPr>
        <p:spPr>
          <a:xfrm>
            <a:off x="841248" y="731520"/>
            <a:ext cx="8131759" cy="80467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Gate Rehearsal</a:t>
            </a:r>
            <a:endParaRPr lang="en-US" sz="3200" dirty="0"/>
          </a:p>
        </p:txBody>
      </p:sp>
      <p:sp>
        <p:nvSpPr>
          <p:cNvPr id="5" name="Text 3"/>
          <p:cNvSpPr/>
          <p:nvPr/>
        </p:nvSpPr>
        <p:spPr>
          <a:xfrm>
            <a:off x="841248"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FORMAT</a:t>
            </a:r>
            <a:endParaRPr lang="en-US" sz="950" dirty="0"/>
          </a:p>
        </p:txBody>
      </p:sp>
      <p:sp>
        <p:nvSpPr>
          <p:cNvPr id="6" name="Text 4"/>
          <p:cNvSpPr/>
          <p:nvPr/>
        </p:nvSpPr>
        <p:spPr>
          <a:xfrm>
            <a:off x="841248"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Role-play, fishbowl, three rounds</a:t>
            </a:r>
            <a:endParaRPr lang="en-US" sz="1300" dirty="0"/>
          </a:p>
        </p:txBody>
      </p:sp>
      <p:sp>
        <p:nvSpPr>
          <p:cNvPr id="7" name="Text 5"/>
          <p:cNvSpPr/>
          <p:nvPr/>
        </p:nvSpPr>
        <p:spPr>
          <a:xfrm>
            <a:off x="4420514"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TIME</a:t>
            </a:r>
            <a:endParaRPr lang="en-US" sz="950" dirty="0"/>
          </a:p>
        </p:txBody>
      </p:sp>
      <p:sp>
        <p:nvSpPr>
          <p:cNvPr id="8" name="Text 6"/>
          <p:cNvSpPr/>
          <p:nvPr/>
        </p:nvSpPr>
        <p:spPr>
          <a:xfrm>
            <a:off x="4420514"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55 minutes</a:t>
            </a:r>
            <a:endParaRPr lang="en-US" sz="1300" dirty="0"/>
          </a:p>
        </p:txBody>
      </p:sp>
      <p:sp>
        <p:nvSpPr>
          <p:cNvPr id="9" name="Text 7"/>
          <p:cNvSpPr/>
          <p:nvPr/>
        </p:nvSpPr>
        <p:spPr>
          <a:xfrm>
            <a:off x="7999781"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OUTPUT</a:t>
            </a:r>
            <a:endParaRPr lang="en-US" sz="950" dirty="0"/>
          </a:p>
        </p:txBody>
      </p:sp>
      <p:sp>
        <p:nvSpPr>
          <p:cNvPr id="10" name="Text 8"/>
          <p:cNvSpPr/>
          <p:nvPr/>
        </p:nvSpPr>
        <p:spPr>
          <a:xfrm>
            <a:off x="7999781"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gate held under pressure, watched by everyone</a:t>
            </a:r>
            <a:endParaRPr lang="en-US" sz="1300" dirty="0"/>
          </a:p>
        </p:txBody>
      </p:sp>
      <p:sp>
        <p:nvSpPr>
          <p:cNvPr id="11" name="Shape 9"/>
          <p:cNvSpPr/>
          <p:nvPr/>
        </p:nvSpPr>
        <p:spPr>
          <a:xfrm>
            <a:off x="841248" y="2414016"/>
            <a:ext cx="10509199" cy="18288"/>
          </a:xfrm>
          <a:prstGeom prst="rect">
            <a:avLst/>
          </a:prstGeom>
          <a:solidFill>
            <a:srgbClr val="2C4763"/>
          </a:solidFill>
          <a:ln/>
        </p:spPr>
      </p:sp>
      <p:sp>
        <p:nvSpPr>
          <p:cNvPr id="12" name="Text 10"/>
          <p:cNvSpPr/>
          <p:nvPr/>
        </p:nvSpPr>
        <p:spPr>
          <a:xfrm>
            <a:off x="841248" y="2615184"/>
            <a:ext cx="5120640" cy="219456"/>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THE BRIEF</a:t>
            </a:r>
            <a:endParaRPr lang="en-US" sz="950" dirty="0"/>
          </a:p>
        </p:txBody>
      </p:sp>
      <p:sp>
        <p:nvSpPr>
          <p:cNvPr id="13" name="Text 11"/>
          <p:cNvSpPr/>
          <p:nvPr/>
        </p:nvSpPr>
        <p:spPr>
          <a:xfrm>
            <a:off x="841248" y="2889504"/>
            <a:ext cx="6035040" cy="3310128"/>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Three rounds. Each has a chair, an advocate, and the room watching.</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The chair is deliberately the most junior person qualified to run the gate. The advocate is deliberately the most senior person in the room.</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The advocate argues for continuation on a test that missed its criterion, using every legitimate lever: relationship, urgency, sunk investment, board expectation, "I have seen this pattern before."</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The chair runs the six moves. Exactly. Including move four.</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Round ends when a verdict is recorded — not when the advocate is satisfied.</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Rotate. Round three uses a real initiative currently at a real gate.</a:t>
            </a:r>
            <a:endParaRPr lang="en-US" sz="1250" dirty="0"/>
          </a:p>
        </p:txBody>
      </p:sp>
      <p:sp>
        <p:nvSpPr>
          <p:cNvPr id="14" name="Shape 12"/>
          <p:cNvSpPr/>
          <p:nvPr/>
        </p:nvSpPr>
        <p:spPr>
          <a:xfrm>
            <a:off x="7287768" y="2578608"/>
            <a:ext cx="4336999" cy="3675888"/>
          </a:xfrm>
          <a:prstGeom prst="roundRect">
            <a:avLst>
              <a:gd name="adj" fmla="val 1493"/>
            </a:avLst>
          </a:prstGeom>
          <a:solidFill>
            <a:srgbClr val="16324C"/>
          </a:solidFill>
          <a:ln w="12700">
            <a:solidFill>
              <a:srgbClr val="2C4763"/>
            </a:solidFill>
            <a:prstDash val="solid"/>
          </a:ln>
        </p:spPr>
      </p:sp>
      <p:sp>
        <p:nvSpPr>
          <p:cNvPr id="15" name="Text 13"/>
          <p:cNvSpPr/>
          <p:nvPr/>
        </p:nvSpPr>
        <p:spPr>
          <a:xfrm>
            <a:off x="7516368" y="2779776"/>
            <a:ext cx="3834079" cy="219456"/>
          </a:xfrm>
          <a:prstGeom prst="rect">
            <a:avLst/>
          </a:prstGeom>
          <a:noFill/>
          <a:ln/>
        </p:spPr>
        <p:txBody>
          <a:bodyPr wrap="square" lIns="0" tIns="0" rIns="0" bIns="0" rtlCol="0" anchor="ctr"/>
          <a:lstStyle/>
          <a:p>
            <a:pPr indent="0" marL="0">
              <a:buNone/>
            </a:pPr>
            <a:r>
              <a:rPr lang="en-US" sz="950" b="1" spc="200" kern="0" dirty="0">
                <a:solidFill>
                  <a:srgbClr val="D2A24C"/>
                </a:solidFill>
                <a:latin typeface="Calibri" pitchFamily="34" charset="0"/>
                <a:ea typeface="Calibri" pitchFamily="34" charset="-122"/>
                <a:cs typeface="Calibri" pitchFamily="34" charset="-120"/>
              </a:rPr>
              <a:t>WHAT THIS ANCHORS</a:t>
            </a:r>
            <a:endParaRPr lang="en-US" sz="950" dirty="0"/>
          </a:p>
        </p:txBody>
      </p:sp>
      <p:sp>
        <p:nvSpPr>
          <p:cNvPr id="16" name="Text 14"/>
          <p:cNvSpPr/>
          <p:nvPr/>
        </p:nvSpPr>
        <p:spPr>
          <a:xfrm>
            <a:off x="7516368" y="3054096"/>
            <a:ext cx="3834079" cy="3054096"/>
          </a:xfrm>
          <a:prstGeom prst="rect">
            <a:avLst/>
          </a:prstGeom>
          <a:noFill/>
          <a:ln/>
        </p:spPr>
        <p:txBody>
          <a:bodyPr wrap="square" lIns="0" tIns="0" rIns="0" bIns="0" rtlCol="0" anchor="t"/>
          <a:lstStyle/>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Every rule in this system can be defeated by one socially skilled person in a room. That is not a flaw in the rules; it is a fact about rooms.</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This exercise makes the defeat visible and then rehearses the defence, in front of witnesses, with the actual seniority dynamics that will exist on Tuesday.</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What the room remembers is not the script. It is watching the most senior person accept a verdict from the most junior one, in public, without retaliating.</a:t>
            </a:r>
            <a:endParaRPr lang="en-US" sz="1250" dirty="0"/>
          </a:p>
        </p:txBody>
      </p:sp>
      <p:sp>
        <p:nvSpPr>
          <p:cNvPr id="17" name="Text 1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7304A"/>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17304A"/>
          </a:solidFill>
          <a:ln/>
        </p:spPr>
      </p:sp>
      <p:sp>
        <p:nvSpPr>
          <p:cNvPr id="3" name="Text 1"/>
          <p:cNvSpPr/>
          <p:nvPr/>
        </p:nvSpPr>
        <p:spPr>
          <a:xfrm>
            <a:off x="841248" y="1737360"/>
            <a:ext cx="2743200" cy="1463040"/>
          </a:xfrm>
          <a:prstGeom prst="rect">
            <a:avLst/>
          </a:prstGeom>
          <a:noFill/>
          <a:ln/>
        </p:spPr>
        <p:txBody>
          <a:bodyPr wrap="square" lIns="0" tIns="0" rIns="0" bIns="0" rtlCol="0" anchor="ctr"/>
          <a:lstStyle/>
          <a:p>
            <a:pPr indent="0" marL="0">
              <a:buNone/>
            </a:pPr>
            <a:r>
              <a:rPr lang="en-US" sz="9000" b="1" dirty="0">
                <a:solidFill>
                  <a:srgbClr val="3D6491"/>
                </a:solidFill>
                <a:latin typeface="Cambria" pitchFamily="34" charset="0"/>
                <a:ea typeface="Cambria" pitchFamily="34" charset="-122"/>
                <a:cs typeface="Cambria" pitchFamily="34" charset="-120"/>
              </a:rPr>
              <a:t>07</a:t>
            </a:r>
            <a:endParaRPr lang="en-US" sz="9000" dirty="0"/>
          </a:p>
        </p:txBody>
      </p:sp>
      <p:sp>
        <p:nvSpPr>
          <p:cNvPr id="4" name="Text 2"/>
          <p:cNvSpPr/>
          <p:nvPr/>
        </p:nvSpPr>
        <p:spPr>
          <a:xfrm>
            <a:off x="841248" y="3063240"/>
            <a:ext cx="9229039"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Cadence and Decision Rights</a:t>
            </a:r>
            <a:endParaRPr lang="en-US" sz="4000" dirty="0"/>
          </a:p>
        </p:txBody>
      </p:sp>
      <p:sp>
        <p:nvSpPr>
          <p:cNvPr id="5" name="Text 3"/>
          <p:cNvSpPr/>
          <p:nvPr/>
        </p:nvSpPr>
        <p:spPr>
          <a:xfrm>
            <a:off x="841248" y="4041648"/>
            <a:ext cx="8412480" cy="914400"/>
          </a:xfrm>
          <a:prstGeom prst="rect">
            <a:avLst/>
          </a:prstGeom>
          <a:noFill/>
          <a:ln/>
        </p:spPr>
        <p:txBody>
          <a:bodyPr wrap="square" lIns="0" tIns="0" rIns="0" bIns="0" rtlCol="0" anchor="ctr"/>
          <a:lstStyle/>
          <a:p>
            <a:pPr indent="0" marL="0">
              <a:lnSpc>
                <a:spcPts val="2200"/>
              </a:lnSpc>
              <a:buNone/>
            </a:pPr>
            <a:r>
              <a:rPr lang="en-US" sz="1600" dirty="0">
                <a:solidFill>
                  <a:srgbClr val="CFDCEA"/>
                </a:solidFill>
                <a:latin typeface="Calibri" pitchFamily="34" charset="0"/>
                <a:ea typeface="Calibri" pitchFamily="34" charset="-122"/>
                <a:cs typeface="Calibri" pitchFamily="34" charset="-120"/>
              </a:rPr>
              <a:t>Strategy does not cascade through documents. It cascades through a fixed architecture of meetings, each with one scorecard, one owner, and one decision output.</a:t>
            </a:r>
            <a:endParaRPr lang="en-US" sz="1600" dirty="0"/>
          </a:p>
        </p:txBody>
      </p:sp>
      <p:sp>
        <p:nvSpPr>
          <p:cNvPr id="6" name="Text 4"/>
          <p:cNvSpPr/>
          <p:nvPr/>
        </p:nvSpPr>
        <p:spPr>
          <a:xfrm>
            <a:off x="841248" y="5623560"/>
            <a:ext cx="8229600" cy="365760"/>
          </a:xfrm>
          <a:prstGeom prst="rect">
            <a:avLst/>
          </a:prstGeom>
          <a:noFill/>
          <a:ln/>
        </p:spPr>
        <p:txBody>
          <a:bodyPr wrap="square" lIns="0" tIns="0" rIns="0" bIns="0" rtlCol="0" anchor="ctr"/>
          <a:lstStyle/>
          <a:p>
            <a:pPr indent="0" marL="0">
              <a:buNone/>
            </a:pPr>
            <a:r>
              <a:rPr lang="en-US" sz="1200" b="1" spc="160" kern="0" dirty="0">
                <a:solidFill>
                  <a:srgbClr val="7FA3C9"/>
                </a:solidFill>
                <a:latin typeface="Calibri" pitchFamily="34" charset="0"/>
                <a:ea typeface="Calibri" pitchFamily="34" charset="-122"/>
                <a:cs typeface="Calibri" pitchFamily="34" charset="-120"/>
              </a:rPr>
              <a:t>NINETY MINUTES  ·  EXERCISES 9 AND 10</a:t>
            </a:r>
            <a:endParaRPr lang="en-US" sz="1200" dirty="0"/>
          </a:p>
        </p:txBody>
      </p:sp>
      <p:sp>
        <p:nvSpPr>
          <p:cNvPr id="7" name="Text 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THE STACK</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Every forum produces exactly one decision artifact</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A forum that produces only shared awareness is deleted from the calendar. That is not a preference — it is the entry condition.</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36</a:t>
            </a:r>
            <a:endParaRPr lang="en-US" sz="1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2148840"/>
          <a:ext cx="11057839" cy="914400"/>
        </p:xfrm>
        <a:graphic>
          <a:graphicData uri="http://schemas.openxmlformats.org/drawingml/2006/table">
            <a:tbl>
              <a:tblPr/>
              <a:tblGrid>
                <a:gridCol w="1371600"/>
                <a:gridCol w="3931920"/>
                <a:gridCol w="1005840"/>
                <a:gridCol w="4764024"/>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Cadence</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Forum</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Time</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Decision output</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r>
              <a:tr h="365760">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Daily</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Morning Protocol (individual)</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45m</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Today’s single highest-convexity action, time-blocked</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Daily</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Team huddle</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15m</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Unblocked ship list; escalations routed</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r h="365760">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Weekly</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Executive War Room</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30–45m</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One 7-day ship list; public owner commitments</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Weekly</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Commercial Council</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30m</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The one play of the week, with participation tracked</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r h="365760">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Weekly</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Growth Review</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45m</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Kill / scale / iterate calls; next sprint’s slate</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Per request</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Spend &amp; Promotion Gate</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SLA</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Approve or reject with a 60–90 day true-ROI projection</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r h="365760">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Monthly</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Business Review</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3h</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Reallocation decisions; kill list; covenant attestation</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365760">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Quarterly</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Strategic Reset</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½ day</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Updated capital allocation; convexity audit</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r h="365760">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Annual</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Offsite</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2 days</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150" dirty="0">
                          <a:solidFill>
                            <a:srgbClr val="2B3440"/>
                          </a:solidFill>
                          <a:latin typeface="Calibri" pitchFamily="34" charset="0"/>
                          <a:ea typeface="Calibri" pitchFamily="34" charset="-122"/>
                          <a:cs typeface="Calibri" pitchFamily="34" charset="-120"/>
                        </a:rPr>
                        <a:t>Capital allocation framework; threshold targets</a:t>
                      </a:r>
                      <a:endParaRPr lang="en-US" sz="115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E1F31"/>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0E1F31"/>
          </a:solidFill>
          <a:ln/>
        </p:spPr>
      </p:sp>
      <p:sp>
        <p:nvSpPr>
          <p:cNvPr id="3" name="Text 1"/>
          <p:cNvSpPr/>
          <p:nvPr/>
        </p:nvSpPr>
        <p:spPr>
          <a:xfrm>
            <a:off x="841248" y="384048"/>
            <a:ext cx="5486400" cy="256032"/>
          </a:xfrm>
          <a:prstGeom prst="rect">
            <a:avLst/>
          </a:prstGeom>
          <a:noFill/>
          <a:ln/>
        </p:spPr>
        <p:txBody>
          <a:bodyPr wrap="square" lIns="0" tIns="0" rIns="0" bIns="0" rtlCol="0" anchor="ctr"/>
          <a:lstStyle/>
          <a:p>
            <a:pPr indent="0" marL="0">
              <a:buNone/>
            </a:pPr>
            <a:r>
              <a:rPr lang="en-US" sz="1150" b="1" spc="360" kern="0" dirty="0">
                <a:solidFill>
                  <a:srgbClr val="D2A24C"/>
                </a:solidFill>
                <a:latin typeface="Calibri" pitchFamily="34" charset="0"/>
                <a:ea typeface="Calibri" pitchFamily="34" charset="-122"/>
                <a:cs typeface="Calibri" pitchFamily="34" charset="-120"/>
              </a:rPr>
              <a:t>EXERCISE 9</a:t>
            </a:r>
            <a:endParaRPr lang="en-US" sz="1150" dirty="0"/>
          </a:p>
        </p:txBody>
      </p:sp>
      <p:sp>
        <p:nvSpPr>
          <p:cNvPr id="4" name="Text 2"/>
          <p:cNvSpPr/>
          <p:nvPr/>
        </p:nvSpPr>
        <p:spPr>
          <a:xfrm>
            <a:off x="841248" y="731520"/>
            <a:ext cx="8131759" cy="80467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Calendar Teardown</a:t>
            </a:r>
            <a:endParaRPr lang="en-US" sz="3200" dirty="0"/>
          </a:p>
        </p:txBody>
      </p:sp>
      <p:sp>
        <p:nvSpPr>
          <p:cNvPr id="5" name="Text 3"/>
          <p:cNvSpPr/>
          <p:nvPr/>
        </p:nvSpPr>
        <p:spPr>
          <a:xfrm>
            <a:off x="841248"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FORMAT</a:t>
            </a:r>
            <a:endParaRPr lang="en-US" sz="950" dirty="0"/>
          </a:p>
        </p:txBody>
      </p:sp>
      <p:sp>
        <p:nvSpPr>
          <p:cNvPr id="6" name="Text 4"/>
          <p:cNvSpPr/>
          <p:nvPr/>
        </p:nvSpPr>
        <p:spPr>
          <a:xfrm>
            <a:off x="841248"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Everyone, live, in their own calendar</a:t>
            </a:r>
            <a:endParaRPr lang="en-US" sz="1300" dirty="0"/>
          </a:p>
        </p:txBody>
      </p:sp>
      <p:sp>
        <p:nvSpPr>
          <p:cNvPr id="7" name="Text 5"/>
          <p:cNvSpPr/>
          <p:nvPr/>
        </p:nvSpPr>
        <p:spPr>
          <a:xfrm>
            <a:off x="4420514"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TIME</a:t>
            </a:r>
            <a:endParaRPr lang="en-US" sz="950" dirty="0"/>
          </a:p>
        </p:txBody>
      </p:sp>
      <p:sp>
        <p:nvSpPr>
          <p:cNvPr id="8" name="Text 6"/>
          <p:cNvSpPr/>
          <p:nvPr/>
        </p:nvSpPr>
        <p:spPr>
          <a:xfrm>
            <a:off x="4420514"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40 minutes</a:t>
            </a:r>
            <a:endParaRPr lang="en-US" sz="1300" dirty="0"/>
          </a:p>
        </p:txBody>
      </p:sp>
      <p:sp>
        <p:nvSpPr>
          <p:cNvPr id="9" name="Text 7"/>
          <p:cNvSpPr/>
          <p:nvPr/>
        </p:nvSpPr>
        <p:spPr>
          <a:xfrm>
            <a:off x="7999781"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OUTPUT</a:t>
            </a:r>
            <a:endParaRPr lang="en-US" sz="950" dirty="0"/>
          </a:p>
        </p:txBody>
      </p:sp>
      <p:sp>
        <p:nvSpPr>
          <p:cNvPr id="10" name="Text 8"/>
          <p:cNvSpPr/>
          <p:nvPr/>
        </p:nvSpPr>
        <p:spPr>
          <a:xfrm>
            <a:off x="7999781"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Recurring meetings deleted or given a decision output</a:t>
            </a:r>
            <a:endParaRPr lang="en-US" sz="1300" dirty="0"/>
          </a:p>
        </p:txBody>
      </p:sp>
      <p:sp>
        <p:nvSpPr>
          <p:cNvPr id="11" name="Shape 9"/>
          <p:cNvSpPr/>
          <p:nvPr/>
        </p:nvSpPr>
        <p:spPr>
          <a:xfrm>
            <a:off x="841248" y="2414016"/>
            <a:ext cx="10509199" cy="18288"/>
          </a:xfrm>
          <a:prstGeom prst="rect">
            <a:avLst/>
          </a:prstGeom>
          <a:solidFill>
            <a:srgbClr val="2C4763"/>
          </a:solidFill>
          <a:ln/>
        </p:spPr>
      </p:sp>
      <p:sp>
        <p:nvSpPr>
          <p:cNvPr id="12" name="Text 10"/>
          <p:cNvSpPr/>
          <p:nvPr/>
        </p:nvSpPr>
        <p:spPr>
          <a:xfrm>
            <a:off x="841248" y="2615184"/>
            <a:ext cx="5120640" cy="219456"/>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THE BRIEF</a:t>
            </a:r>
            <a:endParaRPr lang="en-US" sz="950" dirty="0"/>
          </a:p>
        </p:txBody>
      </p:sp>
      <p:sp>
        <p:nvSpPr>
          <p:cNvPr id="13" name="Text 11"/>
          <p:cNvSpPr/>
          <p:nvPr/>
        </p:nvSpPr>
        <p:spPr>
          <a:xfrm>
            <a:off x="841248" y="2889504"/>
            <a:ext cx="6035040" cy="3310128"/>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Open your calendar. List every recurring meeting you attend, with its duration and frequency.</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Against each, write the single decision artifact it produces. In four words or fewer.</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Any meeting where you cannot name one is circled.</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Compute your circled hours per month. Write the number large at the top of your page.</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Full room: total the circled hours. That is the monthly cost of meetings that decide nothing.</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Every circled meeting is now either given a decision output and an owner, or removed from the calendar before we break. Not "reviewed later."</a:t>
            </a:r>
            <a:endParaRPr lang="en-US" sz="1250" dirty="0"/>
          </a:p>
        </p:txBody>
      </p:sp>
      <p:sp>
        <p:nvSpPr>
          <p:cNvPr id="14" name="Shape 12"/>
          <p:cNvSpPr/>
          <p:nvPr/>
        </p:nvSpPr>
        <p:spPr>
          <a:xfrm>
            <a:off x="7287768" y="2578608"/>
            <a:ext cx="4336999" cy="3675888"/>
          </a:xfrm>
          <a:prstGeom prst="roundRect">
            <a:avLst>
              <a:gd name="adj" fmla="val 1493"/>
            </a:avLst>
          </a:prstGeom>
          <a:solidFill>
            <a:srgbClr val="16324C"/>
          </a:solidFill>
          <a:ln w="12700">
            <a:solidFill>
              <a:srgbClr val="2C4763"/>
            </a:solidFill>
            <a:prstDash val="solid"/>
          </a:ln>
        </p:spPr>
      </p:sp>
      <p:sp>
        <p:nvSpPr>
          <p:cNvPr id="15" name="Text 13"/>
          <p:cNvSpPr/>
          <p:nvPr/>
        </p:nvSpPr>
        <p:spPr>
          <a:xfrm>
            <a:off x="7516368" y="2779776"/>
            <a:ext cx="3834079" cy="219456"/>
          </a:xfrm>
          <a:prstGeom prst="rect">
            <a:avLst/>
          </a:prstGeom>
          <a:noFill/>
          <a:ln/>
        </p:spPr>
        <p:txBody>
          <a:bodyPr wrap="square" lIns="0" tIns="0" rIns="0" bIns="0" rtlCol="0" anchor="ctr"/>
          <a:lstStyle/>
          <a:p>
            <a:pPr indent="0" marL="0">
              <a:buNone/>
            </a:pPr>
            <a:r>
              <a:rPr lang="en-US" sz="950" b="1" spc="200" kern="0" dirty="0">
                <a:solidFill>
                  <a:srgbClr val="D2A24C"/>
                </a:solidFill>
                <a:latin typeface="Calibri" pitchFamily="34" charset="0"/>
                <a:ea typeface="Calibri" pitchFamily="34" charset="-122"/>
                <a:cs typeface="Calibri" pitchFamily="34" charset="-120"/>
              </a:rPr>
              <a:t>WHAT THIS ANCHORS</a:t>
            </a:r>
            <a:endParaRPr lang="en-US" sz="950" dirty="0"/>
          </a:p>
        </p:txBody>
      </p:sp>
      <p:sp>
        <p:nvSpPr>
          <p:cNvPr id="16" name="Text 14"/>
          <p:cNvSpPr/>
          <p:nvPr/>
        </p:nvSpPr>
        <p:spPr>
          <a:xfrm>
            <a:off x="7516368" y="3054096"/>
            <a:ext cx="3834079" cy="3054096"/>
          </a:xfrm>
          <a:prstGeom prst="rect">
            <a:avLst/>
          </a:prstGeom>
          <a:noFill/>
          <a:ln/>
        </p:spPr>
        <p:txBody>
          <a:bodyPr wrap="square" lIns="0" tIns="0" rIns="0" bIns="0" rtlCol="0" anchor="t"/>
          <a:lstStyle/>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People know their calendar is bad. What they do not have is the number, and the number is what makes it actionable.</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forced choice at the end is what makes this exercise different from every previous conversation about meeting load. Nothing goes on a list to be handled later; it is fixed or deleted in the room.</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aggregate figure usually lands somewhere that produces an audible reaction. Let it.</a:t>
            </a:r>
            <a:endParaRPr lang="en-US" sz="1250" dirty="0"/>
          </a:p>
        </p:txBody>
      </p:sp>
      <p:sp>
        <p:nvSpPr>
          <p:cNvPr id="17" name="Text 1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E1F31"/>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0E1F31"/>
          </a:solidFill>
          <a:ln/>
        </p:spPr>
      </p:sp>
      <p:sp>
        <p:nvSpPr>
          <p:cNvPr id="3" name="Text 1"/>
          <p:cNvSpPr/>
          <p:nvPr/>
        </p:nvSpPr>
        <p:spPr>
          <a:xfrm>
            <a:off x="841248" y="384048"/>
            <a:ext cx="5486400" cy="256032"/>
          </a:xfrm>
          <a:prstGeom prst="rect">
            <a:avLst/>
          </a:prstGeom>
          <a:noFill/>
          <a:ln/>
        </p:spPr>
        <p:txBody>
          <a:bodyPr wrap="square" lIns="0" tIns="0" rIns="0" bIns="0" rtlCol="0" anchor="ctr"/>
          <a:lstStyle/>
          <a:p>
            <a:pPr indent="0" marL="0">
              <a:buNone/>
            </a:pPr>
            <a:r>
              <a:rPr lang="en-US" sz="1150" b="1" spc="360" kern="0" dirty="0">
                <a:solidFill>
                  <a:srgbClr val="D2A24C"/>
                </a:solidFill>
                <a:latin typeface="Calibri" pitchFamily="34" charset="0"/>
                <a:ea typeface="Calibri" pitchFamily="34" charset="-122"/>
                <a:cs typeface="Calibri" pitchFamily="34" charset="-120"/>
              </a:rPr>
              <a:t>EXERCISE 10</a:t>
            </a:r>
            <a:endParaRPr lang="en-US" sz="1150" dirty="0"/>
          </a:p>
        </p:txBody>
      </p:sp>
      <p:sp>
        <p:nvSpPr>
          <p:cNvPr id="4" name="Text 2"/>
          <p:cNvSpPr/>
          <p:nvPr/>
        </p:nvSpPr>
        <p:spPr>
          <a:xfrm>
            <a:off x="841248" y="731520"/>
            <a:ext cx="8131759" cy="80467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Latency Reconstruction</a:t>
            </a:r>
            <a:endParaRPr lang="en-US" sz="3200" dirty="0"/>
          </a:p>
        </p:txBody>
      </p:sp>
      <p:sp>
        <p:nvSpPr>
          <p:cNvPr id="5" name="Text 3"/>
          <p:cNvSpPr/>
          <p:nvPr/>
        </p:nvSpPr>
        <p:spPr>
          <a:xfrm>
            <a:off x="841248"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FORMAT</a:t>
            </a:r>
            <a:endParaRPr lang="en-US" sz="950" dirty="0"/>
          </a:p>
        </p:txBody>
      </p:sp>
      <p:sp>
        <p:nvSpPr>
          <p:cNvPr id="6" name="Text 4"/>
          <p:cNvSpPr/>
          <p:nvPr/>
        </p:nvSpPr>
        <p:spPr>
          <a:xfrm>
            <a:off x="841248"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Small groups, forensic</a:t>
            </a:r>
            <a:endParaRPr lang="en-US" sz="1300" dirty="0"/>
          </a:p>
        </p:txBody>
      </p:sp>
      <p:sp>
        <p:nvSpPr>
          <p:cNvPr id="7" name="Text 5"/>
          <p:cNvSpPr/>
          <p:nvPr/>
        </p:nvSpPr>
        <p:spPr>
          <a:xfrm>
            <a:off x="4420514"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TIME</a:t>
            </a:r>
            <a:endParaRPr lang="en-US" sz="950" dirty="0"/>
          </a:p>
        </p:txBody>
      </p:sp>
      <p:sp>
        <p:nvSpPr>
          <p:cNvPr id="8" name="Text 6"/>
          <p:cNvSpPr/>
          <p:nvPr/>
        </p:nvSpPr>
        <p:spPr>
          <a:xfrm>
            <a:off x="4420514"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45 minutes</a:t>
            </a:r>
            <a:endParaRPr lang="en-US" sz="1300" dirty="0"/>
          </a:p>
        </p:txBody>
      </p:sp>
      <p:sp>
        <p:nvSpPr>
          <p:cNvPr id="9" name="Text 7"/>
          <p:cNvSpPr/>
          <p:nvPr/>
        </p:nvSpPr>
        <p:spPr>
          <a:xfrm>
            <a:off x="7999781"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OUTPUT</a:t>
            </a:r>
            <a:endParaRPr lang="en-US" sz="950" dirty="0"/>
          </a:p>
        </p:txBody>
      </p:sp>
      <p:sp>
        <p:nvSpPr>
          <p:cNvPr id="10" name="Text 8"/>
          <p:cNvSpPr/>
          <p:nvPr/>
        </p:nvSpPr>
        <p:spPr>
          <a:xfrm>
            <a:off x="7999781"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published decision-rights grid with latency standards</a:t>
            </a:r>
            <a:endParaRPr lang="en-US" sz="1300" dirty="0"/>
          </a:p>
        </p:txBody>
      </p:sp>
      <p:sp>
        <p:nvSpPr>
          <p:cNvPr id="11" name="Shape 9"/>
          <p:cNvSpPr/>
          <p:nvPr/>
        </p:nvSpPr>
        <p:spPr>
          <a:xfrm>
            <a:off x="841248" y="2414016"/>
            <a:ext cx="10509199" cy="18288"/>
          </a:xfrm>
          <a:prstGeom prst="rect">
            <a:avLst/>
          </a:prstGeom>
          <a:solidFill>
            <a:srgbClr val="2C4763"/>
          </a:solidFill>
          <a:ln/>
        </p:spPr>
      </p:sp>
      <p:sp>
        <p:nvSpPr>
          <p:cNvPr id="12" name="Text 10"/>
          <p:cNvSpPr/>
          <p:nvPr/>
        </p:nvSpPr>
        <p:spPr>
          <a:xfrm>
            <a:off x="841248" y="2615184"/>
            <a:ext cx="5120640" cy="219456"/>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THE BRIEF</a:t>
            </a:r>
            <a:endParaRPr lang="en-US" sz="950" dirty="0"/>
          </a:p>
        </p:txBody>
      </p:sp>
      <p:sp>
        <p:nvSpPr>
          <p:cNvPr id="13" name="Text 11"/>
          <p:cNvSpPr/>
          <p:nvPr/>
        </p:nvSpPr>
        <p:spPr>
          <a:xfrm>
            <a:off x="841248" y="2889504"/>
            <a:ext cx="6035040" cy="3310128"/>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Reconstruct the last ten material decisions from calendar and email. Actual artifacts, not memory.</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For each, count two numbers: how many distinct people touched it before signature, and how many elapsed days from first proposal to decision.</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Plot both. Identify the single approver who added the most elapsed days across all ten — without blame, this is a design finding.</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For each decision class, draft the grid: one responsible name, a capped consulted list, informed parties, and a latency standard in days.</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Publish it before the module ends. Unpublished decision rights route every decision through the CEO’s calendar by default.</a:t>
            </a:r>
            <a:endParaRPr lang="en-US" sz="1250" dirty="0"/>
          </a:p>
        </p:txBody>
      </p:sp>
      <p:sp>
        <p:nvSpPr>
          <p:cNvPr id="14" name="Shape 12"/>
          <p:cNvSpPr/>
          <p:nvPr/>
        </p:nvSpPr>
        <p:spPr>
          <a:xfrm>
            <a:off x="7287768" y="2578608"/>
            <a:ext cx="4336999" cy="3675888"/>
          </a:xfrm>
          <a:prstGeom prst="roundRect">
            <a:avLst>
              <a:gd name="adj" fmla="val 1493"/>
            </a:avLst>
          </a:prstGeom>
          <a:solidFill>
            <a:srgbClr val="16324C"/>
          </a:solidFill>
          <a:ln w="12700">
            <a:solidFill>
              <a:srgbClr val="2C4763"/>
            </a:solidFill>
            <a:prstDash val="solid"/>
          </a:ln>
        </p:spPr>
      </p:sp>
      <p:sp>
        <p:nvSpPr>
          <p:cNvPr id="15" name="Text 13"/>
          <p:cNvSpPr/>
          <p:nvPr/>
        </p:nvSpPr>
        <p:spPr>
          <a:xfrm>
            <a:off x="7516368" y="2779776"/>
            <a:ext cx="3834079" cy="219456"/>
          </a:xfrm>
          <a:prstGeom prst="rect">
            <a:avLst/>
          </a:prstGeom>
          <a:noFill/>
          <a:ln/>
        </p:spPr>
        <p:txBody>
          <a:bodyPr wrap="square" lIns="0" tIns="0" rIns="0" bIns="0" rtlCol="0" anchor="ctr"/>
          <a:lstStyle/>
          <a:p>
            <a:pPr indent="0" marL="0">
              <a:buNone/>
            </a:pPr>
            <a:r>
              <a:rPr lang="en-US" sz="950" b="1" spc="200" kern="0" dirty="0">
                <a:solidFill>
                  <a:srgbClr val="D2A24C"/>
                </a:solidFill>
                <a:latin typeface="Calibri" pitchFamily="34" charset="0"/>
                <a:ea typeface="Calibri" pitchFamily="34" charset="-122"/>
                <a:cs typeface="Calibri" pitchFamily="34" charset="-120"/>
              </a:rPr>
              <a:t>WHAT THIS ANCHORS</a:t>
            </a:r>
            <a:endParaRPr lang="en-US" sz="950" dirty="0"/>
          </a:p>
        </p:txBody>
      </p:sp>
      <p:sp>
        <p:nvSpPr>
          <p:cNvPr id="16" name="Text 14"/>
          <p:cNvSpPr/>
          <p:nvPr/>
        </p:nvSpPr>
        <p:spPr>
          <a:xfrm>
            <a:off x="7516368" y="3054096"/>
            <a:ext cx="3834079" cy="3054096"/>
          </a:xfrm>
          <a:prstGeom prst="rect">
            <a:avLst/>
          </a:prstGeom>
          <a:noFill/>
          <a:ln/>
        </p:spPr>
        <p:txBody>
          <a:bodyPr wrap="square" lIns="0" tIns="0" rIns="0" bIns="0" rtlCol="0" anchor="t"/>
          <a:lstStyle/>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In stalled businesses the ten most recent material decisions typically required six to nine touches and thirty to seventy elapsed days. After decision rights are published with latency standards, the same classes run at two to three touches and three to ten days.</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That delta is not administrative housekeeping. Revenue delayed is revenue destroyed at the discount rate, and every uncleared authority is a permanent queue billed to opex every week it exists.</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latency standard is what converts "finance is slow" from a grievance into a measurable miss.</a:t>
            </a:r>
            <a:endParaRPr lang="en-US" sz="1250" dirty="0"/>
          </a:p>
        </p:txBody>
      </p:sp>
      <p:sp>
        <p:nvSpPr>
          <p:cNvPr id="17" name="Text 1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7304A"/>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17304A"/>
          </a:solidFill>
          <a:ln/>
        </p:spPr>
      </p:sp>
      <p:sp>
        <p:nvSpPr>
          <p:cNvPr id="3" name="Text 1"/>
          <p:cNvSpPr/>
          <p:nvPr/>
        </p:nvSpPr>
        <p:spPr>
          <a:xfrm>
            <a:off x="841248" y="1737360"/>
            <a:ext cx="2743200" cy="1463040"/>
          </a:xfrm>
          <a:prstGeom prst="rect">
            <a:avLst/>
          </a:prstGeom>
          <a:noFill/>
          <a:ln/>
        </p:spPr>
        <p:txBody>
          <a:bodyPr wrap="square" lIns="0" tIns="0" rIns="0" bIns="0" rtlCol="0" anchor="ctr"/>
          <a:lstStyle/>
          <a:p>
            <a:pPr indent="0" marL="0">
              <a:buNone/>
            </a:pPr>
            <a:r>
              <a:rPr lang="en-US" sz="9000" b="1" dirty="0">
                <a:solidFill>
                  <a:srgbClr val="3D6491"/>
                </a:solidFill>
                <a:latin typeface="Cambria" pitchFamily="34" charset="0"/>
                <a:ea typeface="Cambria" pitchFamily="34" charset="-122"/>
                <a:cs typeface="Cambria" pitchFamily="34" charset="-120"/>
              </a:rPr>
              <a:t>08</a:t>
            </a:r>
            <a:endParaRPr lang="en-US" sz="9000" dirty="0"/>
          </a:p>
        </p:txBody>
      </p:sp>
      <p:sp>
        <p:nvSpPr>
          <p:cNvPr id="4" name="Text 2"/>
          <p:cNvSpPr/>
          <p:nvPr/>
        </p:nvSpPr>
        <p:spPr>
          <a:xfrm>
            <a:off x="841248" y="3063240"/>
            <a:ext cx="9229039"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AI and Operating Leverage</a:t>
            </a:r>
            <a:endParaRPr lang="en-US" sz="4000" dirty="0"/>
          </a:p>
        </p:txBody>
      </p:sp>
      <p:sp>
        <p:nvSpPr>
          <p:cNvPr id="5" name="Text 3"/>
          <p:cNvSpPr/>
          <p:nvPr/>
        </p:nvSpPr>
        <p:spPr>
          <a:xfrm>
            <a:off x="841248" y="4041648"/>
            <a:ext cx="8412480" cy="914400"/>
          </a:xfrm>
          <a:prstGeom prst="rect">
            <a:avLst/>
          </a:prstGeom>
          <a:noFill/>
          <a:ln/>
        </p:spPr>
        <p:txBody>
          <a:bodyPr wrap="square" lIns="0" tIns="0" rIns="0" bIns="0" rtlCol="0" anchor="ctr"/>
          <a:lstStyle/>
          <a:p>
            <a:pPr indent="0" marL="0">
              <a:lnSpc>
                <a:spcPts val="2200"/>
              </a:lnSpc>
              <a:buNone/>
            </a:pPr>
            <a:r>
              <a:rPr lang="en-US" sz="1600" dirty="0">
                <a:solidFill>
                  <a:srgbClr val="CFDCEA"/>
                </a:solidFill>
                <a:latin typeface="Calibri" pitchFamily="34" charset="0"/>
                <a:ea typeface="Calibri" pitchFamily="34" charset="-122"/>
                <a:cs typeface="Calibri" pitchFamily="34" charset="-120"/>
              </a:rPr>
              <a:t>Intelligence at every workstation. People repositioned to judgment, taste and relationships. Headcount decoupled from revenue by design — and a human signature on anything that leaves the building.</a:t>
            </a:r>
            <a:endParaRPr lang="en-US" sz="1600" dirty="0"/>
          </a:p>
        </p:txBody>
      </p:sp>
      <p:sp>
        <p:nvSpPr>
          <p:cNvPr id="6" name="Text 4"/>
          <p:cNvSpPr/>
          <p:nvPr/>
        </p:nvSpPr>
        <p:spPr>
          <a:xfrm>
            <a:off x="841248" y="5623560"/>
            <a:ext cx="8229600" cy="365760"/>
          </a:xfrm>
          <a:prstGeom prst="rect">
            <a:avLst/>
          </a:prstGeom>
          <a:noFill/>
          <a:ln/>
        </p:spPr>
        <p:txBody>
          <a:bodyPr wrap="square" lIns="0" tIns="0" rIns="0" bIns="0" rtlCol="0" anchor="ctr"/>
          <a:lstStyle/>
          <a:p>
            <a:pPr indent="0" marL="0">
              <a:buNone/>
            </a:pPr>
            <a:r>
              <a:rPr lang="en-US" sz="1200" b="1" spc="160" kern="0" dirty="0">
                <a:solidFill>
                  <a:srgbClr val="7FA3C9"/>
                </a:solidFill>
                <a:latin typeface="Calibri" pitchFamily="34" charset="0"/>
                <a:ea typeface="Calibri" pitchFamily="34" charset="-122"/>
                <a:cs typeface="Calibri" pitchFamily="34" charset="-120"/>
              </a:rPr>
              <a:t>ONE HOUR  ·  EXERCISE 11</a:t>
            </a:r>
            <a:endParaRPr lang="en-US" sz="1200" dirty="0"/>
          </a:p>
        </p:txBody>
      </p:sp>
      <p:sp>
        <p:nvSpPr>
          <p:cNvPr id="7" name="Text 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THE EVIDENCE, NOT THE ENTHUSIASM</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What actually works</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Three findings that should govern every technology decision we make this year.</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40</a:t>
            </a:r>
            <a:endParaRPr lang="en-US" sz="1000" dirty="0"/>
          </a:p>
        </p:txBody>
      </p:sp>
      <p:sp>
        <p:nvSpPr>
          <p:cNvPr id="6" name="Shape 4"/>
          <p:cNvSpPr/>
          <p:nvPr/>
        </p:nvSpPr>
        <p:spPr>
          <a:xfrm>
            <a:off x="566928" y="2148840"/>
            <a:ext cx="3515258" cy="3291840"/>
          </a:xfrm>
          <a:prstGeom prst="roundRect">
            <a:avLst>
              <a:gd name="adj" fmla="val 1667"/>
            </a:avLst>
          </a:prstGeom>
          <a:solidFill>
            <a:srgbClr val="EDF1F7"/>
          </a:solidFill>
          <a:ln w="12700">
            <a:solidFill>
              <a:srgbClr val="D6DEE8"/>
            </a:solidFill>
            <a:prstDash val="solid"/>
          </a:ln>
        </p:spPr>
      </p:sp>
      <p:sp>
        <p:nvSpPr>
          <p:cNvPr id="7" name="Text 5"/>
          <p:cNvSpPr/>
          <p:nvPr/>
        </p:nvSpPr>
        <p:spPr>
          <a:xfrm>
            <a:off x="804672" y="2368296"/>
            <a:ext cx="3058058" cy="219456"/>
          </a:xfrm>
          <a:prstGeom prst="rect">
            <a:avLst/>
          </a:prstGeom>
          <a:noFill/>
          <a:ln/>
        </p:spPr>
        <p:txBody>
          <a:bodyPr wrap="square" lIns="0" tIns="0" rIns="0" bIns="0" rtlCol="0" anchor="ctr"/>
          <a:lstStyle/>
          <a:p>
            <a:pPr indent="0" marL="0">
              <a:buNone/>
            </a:pPr>
            <a:r>
              <a:rPr lang="en-US" sz="950" b="1" spc="200" kern="0" dirty="0">
                <a:solidFill>
                  <a:srgbClr val="2E5A8C"/>
                </a:solidFill>
                <a:latin typeface="Calibri" pitchFamily="34" charset="0"/>
                <a:ea typeface="Calibri" pitchFamily="34" charset="-122"/>
                <a:cs typeface="Calibri" pitchFamily="34" charset="-120"/>
              </a:rPr>
              <a:t>3:1</a:t>
            </a:r>
            <a:endParaRPr lang="en-US" sz="950" dirty="0"/>
          </a:p>
        </p:txBody>
      </p:sp>
      <p:sp>
        <p:nvSpPr>
          <p:cNvPr id="8" name="Text 6"/>
          <p:cNvSpPr/>
          <p:nvPr/>
        </p:nvSpPr>
        <p:spPr>
          <a:xfrm>
            <a:off x="804672" y="2624328"/>
            <a:ext cx="3058058" cy="566928"/>
          </a:xfrm>
          <a:prstGeom prst="rect">
            <a:avLst/>
          </a:prstGeom>
          <a:noFill/>
          <a:ln/>
        </p:spPr>
        <p:txBody>
          <a:bodyPr wrap="square" lIns="0" tIns="0" rIns="0" bIns="0" rtlCol="0" anchor="t"/>
          <a:lstStyle/>
          <a:p>
            <a:pPr indent="0" marL="0">
              <a:buNone/>
            </a:pPr>
            <a:r>
              <a:rPr lang="en-US" sz="1600" b="1" dirty="0">
                <a:solidFill>
                  <a:srgbClr val="17304A"/>
                </a:solidFill>
                <a:latin typeface="Calibri" pitchFamily="34" charset="0"/>
                <a:ea typeface="Calibri" pitchFamily="34" charset="-122"/>
                <a:cs typeface="Calibri" pitchFamily="34" charset="-120"/>
              </a:rPr>
              <a:t>Buy, then orchestrate</a:t>
            </a:r>
            <a:endParaRPr lang="en-US" sz="1600" dirty="0"/>
          </a:p>
        </p:txBody>
      </p:sp>
      <p:sp>
        <p:nvSpPr>
          <p:cNvPr id="9" name="Text 7"/>
          <p:cNvSpPr/>
          <p:nvPr/>
        </p:nvSpPr>
        <p:spPr>
          <a:xfrm>
            <a:off x="804672" y="3227832"/>
            <a:ext cx="3058058" cy="1993392"/>
          </a:xfrm>
          <a:prstGeom prst="rect">
            <a:avLst/>
          </a:prstGeom>
          <a:noFill/>
          <a:ln/>
        </p:spPr>
        <p:txBody>
          <a:bodyPr wrap="square" lIns="0" tIns="0" rIns="0" bIns="0" rtlCol="0" anchor="t"/>
          <a:lstStyle/>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Across 300+ enterprise GenAI deployments, purchased and partnered solutions succeeded roughly 67% of the time against 22% for internal builds.</a:t>
            </a:r>
            <a:endParaRPr lang="en-US" sz="1250" dirty="0"/>
          </a:p>
          <a:p>
            <a:pPr indent="0" marL="0">
              <a:lnSpc>
                <a:spcPts val="1600"/>
              </a:lnSpc>
              <a:buNone/>
            </a:pPr>
            <a:endParaRPr lang="en-US" sz="1250" dirty="0"/>
          </a:p>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Buy capability. Concentrate internal effort on the workflow layer where it becomes P&amp;L impact.</a:t>
            </a:r>
            <a:endParaRPr lang="en-US" sz="1250" dirty="0"/>
          </a:p>
        </p:txBody>
      </p:sp>
      <p:sp>
        <p:nvSpPr>
          <p:cNvPr id="10" name="Shape 8"/>
          <p:cNvSpPr/>
          <p:nvPr/>
        </p:nvSpPr>
        <p:spPr>
          <a:xfrm>
            <a:off x="4338218" y="2148840"/>
            <a:ext cx="3515258" cy="3291840"/>
          </a:xfrm>
          <a:prstGeom prst="roundRect">
            <a:avLst>
              <a:gd name="adj" fmla="val 1667"/>
            </a:avLst>
          </a:prstGeom>
          <a:solidFill>
            <a:srgbClr val="EDF1F7"/>
          </a:solidFill>
          <a:ln w="12700">
            <a:solidFill>
              <a:srgbClr val="D6DEE8"/>
            </a:solidFill>
            <a:prstDash val="solid"/>
          </a:ln>
        </p:spPr>
      </p:sp>
      <p:sp>
        <p:nvSpPr>
          <p:cNvPr id="11" name="Text 9"/>
          <p:cNvSpPr/>
          <p:nvPr/>
        </p:nvSpPr>
        <p:spPr>
          <a:xfrm>
            <a:off x="4575962" y="2368296"/>
            <a:ext cx="3058058" cy="219456"/>
          </a:xfrm>
          <a:prstGeom prst="rect">
            <a:avLst/>
          </a:prstGeom>
          <a:noFill/>
          <a:ln/>
        </p:spPr>
        <p:txBody>
          <a:bodyPr wrap="square" lIns="0" tIns="0" rIns="0" bIns="0" rtlCol="0" anchor="ctr"/>
          <a:lstStyle/>
          <a:p>
            <a:pPr indent="0" marL="0">
              <a:buNone/>
            </a:pPr>
            <a:r>
              <a:rPr lang="en-US" sz="950" b="1" spc="200" kern="0" dirty="0">
                <a:solidFill>
                  <a:srgbClr val="8C2B2B"/>
                </a:solidFill>
                <a:latin typeface="Calibri" pitchFamily="34" charset="0"/>
                <a:ea typeface="Calibri" pitchFamily="34" charset="-122"/>
                <a:cs typeface="Calibri" pitchFamily="34" charset="-120"/>
              </a:rPr>
              <a:t>95%</a:t>
            </a:r>
            <a:endParaRPr lang="en-US" sz="950" dirty="0"/>
          </a:p>
        </p:txBody>
      </p:sp>
      <p:sp>
        <p:nvSpPr>
          <p:cNvPr id="12" name="Text 10"/>
          <p:cNvSpPr/>
          <p:nvPr/>
        </p:nvSpPr>
        <p:spPr>
          <a:xfrm>
            <a:off x="4575962" y="2624328"/>
            <a:ext cx="3058058" cy="566928"/>
          </a:xfrm>
          <a:prstGeom prst="rect">
            <a:avLst/>
          </a:prstGeom>
          <a:noFill/>
          <a:ln/>
        </p:spPr>
        <p:txBody>
          <a:bodyPr wrap="square" lIns="0" tIns="0" rIns="0" bIns="0" rtlCol="0" anchor="t"/>
          <a:lstStyle/>
          <a:p>
            <a:pPr indent="0" marL="0">
              <a:buNone/>
            </a:pPr>
            <a:r>
              <a:rPr lang="en-US" sz="1600" b="1" dirty="0">
                <a:solidFill>
                  <a:srgbClr val="17304A"/>
                </a:solidFill>
                <a:latin typeface="Calibri" pitchFamily="34" charset="0"/>
                <a:ea typeface="Calibri" pitchFamily="34" charset="-122"/>
                <a:cs typeface="Calibri" pitchFamily="34" charset="-120"/>
              </a:rPr>
              <a:t>The bolt-on failure</a:t>
            </a:r>
            <a:endParaRPr lang="en-US" sz="1600" dirty="0"/>
          </a:p>
        </p:txBody>
      </p:sp>
      <p:sp>
        <p:nvSpPr>
          <p:cNvPr id="13" name="Text 11"/>
          <p:cNvSpPr/>
          <p:nvPr/>
        </p:nvSpPr>
        <p:spPr>
          <a:xfrm>
            <a:off x="4575962" y="3227832"/>
            <a:ext cx="3058058" cy="1993392"/>
          </a:xfrm>
          <a:prstGeom prst="rect">
            <a:avLst/>
          </a:prstGeom>
          <a:noFill/>
          <a:ln/>
        </p:spPr>
        <p:txBody>
          <a:bodyPr wrap="square" lIns="0" tIns="0" rIns="0" bIns="0" rtlCol="0" anchor="t"/>
          <a:lstStyle/>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Share of enterprise GenAI spend that has produced no measurable P&amp;L impact.</a:t>
            </a:r>
            <a:endParaRPr lang="en-US" sz="1250" dirty="0"/>
          </a:p>
          <a:p>
            <a:pPr indent="0" marL="0">
              <a:lnSpc>
                <a:spcPts val="1600"/>
              </a:lnSpc>
              <a:buNone/>
            </a:pPr>
            <a:endParaRPr lang="en-US" sz="1250" dirty="0"/>
          </a:p>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The cause is consistent: tools purchased and never embedded in a real workflow. The org chart was never redrawn, so nothing changed except the invoice.</a:t>
            </a:r>
            <a:endParaRPr lang="en-US" sz="1250" dirty="0"/>
          </a:p>
        </p:txBody>
      </p:sp>
      <p:sp>
        <p:nvSpPr>
          <p:cNvPr id="14" name="Shape 12"/>
          <p:cNvSpPr/>
          <p:nvPr/>
        </p:nvSpPr>
        <p:spPr>
          <a:xfrm>
            <a:off x="8109509" y="2148840"/>
            <a:ext cx="3515258" cy="3291840"/>
          </a:xfrm>
          <a:prstGeom prst="roundRect">
            <a:avLst>
              <a:gd name="adj" fmla="val 1667"/>
            </a:avLst>
          </a:prstGeom>
          <a:solidFill>
            <a:srgbClr val="EDF1F7"/>
          </a:solidFill>
          <a:ln w="12700">
            <a:solidFill>
              <a:srgbClr val="D6DEE8"/>
            </a:solidFill>
            <a:prstDash val="solid"/>
          </a:ln>
        </p:spPr>
      </p:sp>
      <p:sp>
        <p:nvSpPr>
          <p:cNvPr id="15" name="Text 13"/>
          <p:cNvSpPr/>
          <p:nvPr/>
        </p:nvSpPr>
        <p:spPr>
          <a:xfrm>
            <a:off x="8347253" y="2368296"/>
            <a:ext cx="3058058" cy="219456"/>
          </a:xfrm>
          <a:prstGeom prst="rect">
            <a:avLst/>
          </a:prstGeom>
          <a:noFill/>
          <a:ln/>
        </p:spPr>
        <p:txBody>
          <a:bodyPr wrap="square" lIns="0" tIns="0" rIns="0" bIns="0" rtlCol="0" anchor="ctr"/>
          <a:lstStyle/>
          <a:p>
            <a:pPr indent="0" marL="0">
              <a:buNone/>
            </a:pPr>
            <a:r>
              <a:rPr lang="en-US" sz="950" b="1" spc="200" kern="0" dirty="0">
                <a:solidFill>
                  <a:srgbClr val="A8801F"/>
                </a:solidFill>
                <a:latin typeface="Calibri" pitchFamily="34" charset="0"/>
                <a:ea typeface="Calibri" pitchFamily="34" charset="-122"/>
                <a:cs typeface="Calibri" pitchFamily="34" charset="-120"/>
              </a:rPr>
              <a:t>19 POINTS</a:t>
            </a:r>
            <a:endParaRPr lang="en-US" sz="950" dirty="0"/>
          </a:p>
        </p:txBody>
      </p:sp>
      <p:sp>
        <p:nvSpPr>
          <p:cNvPr id="16" name="Text 14"/>
          <p:cNvSpPr/>
          <p:nvPr/>
        </p:nvSpPr>
        <p:spPr>
          <a:xfrm>
            <a:off x="8347253" y="2624328"/>
            <a:ext cx="3058058" cy="566928"/>
          </a:xfrm>
          <a:prstGeom prst="rect">
            <a:avLst/>
          </a:prstGeom>
          <a:noFill/>
          <a:ln/>
        </p:spPr>
        <p:txBody>
          <a:bodyPr wrap="square" lIns="0" tIns="0" rIns="0" bIns="0" rtlCol="0" anchor="t"/>
          <a:lstStyle/>
          <a:p>
            <a:pPr indent="0" marL="0">
              <a:buNone/>
            </a:pPr>
            <a:r>
              <a:rPr lang="en-US" sz="1600" b="1" dirty="0">
                <a:solidFill>
                  <a:srgbClr val="17304A"/>
                </a:solidFill>
                <a:latin typeface="Calibri" pitchFamily="34" charset="0"/>
                <a:ea typeface="Calibri" pitchFamily="34" charset="-122"/>
                <a:cs typeface="Calibri" pitchFamily="34" charset="-120"/>
              </a:rPr>
              <a:t>The capability frontier</a:t>
            </a:r>
            <a:endParaRPr lang="en-US" sz="1600" dirty="0"/>
          </a:p>
        </p:txBody>
      </p:sp>
      <p:sp>
        <p:nvSpPr>
          <p:cNvPr id="17" name="Text 15"/>
          <p:cNvSpPr/>
          <p:nvPr/>
        </p:nvSpPr>
        <p:spPr>
          <a:xfrm>
            <a:off x="8347253" y="3227832"/>
            <a:ext cx="3058058" cy="1993392"/>
          </a:xfrm>
          <a:prstGeom prst="rect">
            <a:avLst/>
          </a:prstGeom>
          <a:noFill/>
          <a:ln/>
        </p:spPr>
        <p:txBody>
          <a:bodyPr wrap="square" lIns="0" tIns="0" rIns="0" bIns="0" rtlCol="0" anchor="t"/>
          <a:lstStyle/>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Inside the tool’s frontier, people work faster at higher quality. Outside it, one controlled study measured a 19-point loss of correctness against unassisted peers.</a:t>
            </a:r>
            <a:endParaRPr lang="en-US" sz="1250" dirty="0"/>
          </a:p>
          <a:p>
            <a:pPr indent="0" marL="0">
              <a:lnSpc>
                <a:spcPts val="1600"/>
              </a:lnSpc>
              <a:buNone/>
            </a:pPr>
            <a:endParaRPr lang="en-US" sz="1250" dirty="0"/>
          </a:p>
          <a:p>
            <a:pPr indent="0" marL="0">
              <a:lnSpc>
                <a:spcPts val="1600"/>
              </a:lnSpc>
              <a:buNone/>
            </a:pPr>
            <a:r>
              <a:rPr lang="en-US" sz="1250" dirty="0">
                <a:solidFill>
                  <a:srgbClr val="333F4D"/>
                </a:solidFill>
                <a:latin typeface="Calibri" pitchFamily="34" charset="0"/>
                <a:ea typeface="Calibri" pitchFamily="34" charset="-122"/>
                <a:cs typeface="Calibri" pitchFamily="34" charset="-120"/>
              </a:rPr>
              <a:t>The service-level definition is how we operationalise that line.</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THE TWO ORG CHARTS</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The AI-native enterprise maintains two</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The reorganisation the laggards skip is precisely this: drawing the second chart, assigning owners, and holding it to service levels.</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41</a:t>
            </a:r>
            <a:endParaRPr lang="en-US" sz="1000" dirty="0"/>
          </a:p>
        </p:txBody>
      </p:sp>
      <p:sp>
        <p:nvSpPr>
          <p:cNvPr id="6" name="Shape 4"/>
          <p:cNvSpPr/>
          <p:nvPr/>
        </p:nvSpPr>
        <p:spPr>
          <a:xfrm>
            <a:off x="566928" y="2148840"/>
            <a:ext cx="5373472" cy="4050792"/>
          </a:xfrm>
          <a:prstGeom prst="roundRect">
            <a:avLst>
              <a:gd name="adj" fmla="val 1354"/>
            </a:avLst>
          </a:prstGeom>
          <a:solidFill>
            <a:srgbClr val="EDF1F7"/>
          </a:solidFill>
          <a:ln w="12700">
            <a:solidFill>
              <a:srgbClr val="D6DEE8"/>
            </a:solidFill>
            <a:prstDash val="solid"/>
          </a:ln>
        </p:spPr>
      </p:sp>
      <p:sp>
        <p:nvSpPr>
          <p:cNvPr id="7" name="Text 5"/>
          <p:cNvSpPr/>
          <p:nvPr/>
        </p:nvSpPr>
        <p:spPr>
          <a:xfrm>
            <a:off x="841248" y="2386584"/>
            <a:ext cx="4824832" cy="237744"/>
          </a:xfrm>
          <a:prstGeom prst="rect">
            <a:avLst/>
          </a:prstGeom>
          <a:noFill/>
          <a:ln/>
        </p:spPr>
        <p:txBody>
          <a:bodyPr wrap="square" lIns="0" tIns="0" rIns="0" bIns="0" rtlCol="0" anchor="ctr"/>
          <a:lstStyle/>
          <a:p>
            <a:pPr indent="0" marL="0">
              <a:buNone/>
            </a:pPr>
            <a:r>
              <a:rPr lang="en-US" sz="1000" b="1" spc="220" kern="0" dirty="0">
                <a:solidFill>
                  <a:srgbClr val="17304A"/>
                </a:solidFill>
                <a:latin typeface="Calibri" pitchFamily="34" charset="0"/>
                <a:ea typeface="Calibri" pitchFamily="34" charset="-122"/>
                <a:cs typeface="Calibri" pitchFamily="34" charset="-120"/>
              </a:rPr>
              <a:t>CHART ONE — SHORT</a:t>
            </a:r>
            <a:endParaRPr lang="en-US" sz="1000" dirty="0"/>
          </a:p>
        </p:txBody>
      </p:sp>
      <p:sp>
        <p:nvSpPr>
          <p:cNvPr id="8" name="Text 6"/>
          <p:cNvSpPr/>
          <p:nvPr/>
        </p:nvSpPr>
        <p:spPr>
          <a:xfrm>
            <a:off x="841248" y="2660904"/>
            <a:ext cx="4824832" cy="502920"/>
          </a:xfrm>
          <a:prstGeom prst="rect">
            <a:avLst/>
          </a:prstGeom>
          <a:noFill/>
          <a:ln/>
        </p:spPr>
        <p:txBody>
          <a:bodyPr wrap="square" lIns="0" tIns="0" rIns="0" bIns="0" rtlCol="0" anchor="ctr"/>
          <a:lstStyle/>
          <a:p>
            <a:pPr indent="0" marL="0">
              <a:buNone/>
            </a:pPr>
            <a:r>
              <a:rPr lang="en-US" sz="1700" b="1" dirty="0">
                <a:solidFill>
                  <a:srgbClr val="17304A"/>
                </a:solidFill>
                <a:latin typeface="Calibri" pitchFamily="34" charset="0"/>
                <a:ea typeface="Calibri" pitchFamily="34" charset="-122"/>
                <a:cs typeface="Calibri" pitchFamily="34" charset="-120"/>
              </a:rPr>
              <a:t>The accountable humans</a:t>
            </a:r>
            <a:endParaRPr lang="en-US" sz="1700" dirty="0"/>
          </a:p>
        </p:txBody>
      </p:sp>
      <p:sp>
        <p:nvSpPr>
          <p:cNvPr id="9" name="Text 7"/>
          <p:cNvSpPr/>
          <p:nvPr/>
        </p:nvSpPr>
        <p:spPr>
          <a:xfrm>
            <a:off x="841248" y="3209544"/>
            <a:ext cx="4824832" cy="272491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Deliberately lean. No additional W-2 headcount beyond a lean executive structure until the automation review fails.</a:t>
            </a:r>
            <a:endParaRPr lang="en-US" sz="1300" dirty="0"/>
          </a:p>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Every proposed hire first fails a documented review: what was attempted, and what was the measured limit?</a:t>
            </a:r>
            <a:endParaRPr lang="en-US" sz="1300" dirty="0"/>
          </a:p>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Payroll is the most illiquid, highest-switching-cost vendor contract a firm ever signs.</a:t>
            </a:r>
            <a:endParaRPr lang="en-US" sz="1300" dirty="0"/>
          </a:p>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A $120,000 hire, loaded and compounded, is a seven-figure decade-long commitment against a problem a $2,000-a-month orchestration layer may solve.</a:t>
            </a:r>
            <a:endParaRPr lang="en-US" sz="1300" dirty="0"/>
          </a:p>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People are spent where only people work: taste, judgment, relationships, irreversible calls.</a:t>
            </a:r>
            <a:endParaRPr lang="en-US" sz="1300" dirty="0"/>
          </a:p>
        </p:txBody>
      </p:sp>
      <p:sp>
        <p:nvSpPr>
          <p:cNvPr id="10" name="Shape 8"/>
          <p:cNvSpPr/>
          <p:nvPr/>
        </p:nvSpPr>
        <p:spPr>
          <a:xfrm>
            <a:off x="6251296" y="2148840"/>
            <a:ext cx="5373472" cy="4050792"/>
          </a:xfrm>
          <a:prstGeom prst="roundRect">
            <a:avLst>
              <a:gd name="adj" fmla="val 1354"/>
            </a:avLst>
          </a:prstGeom>
          <a:solidFill>
            <a:srgbClr val="EDF1F7"/>
          </a:solidFill>
          <a:ln w="12700">
            <a:solidFill>
              <a:srgbClr val="D6DEE8"/>
            </a:solidFill>
            <a:prstDash val="solid"/>
          </a:ln>
        </p:spPr>
      </p:sp>
      <p:sp>
        <p:nvSpPr>
          <p:cNvPr id="11" name="Text 9"/>
          <p:cNvSpPr/>
          <p:nvPr/>
        </p:nvSpPr>
        <p:spPr>
          <a:xfrm>
            <a:off x="6525616" y="2386584"/>
            <a:ext cx="4824832" cy="237744"/>
          </a:xfrm>
          <a:prstGeom prst="rect">
            <a:avLst/>
          </a:prstGeom>
          <a:noFill/>
          <a:ln/>
        </p:spPr>
        <p:txBody>
          <a:bodyPr wrap="square" lIns="0" tIns="0" rIns="0" bIns="0" rtlCol="0" anchor="ctr"/>
          <a:lstStyle/>
          <a:p>
            <a:pPr indent="0" marL="0">
              <a:buNone/>
            </a:pPr>
            <a:r>
              <a:rPr lang="en-US" sz="1000" b="1" spc="220" kern="0" dirty="0">
                <a:solidFill>
                  <a:srgbClr val="8C2B2B"/>
                </a:solidFill>
                <a:latin typeface="Calibri" pitchFamily="34" charset="0"/>
                <a:ea typeface="Calibri" pitchFamily="34" charset="-122"/>
                <a:cs typeface="Calibri" pitchFamily="34" charset="-120"/>
              </a:rPr>
              <a:t>CHART TWO — LONG</a:t>
            </a:r>
            <a:endParaRPr lang="en-US" sz="1000" dirty="0"/>
          </a:p>
        </p:txBody>
      </p:sp>
      <p:sp>
        <p:nvSpPr>
          <p:cNvPr id="12" name="Text 10"/>
          <p:cNvSpPr/>
          <p:nvPr/>
        </p:nvSpPr>
        <p:spPr>
          <a:xfrm>
            <a:off x="6525616" y="2660904"/>
            <a:ext cx="4824832" cy="502920"/>
          </a:xfrm>
          <a:prstGeom prst="rect">
            <a:avLst/>
          </a:prstGeom>
          <a:noFill/>
          <a:ln/>
        </p:spPr>
        <p:txBody>
          <a:bodyPr wrap="square" lIns="0" tIns="0" rIns="0" bIns="0" rtlCol="0" anchor="ctr"/>
          <a:lstStyle/>
          <a:p>
            <a:pPr indent="0" marL="0">
              <a:buNone/>
            </a:pPr>
            <a:r>
              <a:rPr lang="en-US" sz="1700" b="1" dirty="0">
                <a:solidFill>
                  <a:srgbClr val="17304A"/>
                </a:solidFill>
                <a:latin typeface="Calibri" pitchFamily="34" charset="0"/>
                <a:ea typeface="Calibri" pitchFamily="34" charset="-122"/>
                <a:cs typeface="Calibri" pitchFamily="34" charset="-120"/>
              </a:rPr>
              <a:t>The agent workflows</a:t>
            </a:r>
            <a:endParaRPr lang="en-US" sz="1700" dirty="0"/>
          </a:p>
        </p:txBody>
      </p:sp>
      <p:sp>
        <p:nvSpPr>
          <p:cNvPr id="13" name="Text 11"/>
          <p:cNvSpPr/>
          <p:nvPr/>
        </p:nvSpPr>
        <p:spPr>
          <a:xfrm>
            <a:off x="6525616" y="3209544"/>
            <a:ext cx="4824832" cy="272491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Each has exactly one named human owner. An unowned agent is worse than no agent — it manufactures false confidence in monitoring that is not happening.</a:t>
            </a:r>
            <a:endParaRPr lang="en-US" sz="1300" dirty="0"/>
          </a:p>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Each has a written service-level definition: what ships autonomously (refresh, flag, draft, brief) and what requires a gate (publish, release, sign).</a:t>
            </a:r>
            <a:endParaRPr lang="en-US" sz="1300" dirty="0"/>
          </a:p>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Each is reviewed in the same cadence stack as any team.</a:t>
            </a:r>
            <a:endParaRPr lang="en-US" sz="1300" dirty="0"/>
          </a:p>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Credentials scoped to the service level and nothing more. Every action logged against the owner’s name.</a:t>
            </a:r>
            <a:endParaRPr lang="en-US" sz="1300" dirty="0"/>
          </a:p>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Customer-facing workflows audited on a live sample weekly — not only on escalations.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E1F31"/>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0E1F31"/>
          </a:solidFill>
          <a:ln/>
        </p:spPr>
      </p:sp>
      <p:sp>
        <p:nvSpPr>
          <p:cNvPr id="3" name="Text 1"/>
          <p:cNvSpPr/>
          <p:nvPr/>
        </p:nvSpPr>
        <p:spPr>
          <a:xfrm>
            <a:off x="841248" y="384048"/>
            <a:ext cx="5486400" cy="256032"/>
          </a:xfrm>
          <a:prstGeom prst="rect">
            <a:avLst/>
          </a:prstGeom>
          <a:noFill/>
          <a:ln/>
        </p:spPr>
        <p:txBody>
          <a:bodyPr wrap="square" lIns="0" tIns="0" rIns="0" bIns="0" rtlCol="0" anchor="ctr"/>
          <a:lstStyle/>
          <a:p>
            <a:pPr indent="0" marL="0">
              <a:buNone/>
            </a:pPr>
            <a:r>
              <a:rPr lang="en-US" sz="1150" b="1" spc="360" kern="0" dirty="0">
                <a:solidFill>
                  <a:srgbClr val="D2A24C"/>
                </a:solidFill>
                <a:latin typeface="Calibri" pitchFamily="34" charset="0"/>
                <a:ea typeface="Calibri" pitchFamily="34" charset="-122"/>
                <a:cs typeface="Calibri" pitchFamily="34" charset="-120"/>
              </a:rPr>
              <a:t>EXERCISE 11</a:t>
            </a:r>
            <a:endParaRPr lang="en-US" sz="1150" dirty="0"/>
          </a:p>
        </p:txBody>
      </p:sp>
      <p:sp>
        <p:nvSpPr>
          <p:cNvPr id="4" name="Text 2"/>
          <p:cNvSpPr/>
          <p:nvPr/>
        </p:nvSpPr>
        <p:spPr>
          <a:xfrm>
            <a:off x="841248" y="731520"/>
            <a:ext cx="8131759" cy="80467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Workflow Re-architecture</a:t>
            </a:r>
            <a:endParaRPr lang="en-US" sz="3200" dirty="0"/>
          </a:p>
        </p:txBody>
      </p:sp>
      <p:sp>
        <p:nvSpPr>
          <p:cNvPr id="5" name="Text 3"/>
          <p:cNvSpPr/>
          <p:nvPr/>
        </p:nvSpPr>
        <p:spPr>
          <a:xfrm>
            <a:off x="841248"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FORMAT</a:t>
            </a:r>
            <a:endParaRPr lang="en-US" sz="950" dirty="0"/>
          </a:p>
        </p:txBody>
      </p:sp>
      <p:sp>
        <p:nvSpPr>
          <p:cNvPr id="6" name="Text 4"/>
          <p:cNvSpPr/>
          <p:nvPr/>
        </p:nvSpPr>
        <p:spPr>
          <a:xfrm>
            <a:off x="841248"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Function teams</a:t>
            </a:r>
            <a:endParaRPr lang="en-US" sz="1300" dirty="0"/>
          </a:p>
        </p:txBody>
      </p:sp>
      <p:sp>
        <p:nvSpPr>
          <p:cNvPr id="7" name="Text 5"/>
          <p:cNvSpPr/>
          <p:nvPr/>
        </p:nvSpPr>
        <p:spPr>
          <a:xfrm>
            <a:off x="4420514"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TIME</a:t>
            </a:r>
            <a:endParaRPr lang="en-US" sz="950" dirty="0"/>
          </a:p>
        </p:txBody>
      </p:sp>
      <p:sp>
        <p:nvSpPr>
          <p:cNvPr id="8" name="Text 6"/>
          <p:cNvSpPr/>
          <p:nvPr/>
        </p:nvSpPr>
        <p:spPr>
          <a:xfrm>
            <a:off x="4420514"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50 minutes</a:t>
            </a:r>
            <a:endParaRPr lang="en-US" sz="1300" dirty="0"/>
          </a:p>
        </p:txBody>
      </p:sp>
      <p:sp>
        <p:nvSpPr>
          <p:cNvPr id="9" name="Text 7"/>
          <p:cNvSpPr/>
          <p:nvPr/>
        </p:nvSpPr>
        <p:spPr>
          <a:xfrm>
            <a:off x="7999781"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OUTPUT</a:t>
            </a:r>
            <a:endParaRPr lang="en-US" sz="950" dirty="0"/>
          </a:p>
        </p:txBody>
      </p:sp>
      <p:sp>
        <p:nvSpPr>
          <p:cNvPr id="10" name="Text 8"/>
          <p:cNvSpPr/>
          <p:nvPr/>
        </p:nvSpPr>
        <p:spPr>
          <a:xfrm>
            <a:off x="7999781"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Three workflows redesigned, each with an owner and a service level</a:t>
            </a:r>
            <a:endParaRPr lang="en-US" sz="1300" dirty="0"/>
          </a:p>
        </p:txBody>
      </p:sp>
      <p:sp>
        <p:nvSpPr>
          <p:cNvPr id="11" name="Shape 9"/>
          <p:cNvSpPr/>
          <p:nvPr/>
        </p:nvSpPr>
        <p:spPr>
          <a:xfrm>
            <a:off x="841248" y="2414016"/>
            <a:ext cx="10509199" cy="18288"/>
          </a:xfrm>
          <a:prstGeom prst="rect">
            <a:avLst/>
          </a:prstGeom>
          <a:solidFill>
            <a:srgbClr val="2C4763"/>
          </a:solidFill>
          <a:ln/>
        </p:spPr>
      </p:sp>
      <p:sp>
        <p:nvSpPr>
          <p:cNvPr id="12" name="Text 10"/>
          <p:cNvSpPr/>
          <p:nvPr/>
        </p:nvSpPr>
        <p:spPr>
          <a:xfrm>
            <a:off x="841248" y="2615184"/>
            <a:ext cx="5120640" cy="219456"/>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THE BRIEF</a:t>
            </a:r>
            <a:endParaRPr lang="en-US" sz="950" dirty="0"/>
          </a:p>
        </p:txBody>
      </p:sp>
      <p:sp>
        <p:nvSpPr>
          <p:cNvPr id="13" name="Text 11"/>
          <p:cNvSpPr/>
          <p:nvPr/>
        </p:nvSpPr>
        <p:spPr>
          <a:xfrm>
            <a:off x="841248" y="2889504"/>
            <a:ext cx="6035040" cy="3310128"/>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Each function picks its three most time-consuming recurring workflows. Actual hours per month, estimated honestly.</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For each, answer the standing question: what does this workflow look like if intelligence costs pennies at every workstation?</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Draw the line explicitly. Which outputs ship autonomously — refresh, flag, draft, brief. Which require a human signature — publish, release, sign.</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Name the single human owner. Write the service-level definition in one sentence.</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Apply the honest test: does this shorten a learning cycle, or does it only generate artifacts faster? The second is overproduction waste and does not get built.</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Estimate hours returned per month, and name what those hours get spent on instead.</a:t>
            </a:r>
            <a:endParaRPr lang="en-US" sz="1250" dirty="0"/>
          </a:p>
        </p:txBody>
      </p:sp>
      <p:sp>
        <p:nvSpPr>
          <p:cNvPr id="14" name="Shape 12"/>
          <p:cNvSpPr/>
          <p:nvPr/>
        </p:nvSpPr>
        <p:spPr>
          <a:xfrm>
            <a:off x="7287768" y="2578608"/>
            <a:ext cx="4336999" cy="3675888"/>
          </a:xfrm>
          <a:prstGeom prst="roundRect">
            <a:avLst>
              <a:gd name="adj" fmla="val 1493"/>
            </a:avLst>
          </a:prstGeom>
          <a:solidFill>
            <a:srgbClr val="16324C"/>
          </a:solidFill>
          <a:ln w="12700">
            <a:solidFill>
              <a:srgbClr val="2C4763"/>
            </a:solidFill>
            <a:prstDash val="solid"/>
          </a:ln>
        </p:spPr>
      </p:sp>
      <p:sp>
        <p:nvSpPr>
          <p:cNvPr id="15" name="Text 13"/>
          <p:cNvSpPr/>
          <p:nvPr/>
        </p:nvSpPr>
        <p:spPr>
          <a:xfrm>
            <a:off x="7516368" y="2779776"/>
            <a:ext cx="3834079" cy="219456"/>
          </a:xfrm>
          <a:prstGeom prst="rect">
            <a:avLst/>
          </a:prstGeom>
          <a:noFill/>
          <a:ln/>
        </p:spPr>
        <p:txBody>
          <a:bodyPr wrap="square" lIns="0" tIns="0" rIns="0" bIns="0" rtlCol="0" anchor="ctr"/>
          <a:lstStyle/>
          <a:p>
            <a:pPr indent="0" marL="0">
              <a:buNone/>
            </a:pPr>
            <a:r>
              <a:rPr lang="en-US" sz="950" b="1" spc="200" kern="0" dirty="0">
                <a:solidFill>
                  <a:srgbClr val="D2A24C"/>
                </a:solidFill>
                <a:latin typeface="Calibri" pitchFamily="34" charset="0"/>
                <a:ea typeface="Calibri" pitchFamily="34" charset="-122"/>
                <a:cs typeface="Calibri" pitchFamily="34" charset="-120"/>
              </a:rPr>
              <a:t>WHAT THIS ANCHORS</a:t>
            </a:r>
            <a:endParaRPr lang="en-US" sz="950" dirty="0"/>
          </a:p>
        </p:txBody>
      </p:sp>
      <p:sp>
        <p:nvSpPr>
          <p:cNvPr id="16" name="Text 14"/>
          <p:cNvSpPr/>
          <p:nvPr/>
        </p:nvSpPr>
        <p:spPr>
          <a:xfrm>
            <a:off x="7516368" y="3054096"/>
            <a:ext cx="3834079" cy="3054096"/>
          </a:xfrm>
          <a:prstGeom prst="rect">
            <a:avLst/>
          </a:prstGeom>
          <a:noFill/>
          <a:ln/>
        </p:spPr>
        <p:txBody>
          <a:bodyPr wrap="square" lIns="0" tIns="0" rIns="0" bIns="0" rtlCol="0" anchor="t"/>
          <a:lstStyle/>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last two steps are what separate this from an automation wish list.</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honest test kills roughly half of what teams propose, and killing it here is free. The naming of what the returned hours get spent on is what prevents leverage from quietly becoming slack.</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outputs feed directly into the agent org chart, which is a real artifact with real owners — not a slide.</a:t>
            </a:r>
            <a:endParaRPr lang="en-US" sz="1250" dirty="0"/>
          </a:p>
        </p:txBody>
      </p:sp>
      <p:sp>
        <p:nvSpPr>
          <p:cNvPr id="17" name="Text 1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7304A"/>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17304A"/>
          </a:solidFill>
          <a:ln/>
        </p:spPr>
      </p:sp>
      <p:sp>
        <p:nvSpPr>
          <p:cNvPr id="3" name="Text 1"/>
          <p:cNvSpPr/>
          <p:nvPr/>
        </p:nvSpPr>
        <p:spPr>
          <a:xfrm>
            <a:off x="841248" y="1737360"/>
            <a:ext cx="2743200" cy="1463040"/>
          </a:xfrm>
          <a:prstGeom prst="rect">
            <a:avLst/>
          </a:prstGeom>
          <a:noFill/>
          <a:ln/>
        </p:spPr>
        <p:txBody>
          <a:bodyPr wrap="square" lIns="0" tIns="0" rIns="0" bIns="0" rtlCol="0" anchor="ctr"/>
          <a:lstStyle/>
          <a:p>
            <a:pPr indent="0" marL="0">
              <a:buNone/>
            </a:pPr>
            <a:r>
              <a:rPr lang="en-US" sz="9000" b="1" dirty="0">
                <a:solidFill>
                  <a:srgbClr val="3D6491"/>
                </a:solidFill>
                <a:latin typeface="Cambria" pitchFamily="34" charset="0"/>
                <a:ea typeface="Cambria" pitchFamily="34" charset="-122"/>
                <a:cs typeface="Cambria" pitchFamily="34" charset="-120"/>
              </a:rPr>
              <a:t>09</a:t>
            </a:r>
            <a:endParaRPr lang="en-US" sz="9000" dirty="0"/>
          </a:p>
        </p:txBody>
      </p:sp>
      <p:sp>
        <p:nvSpPr>
          <p:cNvPr id="4" name="Text 2"/>
          <p:cNvSpPr/>
          <p:nvPr/>
        </p:nvSpPr>
        <p:spPr>
          <a:xfrm>
            <a:off x="841248" y="3063240"/>
            <a:ext cx="9229039"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People</a:t>
            </a:r>
            <a:endParaRPr lang="en-US" sz="4000" dirty="0"/>
          </a:p>
        </p:txBody>
      </p:sp>
      <p:sp>
        <p:nvSpPr>
          <p:cNvPr id="5" name="Text 3"/>
          <p:cNvSpPr/>
          <p:nvPr/>
        </p:nvSpPr>
        <p:spPr>
          <a:xfrm>
            <a:off x="841248" y="4041648"/>
            <a:ext cx="8412480" cy="914400"/>
          </a:xfrm>
          <a:prstGeom prst="rect">
            <a:avLst/>
          </a:prstGeom>
          <a:noFill/>
          <a:ln/>
        </p:spPr>
        <p:txBody>
          <a:bodyPr wrap="square" lIns="0" tIns="0" rIns="0" bIns="0" rtlCol="0" anchor="ctr"/>
          <a:lstStyle/>
          <a:p>
            <a:pPr indent="0" marL="0">
              <a:lnSpc>
                <a:spcPts val="2200"/>
              </a:lnSpc>
              <a:buNone/>
            </a:pPr>
            <a:r>
              <a:rPr lang="en-US" sz="1600" dirty="0">
                <a:solidFill>
                  <a:srgbClr val="CFDCEA"/>
                </a:solidFill>
                <a:latin typeface="Calibri" pitchFamily="34" charset="0"/>
                <a:ea typeface="Calibri" pitchFamily="34" charset="-122"/>
                <a:cs typeface="Calibri" pitchFamily="34" charset="-120"/>
              </a:rPr>
              <a:t>A senior hire is the most asymmetric position most operating portfolios ever hold. Downside five to fifteen times annual compensation. Upside compounding for years.</a:t>
            </a:r>
            <a:endParaRPr lang="en-US" sz="1600" dirty="0"/>
          </a:p>
        </p:txBody>
      </p:sp>
      <p:sp>
        <p:nvSpPr>
          <p:cNvPr id="6" name="Text 4"/>
          <p:cNvSpPr/>
          <p:nvPr/>
        </p:nvSpPr>
        <p:spPr>
          <a:xfrm>
            <a:off x="841248" y="5623560"/>
            <a:ext cx="8229600" cy="365760"/>
          </a:xfrm>
          <a:prstGeom prst="rect">
            <a:avLst/>
          </a:prstGeom>
          <a:noFill/>
          <a:ln/>
        </p:spPr>
        <p:txBody>
          <a:bodyPr wrap="square" lIns="0" tIns="0" rIns="0" bIns="0" rtlCol="0" anchor="ctr"/>
          <a:lstStyle/>
          <a:p>
            <a:pPr indent="0" marL="0">
              <a:buNone/>
            </a:pPr>
            <a:r>
              <a:rPr lang="en-US" sz="1200" b="1" spc="160" kern="0" dirty="0">
                <a:solidFill>
                  <a:srgbClr val="7FA3C9"/>
                </a:solidFill>
                <a:latin typeface="Calibri" pitchFamily="34" charset="0"/>
                <a:ea typeface="Calibri" pitchFamily="34" charset="-122"/>
                <a:cs typeface="Calibri" pitchFamily="34" charset="-120"/>
              </a:rPr>
              <a:t>ONE HOUR  ·  EXERCISE 12</a:t>
            </a:r>
            <a:endParaRPr lang="en-US" sz="1200" dirty="0"/>
          </a:p>
        </p:txBody>
      </p:sp>
      <p:sp>
        <p:nvSpPr>
          <p:cNvPr id="7" name="Text 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A CENTURY OF SELECTION RESEARCH</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What actually predicts performance</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The rank ordering is consistent across every re-estimation. Our default method sits near the bottom.</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44</a:t>
            </a:r>
            <a:endParaRPr lang="en-US" sz="1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66928" y="2148840"/>
          <a:ext cx="11057839" cy="914400"/>
        </p:xfrm>
        <a:graphic>
          <a:graphicData uri="http://schemas.openxmlformats.org/drawingml/2006/table">
            <a:tbl>
              <a:tblPr/>
              <a:tblGrid>
                <a:gridCol w="3200400"/>
                <a:gridCol w="2743200"/>
                <a:gridCol w="5129784"/>
              </a:tblGrid>
              <a:tr h="45720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Predictive strength</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we do with that</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17304A"/>
                    </a:solidFill>
                  </a:tcPr>
                </a:tc>
              </a:tr>
              <a:tr h="457200">
                <a:tc>
                  <a:txBody>
                    <a:bodyPr/>
                    <a:lstStyle/>
                    <a:p>
                      <a:pPr indent="0" marL="0">
                        <a:buNone/>
                      </a:pPr>
                      <a:r>
                        <a:rPr lang="en-US" sz="1200" b="1" dirty="0">
                          <a:solidFill>
                            <a:srgbClr val="2B3440"/>
                          </a:solidFill>
                          <a:latin typeface="Calibri" pitchFamily="34" charset="0"/>
                          <a:ea typeface="Calibri" pitchFamily="34" charset="-122"/>
                          <a:cs typeface="Calibri" pitchFamily="34" charset="-120"/>
                        </a:rPr>
                        <a:t>Structured interview</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Top tier</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Same questions, same order, same anchored rubric, every candidate. Scored independently in writing before any debrief.</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B3440"/>
                          </a:solidFill>
                          <a:latin typeface="Calibri" pitchFamily="34" charset="0"/>
                          <a:ea typeface="Calibri" pitchFamily="34" charset="-122"/>
                          <a:cs typeface="Calibri" pitchFamily="34" charset="-120"/>
                        </a:rPr>
                        <a:t>Work sample</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Top tier</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Every finalist performs a paid, time-boxed sample of the actual job. Blind-scored where feasible.</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r h="457200">
                <a:tc>
                  <a:txBody>
                    <a:bodyPr/>
                    <a:lstStyle/>
                    <a:p>
                      <a:pPr indent="0" marL="0">
                        <a:buNone/>
                      </a:pPr>
                      <a:r>
                        <a:rPr lang="en-US" sz="1200" b="1" dirty="0">
                          <a:solidFill>
                            <a:srgbClr val="2B3440"/>
                          </a:solidFill>
                          <a:latin typeface="Calibri" pitchFamily="34" charset="0"/>
                          <a:ea typeface="Calibri" pitchFamily="34" charset="-122"/>
                          <a:cs typeface="Calibri" pitchFamily="34" charset="-120"/>
                        </a:rPr>
                        <a:t>General mental ability</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Top tier</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Case reasoning inside the structured interview. Decomposes novel problems; quantifies instinctively.</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B3440"/>
                          </a:solidFill>
                          <a:latin typeface="Calibri" pitchFamily="34" charset="0"/>
                          <a:ea typeface="Calibri" pitchFamily="34" charset="-122"/>
                          <a:cs typeface="Calibri" pitchFamily="34" charset="-120"/>
                        </a:rPr>
                        <a:t>Unstructured interview</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~.38 — near the bottom</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The default method at most companies. We do not use it, because it measures how much we enjoyed the conversation.</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r h="457200">
                <a:tc>
                  <a:txBody>
                    <a:bodyPr/>
                    <a:lstStyle/>
                    <a:p>
                      <a:pPr indent="0" marL="0">
                        <a:buNone/>
                      </a:pPr>
                      <a:r>
                        <a:rPr lang="en-US" sz="1200" b="1" dirty="0">
                          <a:solidFill>
                            <a:srgbClr val="2B3440"/>
                          </a:solidFill>
                          <a:latin typeface="Calibri" pitchFamily="34" charset="0"/>
                          <a:ea typeface="Calibri" pitchFamily="34" charset="-122"/>
                          <a:cs typeface="Calibri" pitchFamily="34" charset="-120"/>
                        </a:rPr>
                        <a:t>Years of experience</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.16–.18</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Barely moves the needle. A proxy we have all over-weighted for years.</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B3440"/>
                          </a:solidFill>
                          <a:latin typeface="Calibri" pitchFamily="34" charset="0"/>
                          <a:ea typeface="Calibri" pitchFamily="34" charset="-122"/>
                          <a:cs typeface="Calibri" pitchFamily="34" charset="-120"/>
                        </a:rPr>
                        <a:t>Years of education</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c>
                  <a:txBody>
                    <a:bodyPr/>
                    <a:lstStyle/>
                    <a:p>
                      <a:pPr indent="0" marL="0">
                        <a:buNone/>
                      </a:pPr>
                      <a:r>
                        <a:rPr lang="en-US" sz="1200" dirty="0">
                          <a:solidFill>
                            <a:srgbClr val="2B3440"/>
                          </a:solidFill>
                          <a:latin typeface="Calibri" pitchFamily="34" charset="0"/>
                          <a:ea typeface="Calibri" pitchFamily="34" charset="-122"/>
                          <a:cs typeface="Calibri" pitchFamily="34" charset="-120"/>
                        </a:rPr>
                        <a:t>Effectively noise at senior level.</a:t>
                      </a:r>
                      <a:endParaRPr lang="en-US" sz="1200" dirty="0">
                        <a:latin typeface="Calibri" charset="0"/>
                        <a:ea typeface="Calibri" charset="0"/>
                        <a:cs typeface="Calibri" charset="0"/>
                      </a:endParaRPr>
                    </a:p>
                  </a:txBody>
                  <a:tcPr marL="100584" marR="100584" marT="64008" marB="64008" anchor="t">
                    <a:lnL w="9525" cap="flat" cmpd="sng" algn="ctr">
                      <a:solidFill>
                        <a:srgbClr val="D6DEE8"/>
                      </a:solidFill>
                      <a:prstDash val="solid"/>
                      <a:round/>
                      <a:headEnd type="none" w="med" len="med"/>
                      <a:tailEnd type="none" w="med" len="med"/>
                    </a:lnL>
                    <a:lnR w="9525" cap="flat" cmpd="sng" algn="ctr">
                      <a:solidFill>
                        <a:srgbClr val="D6DEE8"/>
                      </a:solidFill>
                      <a:prstDash val="solid"/>
                      <a:round/>
                      <a:headEnd type="none" w="med" len="med"/>
                      <a:tailEnd type="none" w="med" len="med"/>
                    </a:lnR>
                    <a:lnT w="9525" cap="flat" cmpd="sng" algn="ctr">
                      <a:solidFill>
                        <a:srgbClr val="D6DEE8"/>
                      </a:solidFill>
                      <a:prstDash val="solid"/>
                      <a:round/>
                      <a:headEnd type="none" w="med" len="med"/>
                      <a:tailEnd type="none" w="med" len="med"/>
                    </a:lnT>
                    <a:lnB w="9525" cap="flat" cmpd="sng" algn="ctr">
                      <a:solidFill>
                        <a:srgbClr val="D6DEE8"/>
                      </a:solidFill>
                      <a:prstDash val="solid"/>
                      <a:round/>
                      <a:headEnd type="none" w="med" len="med"/>
                      <a:tailEnd type="none" w="med" len="med"/>
                    </a:lnB>
                    <a:solidFill>
                      <a:srgbClr val="F4F7FA"/>
                    </a:solidFill>
                  </a:tcPr>
                </a:tc>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E1F31"/>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0E1F31"/>
          </a:solidFill>
          <a:ln/>
        </p:spPr>
      </p:sp>
      <p:sp>
        <p:nvSpPr>
          <p:cNvPr id="3" name="Text 1"/>
          <p:cNvSpPr/>
          <p:nvPr/>
        </p:nvSpPr>
        <p:spPr>
          <a:xfrm>
            <a:off x="841248" y="384048"/>
            <a:ext cx="5486400" cy="256032"/>
          </a:xfrm>
          <a:prstGeom prst="rect">
            <a:avLst/>
          </a:prstGeom>
          <a:noFill/>
          <a:ln/>
        </p:spPr>
        <p:txBody>
          <a:bodyPr wrap="square" lIns="0" tIns="0" rIns="0" bIns="0" rtlCol="0" anchor="ctr"/>
          <a:lstStyle/>
          <a:p>
            <a:pPr indent="0" marL="0">
              <a:buNone/>
            </a:pPr>
            <a:r>
              <a:rPr lang="en-US" sz="1150" b="1" spc="360" kern="0" dirty="0">
                <a:solidFill>
                  <a:srgbClr val="D2A24C"/>
                </a:solidFill>
                <a:latin typeface="Calibri" pitchFamily="34" charset="0"/>
                <a:ea typeface="Calibri" pitchFamily="34" charset="-122"/>
                <a:cs typeface="Calibri" pitchFamily="34" charset="-120"/>
              </a:rPr>
              <a:t>EXERCISE 12</a:t>
            </a:r>
            <a:endParaRPr lang="en-US" sz="1150" dirty="0"/>
          </a:p>
        </p:txBody>
      </p:sp>
      <p:sp>
        <p:nvSpPr>
          <p:cNvPr id="4" name="Text 2"/>
          <p:cNvSpPr/>
          <p:nvPr/>
        </p:nvSpPr>
        <p:spPr>
          <a:xfrm>
            <a:off x="841248" y="731520"/>
            <a:ext cx="8131759" cy="80467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Keeper Test, In Writing</a:t>
            </a:r>
            <a:endParaRPr lang="en-US" sz="3200" dirty="0"/>
          </a:p>
        </p:txBody>
      </p:sp>
      <p:sp>
        <p:nvSpPr>
          <p:cNvPr id="5" name="Text 3"/>
          <p:cNvSpPr/>
          <p:nvPr/>
        </p:nvSpPr>
        <p:spPr>
          <a:xfrm>
            <a:off x="841248"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FORMAT</a:t>
            </a:r>
            <a:endParaRPr lang="en-US" sz="950" dirty="0"/>
          </a:p>
        </p:txBody>
      </p:sp>
      <p:sp>
        <p:nvSpPr>
          <p:cNvPr id="6" name="Text 4"/>
          <p:cNvSpPr/>
          <p:nvPr/>
        </p:nvSpPr>
        <p:spPr>
          <a:xfrm>
            <a:off x="841248"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Managers only, individually, private</a:t>
            </a:r>
            <a:endParaRPr lang="en-US" sz="1300" dirty="0"/>
          </a:p>
        </p:txBody>
      </p:sp>
      <p:sp>
        <p:nvSpPr>
          <p:cNvPr id="7" name="Text 5"/>
          <p:cNvSpPr/>
          <p:nvPr/>
        </p:nvSpPr>
        <p:spPr>
          <a:xfrm>
            <a:off x="4420514"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TIME</a:t>
            </a:r>
            <a:endParaRPr lang="en-US" sz="950" dirty="0"/>
          </a:p>
        </p:txBody>
      </p:sp>
      <p:sp>
        <p:nvSpPr>
          <p:cNvPr id="8" name="Text 6"/>
          <p:cNvSpPr/>
          <p:nvPr/>
        </p:nvSpPr>
        <p:spPr>
          <a:xfrm>
            <a:off x="4420514"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45 minutes</a:t>
            </a:r>
            <a:endParaRPr lang="en-US" sz="1300" dirty="0"/>
          </a:p>
        </p:txBody>
      </p:sp>
      <p:sp>
        <p:nvSpPr>
          <p:cNvPr id="9" name="Text 7"/>
          <p:cNvSpPr/>
          <p:nvPr/>
        </p:nvSpPr>
        <p:spPr>
          <a:xfrm>
            <a:off x="7999781"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OUTPUT</a:t>
            </a:r>
            <a:endParaRPr lang="en-US" sz="950" dirty="0"/>
          </a:p>
        </p:txBody>
      </p:sp>
      <p:sp>
        <p:nvSpPr>
          <p:cNvPr id="10" name="Text 8"/>
          <p:cNvSpPr/>
          <p:nvPr/>
        </p:nvSpPr>
        <p:spPr>
          <a:xfrm>
            <a:off x="7999781"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written answer per report, and a dated plan for every "no"</a:t>
            </a:r>
            <a:endParaRPr lang="en-US" sz="1300" dirty="0"/>
          </a:p>
        </p:txBody>
      </p:sp>
      <p:sp>
        <p:nvSpPr>
          <p:cNvPr id="11" name="Shape 9"/>
          <p:cNvSpPr/>
          <p:nvPr/>
        </p:nvSpPr>
        <p:spPr>
          <a:xfrm>
            <a:off x="841248" y="2414016"/>
            <a:ext cx="10509199" cy="18288"/>
          </a:xfrm>
          <a:prstGeom prst="rect">
            <a:avLst/>
          </a:prstGeom>
          <a:solidFill>
            <a:srgbClr val="2C4763"/>
          </a:solidFill>
          <a:ln/>
        </p:spPr>
      </p:sp>
      <p:sp>
        <p:nvSpPr>
          <p:cNvPr id="12" name="Text 10"/>
          <p:cNvSpPr/>
          <p:nvPr/>
        </p:nvSpPr>
        <p:spPr>
          <a:xfrm>
            <a:off x="841248" y="2615184"/>
            <a:ext cx="5120640" cy="219456"/>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THE BRIEF</a:t>
            </a:r>
            <a:endParaRPr lang="en-US" sz="950" dirty="0"/>
          </a:p>
        </p:txBody>
      </p:sp>
      <p:sp>
        <p:nvSpPr>
          <p:cNvPr id="13" name="Text 11"/>
          <p:cNvSpPr/>
          <p:nvPr/>
        </p:nvSpPr>
        <p:spPr>
          <a:xfrm>
            <a:off x="841248" y="2889504"/>
            <a:ext cx="6035040" cy="3310128"/>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For each of your direct reports, answer one question in writing: if this person told me tomorrow they were leaving for a comparable role elsewhere, would I fight hard to keep them?</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Two sentences of justification, tied to the four rubric dimensions: outcomes, decision quality, leverage, trust behaviour.</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For every "no": has a specific gap been named against their scorecard, in writing, unambiguously? If not, the defect is yours, not theirs.</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Write the date by which that conversation happens. Inside thirty days.</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For every "yes": when did you last tell them you would fight to keep them? Write that date too.</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Nothing is shared in the room. These stay with you.</a:t>
            </a:r>
            <a:endParaRPr lang="en-US" sz="1250" dirty="0"/>
          </a:p>
        </p:txBody>
      </p:sp>
      <p:sp>
        <p:nvSpPr>
          <p:cNvPr id="14" name="Shape 12"/>
          <p:cNvSpPr/>
          <p:nvPr/>
        </p:nvSpPr>
        <p:spPr>
          <a:xfrm>
            <a:off x="7287768" y="2578608"/>
            <a:ext cx="4336999" cy="3675888"/>
          </a:xfrm>
          <a:prstGeom prst="roundRect">
            <a:avLst>
              <a:gd name="adj" fmla="val 1493"/>
            </a:avLst>
          </a:prstGeom>
          <a:solidFill>
            <a:srgbClr val="16324C"/>
          </a:solidFill>
          <a:ln w="12700">
            <a:solidFill>
              <a:srgbClr val="2C4763"/>
            </a:solidFill>
            <a:prstDash val="solid"/>
          </a:ln>
        </p:spPr>
      </p:sp>
      <p:sp>
        <p:nvSpPr>
          <p:cNvPr id="15" name="Text 13"/>
          <p:cNvSpPr/>
          <p:nvPr/>
        </p:nvSpPr>
        <p:spPr>
          <a:xfrm>
            <a:off x="7516368" y="2779776"/>
            <a:ext cx="3834079" cy="219456"/>
          </a:xfrm>
          <a:prstGeom prst="rect">
            <a:avLst/>
          </a:prstGeom>
          <a:noFill/>
          <a:ln/>
        </p:spPr>
        <p:txBody>
          <a:bodyPr wrap="square" lIns="0" tIns="0" rIns="0" bIns="0" rtlCol="0" anchor="ctr"/>
          <a:lstStyle/>
          <a:p>
            <a:pPr indent="0" marL="0">
              <a:buNone/>
            </a:pPr>
            <a:r>
              <a:rPr lang="en-US" sz="950" b="1" spc="200" kern="0" dirty="0">
                <a:solidFill>
                  <a:srgbClr val="D2A24C"/>
                </a:solidFill>
                <a:latin typeface="Calibri" pitchFamily="34" charset="0"/>
                <a:ea typeface="Calibri" pitchFamily="34" charset="-122"/>
                <a:cs typeface="Calibri" pitchFamily="34" charset="-120"/>
              </a:rPr>
              <a:t>WHAT THIS ANCHORS</a:t>
            </a:r>
            <a:endParaRPr lang="en-US" sz="950" dirty="0"/>
          </a:p>
        </p:txBody>
      </p:sp>
      <p:sp>
        <p:nvSpPr>
          <p:cNvPr id="16" name="Text 14"/>
          <p:cNvSpPr/>
          <p:nvPr/>
        </p:nvSpPr>
        <p:spPr>
          <a:xfrm>
            <a:off x="7516368" y="3054096"/>
            <a:ext cx="3834079" cy="3054096"/>
          </a:xfrm>
          <a:prstGeom prst="rect">
            <a:avLst/>
          </a:prstGeom>
          <a:noFill/>
          <a:ln/>
        </p:spPr>
        <p:txBody>
          <a:bodyPr wrap="square" lIns="0" tIns="0" rIns="0" bIns="0" rtlCol="0" anchor="t"/>
          <a:lstStyle/>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most expensive inventory in a business is not aging stock. It is the unresolved people decision sitting in a manager’s head, costing three things at once: the seat underperforms, an A-player quietly absorbs the gap, and the whole organisation learns that the stated bar is fiction.</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Writing it converts a vague, socially expensive feeling into a discrete question with a timestamp.</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"yes" half matters equally. Most managers discover they have never told their best people that they would fight for them.</a:t>
            </a:r>
            <a:endParaRPr lang="en-US" sz="1250" dirty="0"/>
          </a:p>
        </p:txBody>
      </p:sp>
      <p:sp>
        <p:nvSpPr>
          <p:cNvPr id="17" name="Text 1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45</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7304A"/>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17304A"/>
          </a:solidFill>
          <a:ln/>
        </p:spPr>
      </p:sp>
      <p:sp>
        <p:nvSpPr>
          <p:cNvPr id="3" name="Text 1"/>
          <p:cNvSpPr/>
          <p:nvPr/>
        </p:nvSpPr>
        <p:spPr>
          <a:xfrm>
            <a:off x="841248" y="1737360"/>
            <a:ext cx="2743200" cy="1463040"/>
          </a:xfrm>
          <a:prstGeom prst="rect">
            <a:avLst/>
          </a:prstGeom>
          <a:noFill/>
          <a:ln/>
        </p:spPr>
        <p:txBody>
          <a:bodyPr wrap="square" lIns="0" tIns="0" rIns="0" bIns="0" rtlCol="0" anchor="ctr"/>
          <a:lstStyle/>
          <a:p>
            <a:pPr indent="0" marL="0">
              <a:buNone/>
            </a:pPr>
            <a:r>
              <a:rPr lang="en-US" sz="9000" b="1" dirty="0">
                <a:solidFill>
                  <a:srgbClr val="3D6491"/>
                </a:solidFill>
                <a:latin typeface="Cambria" pitchFamily="34" charset="0"/>
                <a:ea typeface="Cambria" pitchFamily="34" charset="-122"/>
                <a:cs typeface="Cambria" pitchFamily="34" charset="-120"/>
              </a:rPr>
              <a:t>10</a:t>
            </a:r>
            <a:endParaRPr lang="en-US" sz="9000" dirty="0"/>
          </a:p>
        </p:txBody>
      </p:sp>
      <p:sp>
        <p:nvSpPr>
          <p:cNvPr id="4" name="Text 2"/>
          <p:cNvSpPr/>
          <p:nvPr/>
        </p:nvSpPr>
        <p:spPr>
          <a:xfrm>
            <a:off x="841248" y="3063240"/>
            <a:ext cx="9229039"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Culture</a:t>
            </a:r>
            <a:endParaRPr lang="en-US" sz="4000" dirty="0"/>
          </a:p>
        </p:txBody>
      </p:sp>
      <p:sp>
        <p:nvSpPr>
          <p:cNvPr id="5" name="Text 3"/>
          <p:cNvSpPr/>
          <p:nvPr/>
        </p:nvSpPr>
        <p:spPr>
          <a:xfrm>
            <a:off x="841248" y="4041648"/>
            <a:ext cx="8412480" cy="914400"/>
          </a:xfrm>
          <a:prstGeom prst="rect">
            <a:avLst/>
          </a:prstGeom>
          <a:noFill/>
          <a:ln/>
        </p:spPr>
        <p:txBody>
          <a:bodyPr wrap="square" lIns="0" tIns="0" rIns="0" bIns="0" rtlCol="0" anchor="ctr"/>
          <a:lstStyle/>
          <a:p>
            <a:pPr indent="0" marL="0">
              <a:lnSpc>
                <a:spcPts val="2200"/>
              </a:lnSpc>
              <a:buNone/>
            </a:pPr>
            <a:r>
              <a:rPr lang="en-US" sz="1600" dirty="0">
                <a:solidFill>
                  <a:srgbClr val="CFDCEA"/>
                </a:solidFill>
                <a:latin typeface="Calibri" pitchFamily="34" charset="0"/>
                <a:ea typeface="Calibri" pitchFamily="34" charset="-122"/>
                <a:cs typeface="Calibri" pitchFamily="34" charset="-120"/>
              </a:rPr>
              <a:t>Every gate in this system can be defeated by one socially skilled person in a room. That is not a flaw in the gates. It is a fact about rooms.</a:t>
            </a:r>
            <a:endParaRPr lang="en-US" sz="1600" dirty="0"/>
          </a:p>
        </p:txBody>
      </p:sp>
      <p:sp>
        <p:nvSpPr>
          <p:cNvPr id="6" name="Text 4"/>
          <p:cNvSpPr/>
          <p:nvPr/>
        </p:nvSpPr>
        <p:spPr>
          <a:xfrm>
            <a:off x="841248" y="5623560"/>
            <a:ext cx="8229600" cy="365760"/>
          </a:xfrm>
          <a:prstGeom prst="rect">
            <a:avLst/>
          </a:prstGeom>
          <a:noFill/>
          <a:ln/>
        </p:spPr>
        <p:txBody>
          <a:bodyPr wrap="square" lIns="0" tIns="0" rIns="0" bIns="0" rtlCol="0" anchor="ctr"/>
          <a:lstStyle/>
          <a:p>
            <a:pPr indent="0" marL="0">
              <a:buNone/>
            </a:pPr>
            <a:r>
              <a:rPr lang="en-US" sz="1200" b="1" spc="160" kern="0" dirty="0">
                <a:solidFill>
                  <a:srgbClr val="7FA3C9"/>
                </a:solidFill>
                <a:latin typeface="Calibri" pitchFamily="34" charset="0"/>
                <a:ea typeface="Calibri" pitchFamily="34" charset="-122"/>
                <a:cs typeface="Calibri" pitchFamily="34" charset="-120"/>
              </a:rPr>
              <a:t>NINETY MINUTES  ·  EXERCISES 13 AND 14</a:t>
            </a:r>
            <a:endParaRPr lang="en-US" sz="1200" dirty="0"/>
          </a:p>
        </p:txBody>
      </p:sp>
      <p:sp>
        <p:nvSpPr>
          <p:cNvPr id="7" name="Text 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46</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7304A"/>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17304A"/>
          </a:solidFill>
          <a:ln/>
        </p:spPr>
      </p:sp>
      <p:sp>
        <p:nvSpPr>
          <p:cNvPr id="3" name="Text 1"/>
          <p:cNvSpPr/>
          <p:nvPr/>
        </p:nvSpPr>
        <p:spPr>
          <a:xfrm>
            <a:off x="841248" y="1234440"/>
            <a:ext cx="11057839" cy="274320"/>
          </a:xfrm>
          <a:prstGeom prst="rect">
            <a:avLst/>
          </a:prstGeom>
          <a:noFill/>
          <a:ln/>
        </p:spPr>
        <p:txBody>
          <a:bodyPr wrap="square" lIns="0" tIns="0" rIns="0" bIns="0" rtlCol="0" anchor="ctr"/>
          <a:lstStyle/>
          <a:p>
            <a:pPr indent="0" marL="0">
              <a:buNone/>
            </a:pPr>
            <a:r>
              <a:rPr lang="en-US" sz="1100" b="1" spc="300" kern="0" dirty="0">
                <a:solidFill>
                  <a:srgbClr val="8FB2D6"/>
                </a:solidFill>
                <a:latin typeface="Calibri" pitchFamily="34" charset="0"/>
                <a:ea typeface="Calibri" pitchFamily="34" charset="-122"/>
                <a:cs typeface="Calibri" pitchFamily="34" charset="-120"/>
              </a:rPr>
              <a:t>THE OPERATING DEFINITION</a:t>
            </a:r>
            <a:endParaRPr lang="en-US" sz="1100" dirty="0"/>
          </a:p>
        </p:txBody>
      </p:sp>
      <p:sp>
        <p:nvSpPr>
          <p:cNvPr id="4" name="Text 2"/>
          <p:cNvSpPr/>
          <p:nvPr/>
        </p:nvSpPr>
        <p:spPr>
          <a:xfrm>
            <a:off x="841248" y="1783080"/>
            <a:ext cx="9777679" cy="2834640"/>
          </a:xfrm>
          <a:prstGeom prst="rect">
            <a:avLst/>
          </a:prstGeom>
          <a:noFill/>
          <a:ln/>
        </p:spPr>
        <p:txBody>
          <a:bodyPr wrap="square" lIns="0" tIns="0" rIns="0" bIns="0" rtlCol="0" anchor="t"/>
          <a:lstStyle/>
          <a:p>
            <a:pPr indent="0" marL="0">
              <a:lnSpc>
                <a:spcPts val="4600"/>
              </a:lnSpc>
              <a:buNone/>
            </a:pPr>
            <a:r>
              <a:rPr lang="en-US" sz="3600" b="1" dirty="0">
                <a:solidFill>
                  <a:srgbClr val="FFFFFF"/>
                </a:solidFill>
                <a:latin typeface="Cambria" pitchFamily="34" charset="0"/>
                <a:ea typeface="Cambria" pitchFamily="34" charset="-122"/>
                <a:cs typeface="Cambria" pitchFamily="34" charset="-120"/>
              </a:rPr>
              <a:t>The culture is not what we say here. It is what we visibly tolerate.</a:t>
            </a:r>
            <a:endParaRPr lang="en-US" sz="3600" dirty="0"/>
          </a:p>
        </p:txBody>
      </p:sp>
      <p:sp>
        <p:nvSpPr>
          <p:cNvPr id="5" name="Text 3"/>
          <p:cNvSpPr/>
          <p:nvPr/>
        </p:nvSpPr>
        <p:spPr>
          <a:xfrm>
            <a:off x="841248" y="4800600"/>
            <a:ext cx="9046159" cy="1371600"/>
          </a:xfrm>
          <a:prstGeom prst="rect">
            <a:avLst/>
          </a:prstGeom>
          <a:noFill/>
          <a:ln/>
        </p:spPr>
        <p:txBody>
          <a:bodyPr wrap="square" lIns="0" tIns="0" rIns="0" bIns="0" rtlCol="0" anchor="t"/>
          <a:lstStyle/>
          <a:p>
            <a:pPr indent="0" marL="0">
              <a:lnSpc>
                <a:spcPts val="2100"/>
              </a:lnSpc>
              <a:buNone/>
            </a:pPr>
            <a:r>
              <a:rPr lang="en-US" sz="1500" dirty="0">
                <a:solidFill>
                  <a:srgbClr val="CFDCEA"/>
                </a:solidFill>
                <a:latin typeface="Calibri" pitchFamily="34" charset="0"/>
                <a:ea typeface="Calibri" pitchFamily="34" charset="-122"/>
                <a:cs typeface="Calibri" pitchFamily="34" charset="-120"/>
              </a:rPr>
              <a:t>Every month a known problem goes unaddressed broadcasts, more loudly than any document, that the stated standard is fiction. Organisations believe what they observe, not what the values poster says.</a:t>
            </a:r>
            <a:endParaRPr lang="en-US" sz="1500" dirty="0"/>
          </a:p>
          <a:p>
            <a:pPr indent="0" marL="0">
              <a:lnSpc>
                <a:spcPts val="2100"/>
              </a:lnSpc>
              <a:buNone/>
            </a:pPr>
            <a:endParaRPr lang="en-US" sz="1500" dirty="0"/>
          </a:p>
          <a:p>
            <a:pPr indent="0" marL="0">
              <a:lnSpc>
                <a:spcPts val="2100"/>
              </a:lnSpc>
              <a:buNone/>
            </a:pPr>
            <a:r>
              <a:rPr lang="en-US" sz="1500" dirty="0">
                <a:solidFill>
                  <a:srgbClr val="CFDCEA"/>
                </a:solidFill>
                <a:latin typeface="Calibri" pitchFamily="34" charset="0"/>
                <a:ea typeface="Calibri" pitchFamily="34" charset="-122"/>
                <a:cs typeface="Calibri" pitchFamily="34" charset="-120"/>
              </a:rPr>
              <a:t>So the only question that matters for the next ninety minutes is: what are we currently tolerating, and who is going to stop?</a:t>
            </a:r>
            <a:endParaRPr lang="en-US" sz="1500" dirty="0"/>
          </a:p>
        </p:txBody>
      </p:sp>
      <p:sp>
        <p:nvSpPr>
          <p:cNvPr id="6" name="Text 4"/>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47</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THE KILL RITUAL</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What a good kill looks like</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Everything in this system depends on whether people can kill their own work without it costing them. If a kill is a career event here, nobody runs a real test — and we are guessing with a dashboard.</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48</a:t>
            </a:r>
            <a:endParaRPr lang="en-US" sz="1000" dirty="0"/>
          </a:p>
        </p:txBody>
      </p:sp>
      <p:sp>
        <p:nvSpPr>
          <p:cNvPr id="6" name="Shape 4"/>
          <p:cNvSpPr/>
          <p:nvPr/>
        </p:nvSpPr>
        <p:spPr>
          <a:xfrm>
            <a:off x="566928" y="2148840"/>
            <a:ext cx="5373472" cy="4050792"/>
          </a:xfrm>
          <a:prstGeom prst="roundRect">
            <a:avLst>
              <a:gd name="adj" fmla="val 1354"/>
            </a:avLst>
          </a:prstGeom>
          <a:solidFill>
            <a:srgbClr val="EDF1F7"/>
          </a:solidFill>
          <a:ln w="12700">
            <a:solidFill>
              <a:srgbClr val="D6DEE8"/>
            </a:solidFill>
            <a:prstDash val="solid"/>
          </a:ln>
        </p:spPr>
      </p:sp>
      <p:sp>
        <p:nvSpPr>
          <p:cNvPr id="7" name="Text 5"/>
          <p:cNvSpPr/>
          <p:nvPr/>
        </p:nvSpPr>
        <p:spPr>
          <a:xfrm>
            <a:off x="841248" y="2386584"/>
            <a:ext cx="4824832" cy="237744"/>
          </a:xfrm>
          <a:prstGeom prst="rect">
            <a:avLst/>
          </a:prstGeom>
          <a:noFill/>
          <a:ln/>
        </p:spPr>
        <p:txBody>
          <a:bodyPr wrap="square" lIns="0" tIns="0" rIns="0" bIns="0" rtlCol="0" anchor="ctr"/>
          <a:lstStyle/>
          <a:p>
            <a:pPr indent="0" marL="0">
              <a:buNone/>
            </a:pPr>
            <a:r>
              <a:rPr lang="en-US" sz="1000" b="1" spc="220" kern="0" dirty="0">
                <a:solidFill>
                  <a:srgbClr val="17304A"/>
                </a:solidFill>
                <a:latin typeface="Calibri" pitchFamily="34" charset="0"/>
                <a:ea typeface="Calibri" pitchFamily="34" charset="-122"/>
                <a:cs typeface="Calibri" pitchFamily="34" charset="-120"/>
              </a:rPr>
              <a:t>WHAT WE DO</a:t>
            </a:r>
            <a:endParaRPr lang="en-US" sz="1000" dirty="0"/>
          </a:p>
        </p:txBody>
      </p:sp>
      <p:sp>
        <p:nvSpPr>
          <p:cNvPr id="8" name="Text 6"/>
          <p:cNvSpPr/>
          <p:nvPr/>
        </p:nvSpPr>
        <p:spPr>
          <a:xfrm>
            <a:off x="841248" y="2660904"/>
            <a:ext cx="4824832" cy="502920"/>
          </a:xfrm>
          <a:prstGeom prst="rect">
            <a:avLst/>
          </a:prstGeom>
          <a:noFill/>
          <a:ln/>
        </p:spPr>
        <p:txBody>
          <a:bodyPr wrap="square" lIns="0" tIns="0" rIns="0" bIns="0" rtlCol="0" anchor="ctr"/>
          <a:lstStyle/>
          <a:p>
            <a:pPr indent="0" marL="0">
              <a:buNone/>
            </a:pPr>
            <a:r>
              <a:rPr lang="en-US" sz="1700" b="1" dirty="0">
                <a:solidFill>
                  <a:srgbClr val="17304A"/>
                </a:solidFill>
                <a:latin typeface="Calibri" pitchFamily="34" charset="0"/>
                <a:ea typeface="Calibri" pitchFamily="34" charset="-122"/>
                <a:cs typeface="Calibri" pitchFamily="34" charset="-120"/>
              </a:rPr>
              <a:t>Blameless on outcome</a:t>
            </a:r>
            <a:endParaRPr lang="en-US" sz="1700" dirty="0"/>
          </a:p>
        </p:txBody>
      </p:sp>
      <p:sp>
        <p:nvSpPr>
          <p:cNvPr id="9" name="Text 7"/>
          <p:cNvSpPr/>
          <p:nvPr/>
        </p:nvSpPr>
        <p:spPr>
          <a:xfrm>
            <a:off x="841248" y="3209544"/>
            <a:ext cx="4824832" cy="272491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On schedule, at the gate, on the date written in advance.</a:t>
            </a:r>
            <a:endParaRPr lang="en-US" sz="1300" dirty="0"/>
          </a:p>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Announced by the owner, in their own words, before anyone has to ask.</a:t>
            </a:r>
            <a:endParaRPr lang="en-US" sz="1300" dirty="0"/>
          </a:p>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Measured against the pre-registered number, quoted verbatim.</a:t>
            </a:r>
            <a:endParaRPr lang="en-US" sz="1300" dirty="0"/>
          </a:p>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The learning filed in the failure archive, specific enough to be reused.</a:t>
            </a:r>
            <a:endParaRPr lang="en-US" sz="1300" dirty="0"/>
          </a:p>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Resources redeployed the same week.</a:t>
            </a:r>
            <a:endParaRPr lang="en-US" sz="1300" dirty="0"/>
          </a:p>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Credited to the owner as completed work. A killed experiment is a shipped experiment.</a:t>
            </a:r>
            <a:endParaRPr lang="en-US" sz="1300" dirty="0"/>
          </a:p>
        </p:txBody>
      </p:sp>
      <p:sp>
        <p:nvSpPr>
          <p:cNvPr id="10" name="Shape 8"/>
          <p:cNvSpPr/>
          <p:nvPr/>
        </p:nvSpPr>
        <p:spPr>
          <a:xfrm>
            <a:off x="6251296" y="2148840"/>
            <a:ext cx="5373472" cy="4050792"/>
          </a:xfrm>
          <a:prstGeom prst="roundRect">
            <a:avLst>
              <a:gd name="adj" fmla="val 1354"/>
            </a:avLst>
          </a:prstGeom>
          <a:solidFill>
            <a:srgbClr val="EDF1F7"/>
          </a:solidFill>
          <a:ln w="12700">
            <a:solidFill>
              <a:srgbClr val="D6DEE8"/>
            </a:solidFill>
            <a:prstDash val="solid"/>
          </a:ln>
        </p:spPr>
      </p:sp>
      <p:sp>
        <p:nvSpPr>
          <p:cNvPr id="11" name="Text 9"/>
          <p:cNvSpPr/>
          <p:nvPr/>
        </p:nvSpPr>
        <p:spPr>
          <a:xfrm>
            <a:off x="6525616" y="2386584"/>
            <a:ext cx="4824832" cy="237744"/>
          </a:xfrm>
          <a:prstGeom prst="rect">
            <a:avLst/>
          </a:prstGeom>
          <a:noFill/>
          <a:ln/>
        </p:spPr>
        <p:txBody>
          <a:bodyPr wrap="square" lIns="0" tIns="0" rIns="0" bIns="0" rtlCol="0" anchor="ctr"/>
          <a:lstStyle/>
          <a:p>
            <a:pPr indent="0" marL="0">
              <a:buNone/>
            </a:pPr>
            <a:r>
              <a:rPr lang="en-US" sz="1000" b="1" spc="220" kern="0" dirty="0">
                <a:solidFill>
                  <a:srgbClr val="8C2B2B"/>
                </a:solidFill>
                <a:latin typeface="Calibri" pitchFamily="34" charset="0"/>
                <a:ea typeface="Calibri" pitchFamily="34" charset="-122"/>
                <a:cs typeface="Calibri" pitchFamily="34" charset="-120"/>
              </a:rPr>
              <a:t>WHAT WE NEVER DO</a:t>
            </a:r>
            <a:endParaRPr lang="en-US" sz="1000" dirty="0"/>
          </a:p>
        </p:txBody>
      </p:sp>
      <p:sp>
        <p:nvSpPr>
          <p:cNvPr id="12" name="Text 10"/>
          <p:cNvSpPr/>
          <p:nvPr/>
        </p:nvSpPr>
        <p:spPr>
          <a:xfrm>
            <a:off x="6525616" y="2660904"/>
            <a:ext cx="4824832" cy="502920"/>
          </a:xfrm>
          <a:prstGeom prst="rect">
            <a:avLst/>
          </a:prstGeom>
          <a:noFill/>
          <a:ln/>
        </p:spPr>
        <p:txBody>
          <a:bodyPr wrap="square" lIns="0" tIns="0" rIns="0" bIns="0" rtlCol="0" anchor="ctr"/>
          <a:lstStyle/>
          <a:p>
            <a:pPr indent="0" marL="0">
              <a:buNone/>
            </a:pPr>
            <a:r>
              <a:rPr lang="en-US" sz="1700" b="1" dirty="0">
                <a:solidFill>
                  <a:srgbClr val="17304A"/>
                </a:solidFill>
                <a:latin typeface="Calibri" pitchFamily="34" charset="0"/>
                <a:ea typeface="Calibri" pitchFamily="34" charset="-122"/>
                <a:cs typeface="Calibri" pitchFamily="34" charset="-120"/>
              </a:rPr>
              <a:t>Accountable on process</a:t>
            </a:r>
            <a:endParaRPr lang="en-US" sz="1700" dirty="0"/>
          </a:p>
        </p:txBody>
      </p:sp>
      <p:sp>
        <p:nvSpPr>
          <p:cNvPr id="13" name="Text 11"/>
          <p:cNvSpPr/>
          <p:nvPr/>
        </p:nvSpPr>
        <p:spPr>
          <a:xfrm>
            <a:off x="6525616" y="3209544"/>
            <a:ext cx="4824832" cy="2724912"/>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Let something fade quietly until nobody remembers funding it.</a:t>
            </a:r>
            <a:endParaRPr lang="en-US" sz="1300" dirty="0"/>
          </a:p>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Make the owner defend a result the criterion already settled.</a:t>
            </a:r>
            <a:endParaRPr lang="en-US" sz="1300" dirty="0"/>
          </a:p>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Rename the metric, extend the window, or move the goalposts to manufacture a pass.</a:t>
            </a:r>
            <a:endParaRPr lang="en-US" sz="1300" dirty="0"/>
          </a:p>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Treat the killed work as wasted. It was purchased information no competitor can see.</a:t>
            </a:r>
            <a:endParaRPr lang="en-US" sz="1300" dirty="0"/>
          </a:p>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Leave the team in limbo while leadership decides how to feel about it.</a:t>
            </a:r>
            <a:endParaRPr lang="en-US" sz="1300" dirty="0"/>
          </a:p>
          <a:p>
            <a:pPr marL="342900" indent="-342900">
              <a:lnSpc>
                <a:spcPts val="1700"/>
              </a:lnSpc>
              <a:spcAft>
                <a:spcPts val="700"/>
              </a:spcAft>
              <a:buSzPct val="100000"/>
              <a:buChar char="•"/>
            </a:pPr>
            <a:r>
              <a:rPr lang="en-US" sz="1300" dirty="0">
                <a:solidFill>
                  <a:srgbClr val="333F4D"/>
                </a:solidFill>
                <a:latin typeface="Calibri" pitchFamily="34" charset="0"/>
                <a:ea typeface="Calibri" pitchFamily="34" charset="-122"/>
                <a:cs typeface="Calibri" pitchFamily="34" charset="-120"/>
              </a:rPr>
              <a:t>Reward only launches — which builds an organisation that can start things and cannot stop them.</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E1F31"/>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0E1F31"/>
          </a:solidFill>
          <a:ln/>
        </p:spPr>
      </p:sp>
      <p:sp>
        <p:nvSpPr>
          <p:cNvPr id="3" name="Text 1"/>
          <p:cNvSpPr/>
          <p:nvPr/>
        </p:nvSpPr>
        <p:spPr>
          <a:xfrm>
            <a:off x="841248" y="384048"/>
            <a:ext cx="5486400" cy="256032"/>
          </a:xfrm>
          <a:prstGeom prst="rect">
            <a:avLst/>
          </a:prstGeom>
          <a:noFill/>
          <a:ln/>
        </p:spPr>
        <p:txBody>
          <a:bodyPr wrap="square" lIns="0" tIns="0" rIns="0" bIns="0" rtlCol="0" anchor="ctr"/>
          <a:lstStyle/>
          <a:p>
            <a:pPr indent="0" marL="0">
              <a:buNone/>
            </a:pPr>
            <a:r>
              <a:rPr lang="en-US" sz="1150" b="1" spc="360" kern="0" dirty="0">
                <a:solidFill>
                  <a:srgbClr val="D2A24C"/>
                </a:solidFill>
                <a:latin typeface="Calibri" pitchFamily="34" charset="0"/>
                <a:ea typeface="Calibri" pitchFamily="34" charset="-122"/>
                <a:cs typeface="Calibri" pitchFamily="34" charset="-120"/>
              </a:rPr>
              <a:t>EXERCISE 13</a:t>
            </a:r>
            <a:endParaRPr lang="en-US" sz="1150" dirty="0"/>
          </a:p>
        </p:txBody>
      </p:sp>
      <p:sp>
        <p:nvSpPr>
          <p:cNvPr id="4" name="Text 2"/>
          <p:cNvSpPr/>
          <p:nvPr/>
        </p:nvSpPr>
        <p:spPr>
          <a:xfrm>
            <a:off x="841248" y="731520"/>
            <a:ext cx="8131759" cy="80467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Kill</a:t>
            </a:r>
            <a:endParaRPr lang="en-US" sz="3200" dirty="0"/>
          </a:p>
        </p:txBody>
      </p:sp>
      <p:sp>
        <p:nvSpPr>
          <p:cNvPr id="5" name="Text 3"/>
          <p:cNvSpPr/>
          <p:nvPr/>
        </p:nvSpPr>
        <p:spPr>
          <a:xfrm>
            <a:off x="841248"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FORMAT</a:t>
            </a:r>
            <a:endParaRPr lang="en-US" sz="950" dirty="0"/>
          </a:p>
        </p:txBody>
      </p:sp>
      <p:sp>
        <p:nvSpPr>
          <p:cNvPr id="6" name="Text 4"/>
          <p:cNvSpPr/>
          <p:nvPr/>
        </p:nvSpPr>
        <p:spPr>
          <a:xfrm>
            <a:off x="841248"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Everyone, standing, in front of the room</a:t>
            </a:r>
            <a:endParaRPr lang="en-US" sz="1300" dirty="0"/>
          </a:p>
        </p:txBody>
      </p:sp>
      <p:sp>
        <p:nvSpPr>
          <p:cNvPr id="7" name="Text 5"/>
          <p:cNvSpPr/>
          <p:nvPr/>
        </p:nvSpPr>
        <p:spPr>
          <a:xfrm>
            <a:off x="4420514"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TIME</a:t>
            </a:r>
            <a:endParaRPr lang="en-US" sz="950" dirty="0"/>
          </a:p>
        </p:txBody>
      </p:sp>
      <p:sp>
        <p:nvSpPr>
          <p:cNvPr id="8" name="Text 6"/>
          <p:cNvSpPr/>
          <p:nvPr/>
        </p:nvSpPr>
        <p:spPr>
          <a:xfrm>
            <a:off x="4420514"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40 minutes</a:t>
            </a:r>
            <a:endParaRPr lang="en-US" sz="1300" dirty="0"/>
          </a:p>
        </p:txBody>
      </p:sp>
      <p:sp>
        <p:nvSpPr>
          <p:cNvPr id="9" name="Text 7"/>
          <p:cNvSpPr/>
          <p:nvPr/>
        </p:nvSpPr>
        <p:spPr>
          <a:xfrm>
            <a:off x="7999781"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OUTPUT</a:t>
            </a:r>
            <a:endParaRPr lang="en-US" sz="950" dirty="0"/>
          </a:p>
        </p:txBody>
      </p:sp>
      <p:sp>
        <p:nvSpPr>
          <p:cNvPr id="10" name="Text 8"/>
          <p:cNvSpPr/>
          <p:nvPr/>
        </p:nvSpPr>
        <p:spPr>
          <a:xfrm>
            <a:off x="7999781"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 public kill list with dates</a:t>
            </a:r>
            <a:endParaRPr lang="en-US" sz="1300" dirty="0"/>
          </a:p>
        </p:txBody>
      </p:sp>
      <p:sp>
        <p:nvSpPr>
          <p:cNvPr id="11" name="Shape 9"/>
          <p:cNvSpPr/>
          <p:nvPr/>
        </p:nvSpPr>
        <p:spPr>
          <a:xfrm>
            <a:off x="841248" y="2414016"/>
            <a:ext cx="10509199" cy="18288"/>
          </a:xfrm>
          <a:prstGeom prst="rect">
            <a:avLst/>
          </a:prstGeom>
          <a:solidFill>
            <a:srgbClr val="2C4763"/>
          </a:solidFill>
          <a:ln/>
        </p:spPr>
      </p:sp>
      <p:sp>
        <p:nvSpPr>
          <p:cNvPr id="12" name="Text 10"/>
          <p:cNvSpPr/>
          <p:nvPr/>
        </p:nvSpPr>
        <p:spPr>
          <a:xfrm>
            <a:off x="841248" y="2615184"/>
            <a:ext cx="5120640" cy="219456"/>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THE BRIEF</a:t>
            </a:r>
            <a:endParaRPr lang="en-US" sz="950" dirty="0"/>
          </a:p>
        </p:txBody>
      </p:sp>
      <p:sp>
        <p:nvSpPr>
          <p:cNvPr id="13" name="Text 11"/>
          <p:cNvSpPr/>
          <p:nvPr/>
        </p:nvSpPr>
        <p:spPr>
          <a:xfrm>
            <a:off x="841248" y="2889504"/>
            <a:ext cx="6035040" cy="3310128"/>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Everyone identifies one thing of their own to kill. A project, a report nobody reads, a meeting, a product variant, a process step, a vendor.</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It must be yours. Not someone else’s, not a shared irritation. Yours.</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Each person stands and says three sentences: what it is, why it is being killed, and the date it ends.</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No defending. No explaining how it might have worked. No apologising.</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The room applauds. Every time. This is not ironic.</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Every kill is written on the wall with its date and owner before we move on.</a:t>
            </a:r>
            <a:endParaRPr lang="en-US" sz="1250" dirty="0"/>
          </a:p>
        </p:txBody>
      </p:sp>
      <p:sp>
        <p:nvSpPr>
          <p:cNvPr id="14" name="Shape 12"/>
          <p:cNvSpPr/>
          <p:nvPr/>
        </p:nvSpPr>
        <p:spPr>
          <a:xfrm>
            <a:off x="7287768" y="2578608"/>
            <a:ext cx="4336999" cy="3675888"/>
          </a:xfrm>
          <a:prstGeom prst="roundRect">
            <a:avLst>
              <a:gd name="adj" fmla="val 1493"/>
            </a:avLst>
          </a:prstGeom>
          <a:solidFill>
            <a:srgbClr val="16324C"/>
          </a:solidFill>
          <a:ln w="12700">
            <a:solidFill>
              <a:srgbClr val="2C4763"/>
            </a:solidFill>
            <a:prstDash val="solid"/>
          </a:ln>
        </p:spPr>
      </p:sp>
      <p:sp>
        <p:nvSpPr>
          <p:cNvPr id="15" name="Text 13"/>
          <p:cNvSpPr/>
          <p:nvPr/>
        </p:nvSpPr>
        <p:spPr>
          <a:xfrm>
            <a:off x="7516368" y="2779776"/>
            <a:ext cx="3834079" cy="219456"/>
          </a:xfrm>
          <a:prstGeom prst="rect">
            <a:avLst/>
          </a:prstGeom>
          <a:noFill/>
          <a:ln/>
        </p:spPr>
        <p:txBody>
          <a:bodyPr wrap="square" lIns="0" tIns="0" rIns="0" bIns="0" rtlCol="0" anchor="ctr"/>
          <a:lstStyle/>
          <a:p>
            <a:pPr indent="0" marL="0">
              <a:buNone/>
            </a:pPr>
            <a:r>
              <a:rPr lang="en-US" sz="950" b="1" spc="200" kern="0" dirty="0">
                <a:solidFill>
                  <a:srgbClr val="D2A24C"/>
                </a:solidFill>
                <a:latin typeface="Calibri" pitchFamily="34" charset="0"/>
                <a:ea typeface="Calibri" pitchFamily="34" charset="-122"/>
                <a:cs typeface="Calibri" pitchFamily="34" charset="-120"/>
              </a:rPr>
              <a:t>WHAT THIS ANCHORS</a:t>
            </a:r>
            <a:endParaRPr lang="en-US" sz="950" dirty="0"/>
          </a:p>
        </p:txBody>
      </p:sp>
      <p:sp>
        <p:nvSpPr>
          <p:cNvPr id="16" name="Text 14"/>
          <p:cNvSpPr/>
          <p:nvPr/>
        </p:nvSpPr>
        <p:spPr>
          <a:xfrm>
            <a:off x="7516368" y="3054096"/>
            <a:ext cx="3834079" cy="3054096"/>
          </a:xfrm>
          <a:prstGeom prst="rect">
            <a:avLst/>
          </a:prstGeom>
          <a:noFill/>
          <a:ln/>
        </p:spPr>
        <p:txBody>
          <a:bodyPr wrap="square" lIns="0" tIns="0" rIns="0" bIns="0" rtlCol="0" anchor="t"/>
          <a:lstStyle/>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This is the exercise that installs the culture, and it works because of the applause.</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first person to stand sets the tone for everything that follows. The most senior person in the room goes first, and kills something real — not a token, not something already dying.</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What people remember eighteen months later is not the framework. It is standing up in front of their colleagues, ending something they had defended for a year, and being applauded for it.</a:t>
            </a:r>
            <a:endParaRPr lang="en-US" sz="1250" dirty="0"/>
          </a:p>
        </p:txBody>
      </p:sp>
      <p:sp>
        <p:nvSpPr>
          <p:cNvPr id="17" name="Text 1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49</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E1F31"/>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0E1F31"/>
          </a:solidFill>
          <a:ln/>
        </p:spPr>
      </p:sp>
      <p:sp>
        <p:nvSpPr>
          <p:cNvPr id="3" name="Text 1"/>
          <p:cNvSpPr/>
          <p:nvPr/>
        </p:nvSpPr>
        <p:spPr>
          <a:xfrm>
            <a:off x="841248" y="384048"/>
            <a:ext cx="5486400" cy="256032"/>
          </a:xfrm>
          <a:prstGeom prst="rect">
            <a:avLst/>
          </a:prstGeom>
          <a:noFill/>
          <a:ln/>
        </p:spPr>
        <p:txBody>
          <a:bodyPr wrap="square" lIns="0" tIns="0" rIns="0" bIns="0" rtlCol="0" anchor="ctr"/>
          <a:lstStyle/>
          <a:p>
            <a:pPr indent="0" marL="0">
              <a:buNone/>
            </a:pPr>
            <a:r>
              <a:rPr lang="en-US" sz="1150" b="1" spc="360" kern="0" dirty="0">
                <a:solidFill>
                  <a:srgbClr val="D2A24C"/>
                </a:solidFill>
                <a:latin typeface="Calibri" pitchFamily="34" charset="0"/>
                <a:ea typeface="Calibri" pitchFamily="34" charset="-122"/>
                <a:cs typeface="Calibri" pitchFamily="34" charset="-120"/>
              </a:rPr>
              <a:t>EXERCISE 14</a:t>
            </a:r>
            <a:endParaRPr lang="en-US" sz="1150" dirty="0"/>
          </a:p>
        </p:txBody>
      </p:sp>
      <p:sp>
        <p:nvSpPr>
          <p:cNvPr id="4" name="Text 2"/>
          <p:cNvSpPr/>
          <p:nvPr/>
        </p:nvSpPr>
        <p:spPr>
          <a:xfrm>
            <a:off x="841248" y="731520"/>
            <a:ext cx="8131759" cy="80467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Misreading Drill</a:t>
            </a:r>
            <a:endParaRPr lang="en-US" sz="3200" dirty="0"/>
          </a:p>
        </p:txBody>
      </p:sp>
      <p:sp>
        <p:nvSpPr>
          <p:cNvPr id="5" name="Text 3"/>
          <p:cNvSpPr/>
          <p:nvPr/>
        </p:nvSpPr>
        <p:spPr>
          <a:xfrm>
            <a:off x="841248"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FORMAT</a:t>
            </a:r>
            <a:endParaRPr lang="en-US" sz="950" dirty="0"/>
          </a:p>
        </p:txBody>
      </p:sp>
      <p:sp>
        <p:nvSpPr>
          <p:cNvPr id="6" name="Text 4"/>
          <p:cNvSpPr/>
          <p:nvPr/>
        </p:nvSpPr>
        <p:spPr>
          <a:xfrm>
            <a:off x="841248"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Tables, adversarial</a:t>
            </a:r>
            <a:endParaRPr lang="en-US" sz="1300" dirty="0"/>
          </a:p>
        </p:txBody>
      </p:sp>
      <p:sp>
        <p:nvSpPr>
          <p:cNvPr id="7" name="Text 5"/>
          <p:cNvSpPr/>
          <p:nvPr/>
        </p:nvSpPr>
        <p:spPr>
          <a:xfrm>
            <a:off x="4420514"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TIME</a:t>
            </a:r>
            <a:endParaRPr lang="en-US" sz="950" dirty="0"/>
          </a:p>
        </p:txBody>
      </p:sp>
      <p:sp>
        <p:nvSpPr>
          <p:cNvPr id="8" name="Text 6"/>
          <p:cNvSpPr/>
          <p:nvPr/>
        </p:nvSpPr>
        <p:spPr>
          <a:xfrm>
            <a:off x="4420514"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35 minutes</a:t>
            </a:r>
            <a:endParaRPr lang="en-US" sz="1300" dirty="0"/>
          </a:p>
        </p:txBody>
      </p:sp>
      <p:sp>
        <p:nvSpPr>
          <p:cNvPr id="9" name="Text 7"/>
          <p:cNvSpPr/>
          <p:nvPr/>
        </p:nvSpPr>
        <p:spPr>
          <a:xfrm>
            <a:off x="7999781"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OUTPUT</a:t>
            </a:r>
            <a:endParaRPr lang="en-US" sz="950" dirty="0"/>
          </a:p>
        </p:txBody>
      </p:sp>
      <p:sp>
        <p:nvSpPr>
          <p:cNvPr id="10" name="Text 8"/>
          <p:cNvSpPr/>
          <p:nvPr/>
        </p:nvSpPr>
        <p:spPr>
          <a:xfrm>
            <a:off x="7999781"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Six corrections, in the room’s own words</a:t>
            </a:r>
            <a:endParaRPr lang="en-US" sz="1300" dirty="0"/>
          </a:p>
        </p:txBody>
      </p:sp>
      <p:sp>
        <p:nvSpPr>
          <p:cNvPr id="11" name="Shape 9"/>
          <p:cNvSpPr/>
          <p:nvPr/>
        </p:nvSpPr>
        <p:spPr>
          <a:xfrm>
            <a:off x="841248" y="2414016"/>
            <a:ext cx="10509199" cy="18288"/>
          </a:xfrm>
          <a:prstGeom prst="rect">
            <a:avLst/>
          </a:prstGeom>
          <a:solidFill>
            <a:srgbClr val="2C4763"/>
          </a:solidFill>
          <a:ln/>
        </p:spPr>
      </p:sp>
      <p:sp>
        <p:nvSpPr>
          <p:cNvPr id="12" name="Text 10"/>
          <p:cNvSpPr/>
          <p:nvPr/>
        </p:nvSpPr>
        <p:spPr>
          <a:xfrm>
            <a:off x="841248" y="2615184"/>
            <a:ext cx="5120640" cy="219456"/>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THE BRIEF</a:t>
            </a:r>
            <a:endParaRPr lang="en-US" sz="950" dirty="0"/>
          </a:p>
        </p:txBody>
      </p:sp>
      <p:sp>
        <p:nvSpPr>
          <p:cNvPr id="13" name="Text 11"/>
          <p:cNvSpPr/>
          <p:nvPr/>
        </p:nvSpPr>
        <p:spPr>
          <a:xfrm>
            <a:off x="841248" y="2889504"/>
            <a:ext cx="6035040" cy="3310128"/>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Each table receives one common misreading of this culture and must argue for it convincingly, in character, for three minutes.</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"Directness means I can be brutal."  ·  "Bias for action means I can skip the gate."  ·  "Data over narrative means judgment does not count."</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"Lean headcount means people are disposable."  ·  "Kill fast means kill everything."  ·  "Speed means permanent crisis."</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The room then corrects it — not the facilitator. The correction must be in the room’s own words and written down.</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Each table produces one sentence: the corrected version, in language a new joiner would understand.</a:t>
            </a:r>
            <a:endParaRPr lang="en-US" sz="1250" dirty="0"/>
          </a:p>
        </p:txBody>
      </p:sp>
      <p:sp>
        <p:nvSpPr>
          <p:cNvPr id="14" name="Shape 12"/>
          <p:cNvSpPr/>
          <p:nvPr/>
        </p:nvSpPr>
        <p:spPr>
          <a:xfrm>
            <a:off x="7287768" y="2578608"/>
            <a:ext cx="4336999" cy="3675888"/>
          </a:xfrm>
          <a:prstGeom prst="roundRect">
            <a:avLst>
              <a:gd name="adj" fmla="val 1493"/>
            </a:avLst>
          </a:prstGeom>
          <a:solidFill>
            <a:srgbClr val="16324C"/>
          </a:solidFill>
          <a:ln w="12700">
            <a:solidFill>
              <a:srgbClr val="2C4763"/>
            </a:solidFill>
            <a:prstDash val="solid"/>
          </a:ln>
        </p:spPr>
      </p:sp>
      <p:sp>
        <p:nvSpPr>
          <p:cNvPr id="15" name="Text 13"/>
          <p:cNvSpPr/>
          <p:nvPr/>
        </p:nvSpPr>
        <p:spPr>
          <a:xfrm>
            <a:off x="7516368" y="2779776"/>
            <a:ext cx="3834079" cy="219456"/>
          </a:xfrm>
          <a:prstGeom prst="rect">
            <a:avLst/>
          </a:prstGeom>
          <a:noFill/>
          <a:ln/>
        </p:spPr>
        <p:txBody>
          <a:bodyPr wrap="square" lIns="0" tIns="0" rIns="0" bIns="0" rtlCol="0" anchor="ctr"/>
          <a:lstStyle/>
          <a:p>
            <a:pPr indent="0" marL="0">
              <a:buNone/>
            </a:pPr>
            <a:r>
              <a:rPr lang="en-US" sz="950" b="1" spc="200" kern="0" dirty="0">
                <a:solidFill>
                  <a:srgbClr val="D2A24C"/>
                </a:solidFill>
                <a:latin typeface="Calibri" pitchFamily="34" charset="0"/>
                <a:ea typeface="Calibri" pitchFamily="34" charset="-122"/>
                <a:cs typeface="Calibri" pitchFamily="34" charset="-120"/>
              </a:rPr>
              <a:t>WHAT THIS ANCHORS</a:t>
            </a:r>
            <a:endParaRPr lang="en-US" sz="950" dirty="0"/>
          </a:p>
        </p:txBody>
      </p:sp>
      <p:sp>
        <p:nvSpPr>
          <p:cNvPr id="16" name="Text 14"/>
          <p:cNvSpPr/>
          <p:nvPr/>
        </p:nvSpPr>
        <p:spPr>
          <a:xfrm>
            <a:off x="7516368" y="3054096"/>
            <a:ext cx="3834079" cy="3054096"/>
          </a:xfrm>
          <a:prstGeom prst="rect">
            <a:avLst/>
          </a:prstGeom>
          <a:noFill/>
          <a:ln/>
        </p:spPr>
        <p:txBody>
          <a:bodyPr wrap="square" lIns="0" tIns="0" rIns="0" bIns="0" rtlCol="0" anchor="t"/>
          <a:lstStyle/>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Every strong culture gets misread in predictable ways, usually by people quoting it accurately. Prebunking is far cheaper than retrofitting.</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Making people argue the wrong version out loud is what makes the correction stick. A culture document read passively produces recognition; a position argued and then defeated produces immunity.</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six sentences the room writes become the actual onboarding language — better than anything drafted in an office.</a:t>
            </a:r>
            <a:endParaRPr lang="en-US" sz="1250" dirty="0"/>
          </a:p>
        </p:txBody>
      </p:sp>
      <p:sp>
        <p:nvSpPr>
          <p:cNvPr id="17" name="Text 1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17304A"/>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17304A"/>
          </a:solidFill>
          <a:ln/>
        </p:spPr>
      </p:sp>
      <p:sp>
        <p:nvSpPr>
          <p:cNvPr id="3" name="Text 1"/>
          <p:cNvSpPr/>
          <p:nvPr/>
        </p:nvSpPr>
        <p:spPr>
          <a:xfrm>
            <a:off x="841248" y="1737360"/>
            <a:ext cx="2743200" cy="1463040"/>
          </a:xfrm>
          <a:prstGeom prst="rect">
            <a:avLst/>
          </a:prstGeom>
          <a:noFill/>
          <a:ln/>
        </p:spPr>
        <p:txBody>
          <a:bodyPr wrap="square" lIns="0" tIns="0" rIns="0" bIns="0" rtlCol="0" anchor="ctr"/>
          <a:lstStyle/>
          <a:p>
            <a:pPr indent="0" marL="0">
              <a:buNone/>
            </a:pPr>
            <a:r>
              <a:rPr lang="en-US" sz="9000" b="1" dirty="0">
                <a:solidFill>
                  <a:srgbClr val="3D6491"/>
                </a:solidFill>
                <a:latin typeface="Cambria" pitchFamily="34" charset="0"/>
                <a:ea typeface="Cambria" pitchFamily="34" charset="-122"/>
                <a:cs typeface="Cambria" pitchFamily="34" charset="-120"/>
              </a:rPr>
              <a:t>11</a:t>
            </a:r>
            <a:endParaRPr lang="en-US" sz="9000" dirty="0"/>
          </a:p>
        </p:txBody>
      </p:sp>
      <p:sp>
        <p:nvSpPr>
          <p:cNvPr id="4" name="Text 2"/>
          <p:cNvSpPr/>
          <p:nvPr/>
        </p:nvSpPr>
        <p:spPr>
          <a:xfrm>
            <a:off x="841248" y="3063240"/>
            <a:ext cx="9229039"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Commitment</a:t>
            </a:r>
            <a:endParaRPr lang="en-US" sz="4000" dirty="0"/>
          </a:p>
        </p:txBody>
      </p:sp>
      <p:sp>
        <p:nvSpPr>
          <p:cNvPr id="5" name="Text 3"/>
          <p:cNvSpPr/>
          <p:nvPr/>
        </p:nvSpPr>
        <p:spPr>
          <a:xfrm>
            <a:off x="841248" y="4041648"/>
            <a:ext cx="8412480" cy="914400"/>
          </a:xfrm>
          <a:prstGeom prst="rect">
            <a:avLst/>
          </a:prstGeom>
          <a:noFill/>
          <a:ln/>
        </p:spPr>
        <p:txBody>
          <a:bodyPr wrap="square" lIns="0" tIns="0" rIns="0" bIns="0" rtlCol="0" anchor="ctr"/>
          <a:lstStyle/>
          <a:p>
            <a:pPr indent="0" marL="0">
              <a:lnSpc>
                <a:spcPts val="2200"/>
              </a:lnSpc>
              <a:buNone/>
            </a:pPr>
            <a:r>
              <a:rPr lang="en-US" sz="1600" dirty="0">
                <a:solidFill>
                  <a:srgbClr val="CFDCEA"/>
                </a:solidFill>
                <a:latin typeface="Calibri" pitchFamily="34" charset="0"/>
                <a:ea typeface="Calibri" pitchFamily="34" charset="-122"/>
                <a:cs typeface="Calibri" pitchFamily="34" charset="-120"/>
              </a:rPr>
              <a:t>Day one is not about being ready. It is about making the first rotation of the loop. The system compounds — but only from motion.</a:t>
            </a:r>
            <a:endParaRPr lang="en-US" sz="1600" dirty="0"/>
          </a:p>
        </p:txBody>
      </p:sp>
      <p:sp>
        <p:nvSpPr>
          <p:cNvPr id="6" name="Text 4"/>
          <p:cNvSpPr/>
          <p:nvPr/>
        </p:nvSpPr>
        <p:spPr>
          <a:xfrm>
            <a:off x="841248" y="5623560"/>
            <a:ext cx="8229600" cy="365760"/>
          </a:xfrm>
          <a:prstGeom prst="rect">
            <a:avLst/>
          </a:prstGeom>
          <a:noFill/>
          <a:ln/>
        </p:spPr>
        <p:txBody>
          <a:bodyPr wrap="square" lIns="0" tIns="0" rIns="0" bIns="0" rtlCol="0" anchor="ctr"/>
          <a:lstStyle/>
          <a:p>
            <a:pPr indent="0" marL="0">
              <a:buNone/>
            </a:pPr>
            <a:r>
              <a:rPr lang="en-US" sz="1200" b="1" spc="160" kern="0" dirty="0">
                <a:solidFill>
                  <a:srgbClr val="7FA3C9"/>
                </a:solidFill>
                <a:latin typeface="Calibri" pitchFamily="34" charset="0"/>
                <a:ea typeface="Calibri" pitchFamily="34" charset="-122"/>
                <a:cs typeface="Calibri" pitchFamily="34" charset="-120"/>
              </a:rPr>
              <a:t>FORTY-FIVE MINUTES  ·  EXERCISE 15</a:t>
            </a:r>
            <a:endParaRPr lang="en-US" sz="1200" dirty="0"/>
          </a:p>
        </p:txBody>
      </p:sp>
      <p:sp>
        <p:nvSpPr>
          <p:cNvPr id="7" name="Text 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51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47472"/>
            <a:ext cx="5486400" cy="237744"/>
          </a:xfrm>
          <a:prstGeom prst="rect">
            <a:avLst/>
          </a:prstGeom>
          <a:noFill/>
          <a:ln/>
        </p:spPr>
        <p:txBody>
          <a:bodyPr wrap="square" lIns="0" tIns="0" rIns="0" bIns="0" rtlCol="0" anchor="ctr"/>
          <a:lstStyle/>
          <a:p>
            <a:pPr indent="0" marL="0">
              <a:buNone/>
            </a:pPr>
            <a:r>
              <a:rPr lang="en-US" sz="1050" b="1" spc="240" kern="0" dirty="0">
                <a:solidFill>
                  <a:srgbClr val="2E5A8C"/>
                </a:solidFill>
                <a:latin typeface="Calibri" pitchFamily="34" charset="0"/>
                <a:ea typeface="Calibri" pitchFamily="34" charset="-122"/>
                <a:cs typeface="Calibri" pitchFamily="34" charset="-120"/>
              </a:rPr>
              <a:t>FIRST MONDAY</a:t>
            </a:r>
            <a:endParaRPr lang="en-US" sz="1050" dirty="0"/>
          </a:p>
        </p:txBody>
      </p:sp>
      <p:sp>
        <p:nvSpPr>
          <p:cNvPr id="3" name="Text 1"/>
          <p:cNvSpPr/>
          <p:nvPr/>
        </p:nvSpPr>
        <p:spPr>
          <a:xfrm>
            <a:off x="566928" y="658368"/>
            <a:ext cx="11057839" cy="786384"/>
          </a:xfrm>
          <a:prstGeom prst="rect">
            <a:avLst/>
          </a:prstGeom>
          <a:noFill/>
          <a:ln/>
        </p:spPr>
        <p:txBody>
          <a:bodyPr wrap="square" lIns="0" tIns="0" rIns="0" bIns="0" rtlCol="0" anchor="t"/>
          <a:lstStyle/>
          <a:p>
            <a:pPr indent="0" marL="0">
              <a:buNone/>
            </a:pPr>
            <a:r>
              <a:rPr lang="en-US" sz="3200" b="1" dirty="0">
                <a:solidFill>
                  <a:srgbClr val="17304A"/>
                </a:solidFill>
                <a:latin typeface="Cambria" pitchFamily="34" charset="0"/>
                <a:ea typeface="Cambria" pitchFamily="34" charset="-122"/>
                <a:cs typeface="Cambria" pitchFamily="34" charset="-120"/>
              </a:rPr>
              <a:t>Ten actions, in order, before the week gets away from us</a:t>
            </a:r>
            <a:endParaRPr lang="en-US" sz="3200" dirty="0"/>
          </a:p>
        </p:txBody>
      </p:sp>
      <p:sp>
        <p:nvSpPr>
          <p:cNvPr id="4" name="Text 2"/>
          <p:cNvSpPr/>
          <p:nvPr/>
        </p:nvSpPr>
        <p:spPr>
          <a:xfrm>
            <a:off x="566928" y="1481328"/>
            <a:ext cx="11057839" cy="475488"/>
          </a:xfrm>
          <a:prstGeom prst="rect">
            <a:avLst/>
          </a:prstGeom>
          <a:noFill/>
          <a:ln/>
        </p:spPr>
        <p:txBody>
          <a:bodyPr wrap="square" lIns="0" tIns="0" rIns="0" bIns="0" rtlCol="0" anchor="ctr"/>
          <a:lstStyle/>
          <a:p>
            <a:pPr indent="0" marL="0">
              <a:lnSpc>
                <a:spcPts val="1900"/>
              </a:lnSpc>
              <a:buNone/>
            </a:pPr>
            <a:r>
              <a:rPr lang="en-US" sz="1450" i="1" dirty="0">
                <a:solidFill>
                  <a:srgbClr val="5A6470"/>
                </a:solidFill>
                <a:latin typeface="Calibri" pitchFamily="34" charset="0"/>
                <a:ea typeface="Calibri" pitchFamily="34" charset="-122"/>
                <a:cs typeface="Calibri" pitchFamily="34" charset="-120"/>
              </a:rPr>
              <a:t>None requires a consultant, a new system, or permission.</a:t>
            </a:r>
            <a:endParaRPr lang="en-US" sz="1450" dirty="0"/>
          </a:p>
        </p:txBody>
      </p:sp>
      <p:sp>
        <p:nvSpPr>
          <p:cNvPr id="5" name="Text 3"/>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52</a:t>
            </a:r>
            <a:endParaRPr lang="en-US" sz="1000" dirty="0"/>
          </a:p>
        </p:txBody>
      </p:sp>
      <p:sp>
        <p:nvSpPr>
          <p:cNvPr id="6" name="Shape 4"/>
          <p:cNvSpPr/>
          <p:nvPr/>
        </p:nvSpPr>
        <p:spPr>
          <a:xfrm>
            <a:off x="585216" y="2185416"/>
            <a:ext cx="384048" cy="384048"/>
          </a:xfrm>
          <a:prstGeom prst="ellipse">
            <a:avLst/>
          </a:prstGeom>
          <a:solidFill>
            <a:srgbClr val="17304A"/>
          </a:solidFill>
          <a:ln/>
        </p:spPr>
      </p:sp>
      <p:sp>
        <p:nvSpPr>
          <p:cNvPr id="7" name="Text 5"/>
          <p:cNvSpPr/>
          <p:nvPr/>
        </p:nvSpPr>
        <p:spPr>
          <a:xfrm>
            <a:off x="585216" y="2185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133856" y="2148840"/>
            <a:ext cx="10417759" cy="303581"/>
          </a:xfrm>
          <a:prstGeom prst="rect">
            <a:avLst/>
          </a:prstGeom>
          <a:noFill/>
          <a:ln/>
        </p:spPr>
        <p:txBody>
          <a:bodyPr wrap="square" lIns="0" tIns="0" rIns="0" bIns="0" rtlCol="0" anchor="t"/>
          <a:lstStyle/>
          <a:p>
            <a:pPr indent="0" marL="0">
              <a:lnSpc>
                <a:spcPts val="1800"/>
              </a:lnSpc>
              <a:buNone/>
            </a:pPr>
            <a:r>
              <a:rPr lang="en-US" sz="1400" b="1" dirty="0">
                <a:solidFill>
                  <a:srgbClr val="17304A"/>
                </a:solidFill>
                <a:latin typeface="Calibri" pitchFamily="34" charset="0"/>
                <a:ea typeface="Calibri" pitchFamily="34" charset="-122"/>
                <a:cs typeface="Calibri" pitchFamily="34" charset="-120"/>
              </a:rPr>
              <a:t>Stand up the war room</a:t>
            </a:r>
            <a:pPr indent="0" marL="0">
              <a:lnSpc>
                <a:spcPts val="1800"/>
              </a:lnSpc>
              <a:buNone/>
            </a:pPr>
            <a:r>
              <a:rPr lang="en-US" sz="1250" dirty="0">
                <a:solidFill>
                  <a:srgbClr val="333F4D"/>
                </a:solidFill>
                <a:latin typeface="Calibri" pitchFamily="34" charset="0"/>
                <a:ea typeface="Calibri" pitchFamily="34" charset="-122"/>
                <a:cs typeface="Calibri" pitchFamily="34" charset="-120"/>
              </a:rPr>
              <a:t>   — one room, one wall of scorecards, one owner. Decisions get made there or they do not get made.</a:t>
            </a:r>
            <a:endParaRPr lang="en-US" sz="1400" dirty="0"/>
          </a:p>
        </p:txBody>
      </p:sp>
      <p:sp>
        <p:nvSpPr>
          <p:cNvPr id="9" name="Shape 7"/>
          <p:cNvSpPr/>
          <p:nvPr/>
        </p:nvSpPr>
        <p:spPr>
          <a:xfrm>
            <a:off x="585216" y="2598725"/>
            <a:ext cx="384048" cy="384048"/>
          </a:xfrm>
          <a:prstGeom prst="ellipse">
            <a:avLst/>
          </a:prstGeom>
          <a:solidFill>
            <a:srgbClr val="2E5A8C"/>
          </a:solidFill>
          <a:ln/>
        </p:spPr>
      </p:sp>
      <p:sp>
        <p:nvSpPr>
          <p:cNvPr id="10" name="Text 8"/>
          <p:cNvSpPr/>
          <p:nvPr/>
        </p:nvSpPr>
        <p:spPr>
          <a:xfrm>
            <a:off x="585216" y="2598725"/>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33856" y="2562149"/>
            <a:ext cx="10417759" cy="303581"/>
          </a:xfrm>
          <a:prstGeom prst="rect">
            <a:avLst/>
          </a:prstGeom>
          <a:noFill/>
          <a:ln/>
        </p:spPr>
        <p:txBody>
          <a:bodyPr wrap="square" lIns="0" tIns="0" rIns="0" bIns="0" rtlCol="0" anchor="t"/>
          <a:lstStyle/>
          <a:p>
            <a:pPr indent="0" marL="0">
              <a:lnSpc>
                <a:spcPts val="1800"/>
              </a:lnSpc>
              <a:buNone/>
            </a:pPr>
            <a:r>
              <a:rPr lang="en-US" sz="1400" b="1" dirty="0">
                <a:solidFill>
                  <a:srgbClr val="17304A"/>
                </a:solidFill>
                <a:latin typeface="Calibri" pitchFamily="34" charset="0"/>
                <a:ea typeface="Calibri" pitchFamily="34" charset="-122"/>
                <a:cs typeface="Calibri" pitchFamily="34" charset="-120"/>
              </a:rPr>
              <a:t>Publish the single-threaded owner list</a:t>
            </a:r>
            <a:pPr indent="0" marL="0">
              <a:lnSpc>
                <a:spcPts val="1800"/>
              </a:lnSpc>
              <a:buNone/>
            </a:pPr>
            <a:r>
              <a:rPr lang="en-US" sz="1250" dirty="0">
                <a:solidFill>
                  <a:srgbClr val="333F4D"/>
                </a:solidFill>
                <a:latin typeface="Calibri" pitchFamily="34" charset="0"/>
                <a:ea typeface="Calibri" pitchFamily="34" charset="-122"/>
                <a:cs typeface="Calibri" pitchFamily="34" charset="-120"/>
              </a:rPr>
              <a:t>   — every initiative, every metric, every gate with exactly one name against it.</a:t>
            </a:r>
            <a:endParaRPr lang="en-US" sz="1400" dirty="0"/>
          </a:p>
        </p:txBody>
      </p:sp>
      <p:sp>
        <p:nvSpPr>
          <p:cNvPr id="12" name="Shape 10"/>
          <p:cNvSpPr/>
          <p:nvPr/>
        </p:nvSpPr>
        <p:spPr>
          <a:xfrm>
            <a:off x="585216" y="3012034"/>
            <a:ext cx="384048" cy="384048"/>
          </a:xfrm>
          <a:prstGeom prst="ellipse">
            <a:avLst/>
          </a:prstGeom>
          <a:solidFill>
            <a:srgbClr val="17304A"/>
          </a:solidFill>
          <a:ln/>
        </p:spPr>
      </p:sp>
      <p:sp>
        <p:nvSpPr>
          <p:cNvPr id="13" name="Text 11"/>
          <p:cNvSpPr/>
          <p:nvPr/>
        </p:nvSpPr>
        <p:spPr>
          <a:xfrm>
            <a:off x="585216" y="301203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133856" y="2975458"/>
            <a:ext cx="10417759" cy="303581"/>
          </a:xfrm>
          <a:prstGeom prst="rect">
            <a:avLst/>
          </a:prstGeom>
          <a:noFill/>
          <a:ln/>
        </p:spPr>
        <p:txBody>
          <a:bodyPr wrap="square" lIns="0" tIns="0" rIns="0" bIns="0" rtlCol="0" anchor="t"/>
          <a:lstStyle/>
          <a:p>
            <a:pPr indent="0" marL="0">
              <a:lnSpc>
                <a:spcPts val="1800"/>
              </a:lnSpc>
              <a:buNone/>
            </a:pPr>
            <a:r>
              <a:rPr lang="en-US" sz="1400" b="1" dirty="0">
                <a:solidFill>
                  <a:srgbClr val="17304A"/>
                </a:solidFill>
                <a:latin typeface="Calibri" pitchFamily="34" charset="0"/>
                <a:ea typeface="Calibri" pitchFamily="34" charset="-122"/>
                <a:cs typeface="Calibri" pitchFamily="34" charset="-120"/>
              </a:rPr>
              <a:t>Publish the driver tree</a:t>
            </a:r>
            <a:pPr indent="0" marL="0">
              <a:lnSpc>
                <a:spcPts val="1800"/>
              </a:lnSpc>
              <a:buNone/>
            </a:pPr>
            <a:r>
              <a:rPr lang="en-US" sz="1250" dirty="0">
                <a:solidFill>
                  <a:srgbClr val="333F4D"/>
                </a:solidFill>
                <a:latin typeface="Calibri" pitchFamily="34" charset="0"/>
                <a:ea typeface="Calibri" pitchFamily="34" charset="-122"/>
                <a:cs typeface="Calibri" pitchFamily="34" charset="-120"/>
              </a:rPr>
              <a:t>   — digitised from this room’s walls, with definitions, inside five business days.</a:t>
            </a:r>
            <a:endParaRPr lang="en-US" sz="1400" dirty="0"/>
          </a:p>
        </p:txBody>
      </p:sp>
      <p:sp>
        <p:nvSpPr>
          <p:cNvPr id="15" name="Shape 13"/>
          <p:cNvSpPr/>
          <p:nvPr/>
        </p:nvSpPr>
        <p:spPr>
          <a:xfrm>
            <a:off x="585216" y="3425342"/>
            <a:ext cx="384048" cy="384048"/>
          </a:xfrm>
          <a:prstGeom prst="ellipse">
            <a:avLst/>
          </a:prstGeom>
          <a:solidFill>
            <a:srgbClr val="2E5A8C"/>
          </a:solidFill>
          <a:ln/>
        </p:spPr>
      </p:sp>
      <p:sp>
        <p:nvSpPr>
          <p:cNvPr id="16" name="Text 14"/>
          <p:cNvSpPr/>
          <p:nvPr/>
        </p:nvSpPr>
        <p:spPr>
          <a:xfrm>
            <a:off x="585216" y="342534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p:nvPr/>
        </p:nvSpPr>
        <p:spPr>
          <a:xfrm>
            <a:off x="1133856" y="3388766"/>
            <a:ext cx="10417759" cy="303581"/>
          </a:xfrm>
          <a:prstGeom prst="rect">
            <a:avLst/>
          </a:prstGeom>
          <a:noFill/>
          <a:ln/>
        </p:spPr>
        <p:txBody>
          <a:bodyPr wrap="square" lIns="0" tIns="0" rIns="0" bIns="0" rtlCol="0" anchor="t"/>
          <a:lstStyle/>
          <a:p>
            <a:pPr indent="0" marL="0">
              <a:lnSpc>
                <a:spcPts val="1800"/>
              </a:lnSpc>
              <a:buNone/>
            </a:pPr>
            <a:r>
              <a:rPr lang="en-US" sz="1400" b="1" dirty="0">
                <a:solidFill>
                  <a:srgbClr val="17304A"/>
                </a:solidFill>
                <a:latin typeface="Calibri" pitchFamily="34" charset="0"/>
                <a:ea typeface="Calibri" pitchFamily="34" charset="-122"/>
                <a:cs typeface="Calibri" pitchFamily="34" charset="-120"/>
              </a:rPr>
              <a:t>Stand up the 13-week cash forecast</a:t>
            </a:r>
            <a:pPr indent="0" marL="0">
              <a:lnSpc>
                <a:spcPts val="1800"/>
              </a:lnSpc>
              <a:buNone/>
            </a:pPr>
            <a:r>
              <a:rPr lang="en-US" sz="1250" dirty="0">
                <a:solidFill>
                  <a:srgbClr val="333F4D"/>
                </a:solidFill>
                <a:latin typeface="Calibri" pitchFamily="34" charset="0"/>
                <a:ea typeface="Calibri" pitchFamily="34" charset="-122"/>
                <a:cs typeface="Calibri" pitchFamily="34" charset="-120"/>
              </a:rPr>
              <a:t>   — weekly, rolling, non-delegable.</a:t>
            </a:r>
            <a:endParaRPr lang="en-US" sz="1400" dirty="0"/>
          </a:p>
        </p:txBody>
      </p:sp>
      <p:sp>
        <p:nvSpPr>
          <p:cNvPr id="18" name="Shape 16"/>
          <p:cNvSpPr/>
          <p:nvPr/>
        </p:nvSpPr>
        <p:spPr>
          <a:xfrm>
            <a:off x="585216" y="3838651"/>
            <a:ext cx="384048" cy="384048"/>
          </a:xfrm>
          <a:prstGeom prst="ellipse">
            <a:avLst/>
          </a:prstGeom>
          <a:solidFill>
            <a:srgbClr val="17304A"/>
          </a:solidFill>
          <a:ln/>
        </p:spPr>
      </p:sp>
      <p:sp>
        <p:nvSpPr>
          <p:cNvPr id="19" name="Text 17"/>
          <p:cNvSpPr/>
          <p:nvPr/>
        </p:nvSpPr>
        <p:spPr>
          <a:xfrm>
            <a:off x="585216" y="3838651"/>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p:nvPr/>
        </p:nvSpPr>
        <p:spPr>
          <a:xfrm>
            <a:off x="1133856" y="3802075"/>
            <a:ext cx="10417759" cy="303581"/>
          </a:xfrm>
          <a:prstGeom prst="rect">
            <a:avLst/>
          </a:prstGeom>
          <a:noFill/>
          <a:ln/>
        </p:spPr>
        <p:txBody>
          <a:bodyPr wrap="square" lIns="0" tIns="0" rIns="0" bIns="0" rtlCol="0" anchor="t"/>
          <a:lstStyle/>
          <a:p>
            <a:pPr indent="0" marL="0">
              <a:lnSpc>
                <a:spcPts val="1800"/>
              </a:lnSpc>
              <a:buNone/>
            </a:pPr>
            <a:r>
              <a:rPr lang="en-US" sz="1400" b="1" dirty="0">
                <a:solidFill>
                  <a:srgbClr val="17304A"/>
                </a:solidFill>
                <a:latin typeface="Calibri" pitchFamily="34" charset="0"/>
                <a:ea typeface="Calibri" pitchFamily="34" charset="-122"/>
                <a:cs typeface="Calibri" pitchFamily="34" charset="-120"/>
              </a:rPr>
              <a:t>Publish the stop-doing list</a:t>
            </a:r>
            <a:pPr indent="0" marL="0">
              <a:lnSpc>
                <a:spcPts val="1800"/>
              </a:lnSpc>
              <a:buNone/>
            </a:pPr>
            <a:r>
              <a:rPr lang="en-US" sz="1250" dirty="0">
                <a:solidFill>
                  <a:srgbClr val="333F4D"/>
                </a:solidFill>
                <a:latin typeface="Calibri" pitchFamily="34" charset="0"/>
                <a:ea typeface="Calibri" pitchFamily="34" charset="-122"/>
                <a:cs typeface="Calibri" pitchFamily="34" charset="-120"/>
              </a:rPr>
              <a:t>   — starting with everything killed on that wall on Tuesday.</a:t>
            </a:r>
            <a:endParaRPr lang="en-US" sz="1400" dirty="0"/>
          </a:p>
        </p:txBody>
      </p:sp>
      <p:sp>
        <p:nvSpPr>
          <p:cNvPr id="21" name="Shape 19"/>
          <p:cNvSpPr/>
          <p:nvPr/>
        </p:nvSpPr>
        <p:spPr>
          <a:xfrm>
            <a:off x="585216" y="4251960"/>
            <a:ext cx="384048" cy="384048"/>
          </a:xfrm>
          <a:prstGeom prst="ellipse">
            <a:avLst/>
          </a:prstGeom>
          <a:solidFill>
            <a:srgbClr val="2E5A8C"/>
          </a:solidFill>
          <a:ln/>
        </p:spPr>
      </p:sp>
      <p:sp>
        <p:nvSpPr>
          <p:cNvPr id="22" name="Text 20"/>
          <p:cNvSpPr/>
          <p:nvPr/>
        </p:nvSpPr>
        <p:spPr>
          <a:xfrm>
            <a:off x="585216" y="42519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3" name="Text 21"/>
          <p:cNvSpPr/>
          <p:nvPr/>
        </p:nvSpPr>
        <p:spPr>
          <a:xfrm>
            <a:off x="1133856" y="4215384"/>
            <a:ext cx="10417759" cy="303581"/>
          </a:xfrm>
          <a:prstGeom prst="rect">
            <a:avLst/>
          </a:prstGeom>
          <a:noFill/>
          <a:ln/>
        </p:spPr>
        <p:txBody>
          <a:bodyPr wrap="square" lIns="0" tIns="0" rIns="0" bIns="0" rtlCol="0" anchor="t"/>
          <a:lstStyle/>
          <a:p>
            <a:pPr indent="0" marL="0">
              <a:lnSpc>
                <a:spcPts val="1800"/>
              </a:lnSpc>
              <a:buNone/>
            </a:pPr>
            <a:r>
              <a:rPr lang="en-US" sz="1400" b="1" dirty="0">
                <a:solidFill>
                  <a:srgbClr val="17304A"/>
                </a:solidFill>
                <a:latin typeface="Calibri" pitchFamily="34" charset="0"/>
                <a:ea typeface="Calibri" pitchFamily="34" charset="-122"/>
                <a:cs typeface="Calibri" pitchFamily="34" charset="-120"/>
              </a:rPr>
              <a:t>Name the binding constraint</a:t>
            </a:r>
            <a:pPr indent="0" marL="0">
              <a:lnSpc>
                <a:spcPts val="1800"/>
              </a:lnSpc>
              <a:buNone/>
            </a:pPr>
            <a:r>
              <a:rPr lang="en-US" sz="1250" dirty="0">
                <a:solidFill>
                  <a:srgbClr val="333F4D"/>
                </a:solidFill>
                <a:latin typeface="Calibri" pitchFamily="34" charset="0"/>
                <a:ea typeface="Calibri" pitchFamily="34" charset="-122"/>
                <a:cs typeface="Calibri" pitchFamily="34" charset="-120"/>
              </a:rPr>
              <a:t>   — one constraint confirmed with cohort data, not five priorities confirmed with enthusiasm.</a:t>
            </a:r>
            <a:endParaRPr lang="en-US" sz="1400" dirty="0"/>
          </a:p>
        </p:txBody>
      </p:sp>
      <p:sp>
        <p:nvSpPr>
          <p:cNvPr id="24" name="Shape 22"/>
          <p:cNvSpPr/>
          <p:nvPr/>
        </p:nvSpPr>
        <p:spPr>
          <a:xfrm>
            <a:off x="585216" y="4665269"/>
            <a:ext cx="384048" cy="384048"/>
          </a:xfrm>
          <a:prstGeom prst="ellipse">
            <a:avLst/>
          </a:prstGeom>
          <a:solidFill>
            <a:srgbClr val="17304A"/>
          </a:solidFill>
          <a:ln/>
        </p:spPr>
      </p:sp>
      <p:sp>
        <p:nvSpPr>
          <p:cNvPr id="25" name="Text 23"/>
          <p:cNvSpPr/>
          <p:nvPr/>
        </p:nvSpPr>
        <p:spPr>
          <a:xfrm>
            <a:off x="585216" y="4665269"/>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6" name="Text 24"/>
          <p:cNvSpPr/>
          <p:nvPr/>
        </p:nvSpPr>
        <p:spPr>
          <a:xfrm>
            <a:off x="1133856" y="4628693"/>
            <a:ext cx="10417759" cy="303581"/>
          </a:xfrm>
          <a:prstGeom prst="rect">
            <a:avLst/>
          </a:prstGeom>
          <a:noFill/>
          <a:ln/>
        </p:spPr>
        <p:txBody>
          <a:bodyPr wrap="square" lIns="0" tIns="0" rIns="0" bIns="0" rtlCol="0" anchor="t"/>
          <a:lstStyle/>
          <a:p>
            <a:pPr indent="0" marL="0">
              <a:lnSpc>
                <a:spcPts val="1800"/>
              </a:lnSpc>
              <a:buNone/>
            </a:pPr>
            <a:r>
              <a:rPr lang="en-US" sz="1400" b="1" dirty="0">
                <a:solidFill>
                  <a:srgbClr val="17304A"/>
                </a:solidFill>
                <a:latin typeface="Calibri" pitchFamily="34" charset="0"/>
                <a:ea typeface="Calibri" pitchFamily="34" charset="-122"/>
                <a:cs typeface="Calibri" pitchFamily="34" charset="-120"/>
              </a:rPr>
              <a:t>Launch the signed pre-registrations</a:t>
            </a:r>
            <a:pPr indent="0" marL="0">
              <a:lnSpc>
                <a:spcPts val="1800"/>
              </a:lnSpc>
              <a:buNone/>
            </a:pPr>
            <a:r>
              <a:rPr lang="en-US" sz="1250" dirty="0">
                <a:solidFill>
                  <a:srgbClr val="333F4D"/>
                </a:solidFill>
                <a:latin typeface="Calibri" pitchFamily="34" charset="0"/>
                <a:ea typeface="Calibri" pitchFamily="34" charset="-122"/>
                <a:cs typeface="Calibri" pitchFamily="34" charset="-120"/>
              </a:rPr>
              <a:t>   — every test written in Exercise 7 goes live this month.</a:t>
            </a:r>
            <a:endParaRPr lang="en-US" sz="1400" dirty="0"/>
          </a:p>
        </p:txBody>
      </p:sp>
      <p:sp>
        <p:nvSpPr>
          <p:cNvPr id="27" name="Shape 25"/>
          <p:cNvSpPr/>
          <p:nvPr/>
        </p:nvSpPr>
        <p:spPr>
          <a:xfrm>
            <a:off x="585216" y="5078578"/>
            <a:ext cx="384048" cy="384048"/>
          </a:xfrm>
          <a:prstGeom prst="ellipse">
            <a:avLst/>
          </a:prstGeom>
          <a:solidFill>
            <a:srgbClr val="2E5A8C"/>
          </a:solidFill>
          <a:ln/>
        </p:spPr>
      </p:sp>
      <p:sp>
        <p:nvSpPr>
          <p:cNvPr id="28" name="Text 26"/>
          <p:cNvSpPr/>
          <p:nvPr/>
        </p:nvSpPr>
        <p:spPr>
          <a:xfrm>
            <a:off x="585216" y="507857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9" name="Text 27"/>
          <p:cNvSpPr/>
          <p:nvPr/>
        </p:nvSpPr>
        <p:spPr>
          <a:xfrm>
            <a:off x="1133856" y="5042002"/>
            <a:ext cx="10417759" cy="303581"/>
          </a:xfrm>
          <a:prstGeom prst="rect">
            <a:avLst/>
          </a:prstGeom>
          <a:noFill/>
          <a:ln/>
        </p:spPr>
        <p:txBody>
          <a:bodyPr wrap="square" lIns="0" tIns="0" rIns="0" bIns="0" rtlCol="0" anchor="t"/>
          <a:lstStyle/>
          <a:p>
            <a:pPr indent="0" marL="0">
              <a:lnSpc>
                <a:spcPts val="1800"/>
              </a:lnSpc>
              <a:buNone/>
            </a:pPr>
            <a:r>
              <a:rPr lang="en-US" sz="1400" b="1" dirty="0">
                <a:solidFill>
                  <a:srgbClr val="17304A"/>
                </a:solidFill>
                <a:latin typeface="Calibri" pitchFamily="34" charset="0"/>
                <a:ea typeface="Calibri" pitchFamily="34" charset="-122"/>
                <a:cs typeface="Calibri" pitchFamily="34" charset="-120"/>
              </a:rPr>
              <a:t>Institute the daily huddle and the 7-day ship list</a:t>
            </a:r>
            <a:pPr indent="0" marL="0">
              <a:lnSpc>
                <a:spcPts val="1800"/>
              </a:lnSpc>
              <a:buNone/>
            </a:pPr>
            <a:r>
              <a:rPr lang="en-US" sz="1250" dirty="0">
                <a:solidFill>
                  <a:srgbClr val="333F4D"/>
                </a:solidFill>
                <a:latin typeface="Calibri" pitchFamily="34" charset="0"/>
                <a:ea typeface="Calibri" pitchFamily="34" charset="-122"/>
                <a:cs typeface="Calibri" pitchFamily="34" charset="-120"/>
              </a:rPr>
              <a:t>   — fifteen minutes, standing, one scorecard. This week, not after the next offsite.</a:t>
            </a:r>
            <a:endParaRPr lang="en-US" sz="1400" dirty="0"/>
          </a:p>
        </p:txBody>
      </p:sp>
      <p:sp>
        <p:nvSpPr>
          <p:cNvPr id="30" name="Shape 28"/>
          <p:cNvSpPr/>
          <p:nvPr/>
        </p:nvSpPr>
        <p:spPr>
          <a:xfrm>
            <a:off x="585216" y="5491886"/>
            <a:ext cx="384048" cy="384048"/>
          </a:xfrm>
          <a:prstGeom prst="ellipse">
            <a:avLst/>
          </a:prstGeom>
          <a:solidFill>
            <a:srgbClr val="17304A"/>
          </a:solidFill>
          <a:ln/>
        </p:spPr>
      </p:sp>
      <p:sp>
        <p:nvSpPr>
          <p:cNvPr id="31" name="Text 29"/>
          <p:cNvSpPr/>
          <p:nvPr/>
        </p:nvSpPr>
        <p:spPr>
          <a:xfrm>
            <a:off x="585216" y="549188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p:nvPr/>
        </p:nvSpPr>
        <p:spPr>
          <a:xfrm>
            <a:off x="1133856" y="5455310"/>
            <a:ext cx="10417759" cy="303581"/>
          </a:xfrm>
          <a:prstGeom prst="rect">
            <a:avLst/>
          </a:prstGeom>
          <a:noFill/>
          <a:ln/>
        </p:spPr>
        <p:txBody>
          <a:bodyPr wrap="square" lIns="0" tIns="0" rIns="0" bIns="0" rtlCol="0" anchor="t"/>
          <a:lstStyle/>
          <a:p>
            <a:pPr indent="0" marL="0">
              <a:lnSpc>
                <a:spcPts val="1800"/>
              </a:lnSpc>
              <a:buNone/>
            </a:pPr>
            <a:r>
              <a:rPr lang="en-US" sz="1400" b="1" dirty="0">
                <a:solidFill>
                  <a:srgbClr val="17304A"/>
                </a:solidFill>
                <a:latin typeface="Calibri" pitchFamily="34" charset="0"/>
                <a:ea typeface="Calibri" pitchFamily="34" charset="-122"/>
                <a:cs typeface="Calibri" pitchFamily="34" charset="-120"/>
              </a:rPr>
              <a:t>Hold the keeper-test conversations</a:t>
            </a:r>
            <a:pPr indent="0" marL="0">
              <a:lnSpc>
                <a:spcPts val="1800"/>
              </a:lnSpc>
              <a:buNone/>
            </a:pPr>
            <a:r>
              <a:rPr lang="en-US" sz="1250" dirty="0">
                <a:solidFill>
                  <a:srgbClr val="333F4D"/>
                </a:solidFill>
                <a:latin typeface="Calibri" pitchFamily="34" charset="0"/>
                <a:ea typeface="Calibri" pitchFamily="34" charset="-122"/>
                <a:cs typeface="Calibri" pitchFamily="34" charset="-120"/>
              </a:rPr>
              <a:t>   — every "no" gets its conversation inside thirty days. Every "yes" gets told this week.</a:t>
            </a:r>
            <a:endParaRPr lang="en-US" sz="1400" dirty="0"/>
          </a:p>
        </p:txBody>
      </p:sp>
      <p:sp>
        <p:nvSpPr>
          <p:cNvPr id="33" name="Shape 31"/>
          <p:cNvSpPr/>
          <p:nvPr/>
        </p:nvSpPr>
        <p:spPr>
          <a:xfrm>
            <a:off x="585216" y="5905195"/>
            <a:ext cx="384048" cy="384048"/>
          </a:xfrm>
          <a:prstGeom prst="ellipse">
            <a:avLst/>
          </a:prstGeom>
          <a:solidFill>
            <a:srgbClr val="2E5A8C"/>
          </a:solidFill>
          <a:ln/>
        </p:spPr>
      </p:sp>
      <p:sp>
        <p:nvSpPr>
          <p:cNvPr id="34" name="Text 32"/>
          <p:cNvSpPr/>
          <p:nvPr/>
        </p:nvSpPr>
        <p:spPr>
          <a:xfrm>
            <a:off x="585216" y="5905195"/>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5" name="Text 33"/>
          <p:cNvSpPr/>
          <p:nvPr/>
        </p:nvSpPr>
        <p:spPr>
          <a:xfrm>
            <a:off x="1133856" y="5868619"/>
            <a:ext cx="10417759" cy="303581"/>
          </a:xfrm>
          <a:prstGeom prst="rect">
            <a:avLst/>
          </a:prstGeom>
          <a:noFill/>
          <a:ln/>
        </p:spPr>
        <p:txBody>
          <a:bodyPr wrap="square" lIns="0" tIns="0" rIns="0" bIns="0" rtlCol="0" anchor="t"/>
          <a:lstStyle/>
          <a:p>
            <a:pPr indent="0" marL="0">
              <a:lnSpc>
                <a:spcPts val="1800"/>
              </a:lnSpc>
              <a:buNone/>
            </a:pPr>
            <a:r>
              <a:rPr lang="en-US" sz="1400" b="1" dirty="0">
                <a:solidFill>
                  <a:srgbClr val="17304A"/>
                </a:solidFill>
                <a:latin typeface="Calibri" pitchFamily="34" charset="0"/>
                <a:ea typeface="Calibri" pitchFamily="34" charset="-122"/>
                <a:cs typeface="Calibri" pitchFamily="34" charset="-120"/>
              </a:rPr>
              <a:t>Ship the first structural-hole contact and reputation asset</a:t>
            </a:r>
            <a:pPr indent="0" marL="0">
              <a:lnSpc>
                <a:spcPts val="1800"/>
              </a:lnSpc>
              <a:buNone/>
            </a:pPr>
            <a:r>
              <a:rPr lang="en-US" sz="1250" dirty="0">
                <a:solidFill>
                  <a:srgbClr val="333F4D"/>
                </a:solidFill>
                <a:latin typeface="Calibri" pitchFamily="34" charset="0"/>
                <a:ea typeface="Calibri" pitchFamily="34" charset="-122"/>
                <a:cs typeface="Calibri" pitchFamily="34" charset="-120"/>
              </a:rPr>
              <a:t>   — before noon on Monday. The network and the reputation compound from day one or not at all.</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E1F31"/>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0E1F31"/>
          </a:solidFill>
          <a:ln/>
        </p:spPr>
      </p:sp>
      <p:sp>
        <p:nvSpPr>
          <p:cNvPr id="3" name="Text 1"/>
          <p:cNvSpPr/>
          <p:nvPr/>
        </p:nvSpPr>
        <p:spPr>
          <a:xfrm>
            <a:off x="841248" y="384048"/>
            <a:ext cx="5486400" cy="256032"/>
          </a:xfrm>
          <a:prstGeom prst="rect">
            <a:avLst/>
          </a:prstGeom>
          <a:noFill/>
          <a:ln/>
        </p:spPr>
        <p:txBody>
          <a:bodyPr wrap="square" lIns="0" tIns="0" rIns="0" bIns="0" rtlCol="0" anchor="ctr"/>
          <a:lstStyle/>
          <a:p>
            <a:pPr indent="0" marL="0">
              <a:buNone/>
            </a:pPr>
            <a:r>
              <a:rPr lang="en-US" sz="1150" b="1" spc="360" kern="0" dirty="0">
                <a:solidFill>
                  <a:srgbClr val="D2A24C"/>
                </a:solidFill>
                <a:latin typeface="Calibri" pitchFamily="34" charset="0"/>
                <a:ea typeface="Calibri" pitchFamily="34" charset="-122"/>
                <a:cs typeface="Calibri" pitchFamily="34" charset="-120"/>
              </a:rPr>
              <a:t>EXERCISE 15</a:t>
            </a:r>
            <a:endParaRPr lang="en-US" sz="1150" dirty="0"/>
          </a:p>
        </p:txBody>
      </p:sp>
      <p:sp>
        <p:nvSpPr>
          <p:cNvPr id="4" name="Text 2"/>
          <p:cNvSpPr/>
          <p:nvPr/>
        </p:nvSpPr>
        <p:spPr>
          <a:xfrm>
            <a:off x="841248" y="731520"/>
            <a:ext cx="8131759" cy="804672"/>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First Monday</a:t>
            </a:r>
            <a:endParaRPr lang="en-US" sz="3200" dirty="0"/>
          </a:p>
        </p:txBody>
      </p:sp>
      <p:sp>
        <p:nvSpPr>
          <p:cNvPr id="5" name="Text 3"/>
          <p:cNvSpPr/>
          <p:nvPr/>
        </p:nvSpPr>
        <p:spPr>
          <a:xfrm>
            <a:off x="841248"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FORMAT</a:t>
            </a:r>
            <a:endParaRPr lang="en-US" sz="950" dirty="0"/>
          </a:p>
        </p:txBody>
      </p:sp>
      <p:sp>
        <p:nvSpPr>
          <p:cNvPr id="6" name="Text 4"/>
          <p:cNvSpPr/>
          <p:nvPr/>
        </p:nvSpPr>
        <p:spPr>
          <a:xfrm>
            <a:off x="841248"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Individually, then aloud, standing</a:t>
            </a:r>
            <a:endParaRPr lang="en-US" sz="1300" dirty="0"/>
          </a:p>
        </p:txBody>
      </p:sp>
      <p:sp>
        <p:nvSpPr>
          <p:cNvPr id="7" name="Text 5"/>
          <p:cNvSpPr/>
          <p:nvPr/>
        </p:nvSpPr>
        <p:spPr>
          <a:xfrm>
            <a:off x="4420514"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TIME</a:t>
            </a:r>
            <a:endParaRPr lang="en-US" sz="950" dirty="0"/>
          </a:p>
        </p:txBody>
      </p:sp>
      <p:sp>
        <p:nvSpPr>
          <p:cNvPr id="8" name="Text 6"/>
          <p:cNvSpPr/>
          <p:nvPr/>
        </p:nvSpPr>
        <p:spPr>
          <a:xfrm>
            <a:off x="4420514"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40 minutes</a:t>
            </a:r>
            <a:endParaRPr lang="en-US" sz="1300" dirty="0"/>
          </a:p>
        </p:txBody>
      </p:sp>
      <p:sp>
        <p:nvSpPr>
          <p:cNvPr id="9" name="Text 7"/>
          <p:cNvSpPr/>
          <p:nvPr/>
        </p:nvSpPr>
        <p:spPr>
          <a:xfrm>
            <a:off x="7999781" y="1645920"/>
            <a:ext cx="3350666" cy="201168"/>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OUTPUT</a:t>
            </a:r>
            <a:endParaRPr lang="en-US" sz="950" dirty="0"/>
          </a:p>
        </p:txBody>
      </p:sp>
      <p:sp>
        <p:nvSpPr>
          <p:cNvPr id="10" name="Text 8"/>
          <p:cNvSpPr/>
          <p:nvPr/>
        </p:nvSpPr>
        <p:spPr>
          <a:xfrm>
            <a:off x="7999781" y="1865376"/>
            <a:ext cx="3350666" cy="438912"/>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The first ship list, publicly committed</a:t>
            </a:r>
            <a:endParaRPr lang="en-US" sz="1300" dirty="0"/>
          </a:p>
        </p:txBody>
      </p:sp>
      <p:sp>
        <p:nvSpPr>
          <p:cNvPr id="11" name="Shape 9"/>
          <p:cNvSpPr/>
          <p:nvPr/>
        </p:nvSpPr>
        <p:spPr>
          <a:xfrm>
            <a:off x="841248" y="2414016"/>
            <a:ext cx="10509199" cy="18288"/>
          </a:xfrm>
          <a:prstGeom prst="rect">
            <a:avLst/>
          </a:prstGeom>
          <a:solidFill>
            <a:srgbClr val="2C4763"/>
          </a:solidFill>
          <a:ln/>
        </p:spPr>
      </p:sp>
      <p:sp>
        <p:nvSpPr>
          <p:cNvPr id="12" name="Text 10"/>
          <p:cNvSpPr/>
          <p:nvPr/>
        </p:nvSpPr>
        <p:spPr>
          <a:xfrm>
            <a:off x="841248" y="2615184"/>
            <a:ext cx="5120640" cy="219456"/>
          </a:xfrm>
          <a:prstGeom prst="rect">
            <a:avLst/>
          </a:prstGeom>
          <a:noFill/>
          <a:ln/>
        </p:spPr>
        <p:txBody>
          <a:bodyPr wrap="square" lIns="0" tIns="0" rIns="0" bIns="0" rtlCol="0" anchor="ctr"/>
          <a:lstStyle/>
          <a:p>
            <a:pPr indent="0" marL="0">
              <a:buNone/>
            </a:pPr>
            <a:r>
              <a:rPr lang="en-US" sz="950" b="1" spc="200" kern="0" dirty="0">
                <a:solidFill>
                  <a:srgbClr val="6E8CAB"/>
                </a:solidFill>
                <a:latin typeface="Calibri" pitchFamily="34" charset="0"/>
                <a:ea typeface="Calibri" pitchFamily="34" charset="-122"/>
                <a:cs typeface="Calibri" pitchFamily="34" charset="-120"/>
              </a:rPr>
              <a:t>THE BRIEF</a:t>
            </a:r>
            <a:endParaRPr lang="en-US" sz="950" dirty="0"/>
          </a:p>
        </p:txBody>
      </p:sp>
      <p:sp>
        <p:nvSpPr>
          <p:cNvPr id="13" name="Text 11"/>
          <p:cNvSpPr/>
          <p:nvPr/>
        </p:nvSpPr>
        <p:spPr>
          <a:xfrm>
            <a:off x="841248" y="2889504"/>
            <a:ext cx="6035040" cy="3310128"/>
          </a:xfrm>
          <a:prstGeom prst="rect">
            <a:avLst/>
          </a:prstGeom>
          <a:noFill/>
          <a:ln/>
        </p:spPr>
        <p:txBody>
          <a:bodyPr wrap="square" lIns="0" tIns="0" rIns="0" bIns="0" rtlCol="0" anchor="t"/>
          <a:lstStyle/>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Everyone writes three commitments for the next seven days. Binary — shipped or not shipped by next Monday.</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At least one must be something you will stop, not something you will start.</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Each is specific enough that someone else could verify it without asking you.</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Each person stands and reads their three aloud. No commentary, no discussion.</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All commitments go on one wall as the first ship list, with names.</a:t>
            </a:r>
            <a:endParaRPr lang="en-US" sz="1250" dirty="0"/>
          </a:p>
          <a:p>
            <a:pPr marL="342900" indent="-342900">
              <a:lnSpc>
                <a:spcPts val="1700"/>
              </a:lnSpc>
              <a:spcAft>
                <a:spcPts val="700"/>
              </a:spcAft>
              <a:buSzPct val="100000"/>
              <a:buChar char="•"/>
            </a:pPr>
            <a:r>
              <a:rPr lang="en-US" sz="1250" dirty="0">
                <a:solidFill>
                  <a:srgbClr val="E2EAF3"/>
                </a:solidFill>
                <a:latin typeface="Calibri" pitchFamily="34" charset="0"/>
                <a:ea typeface="Calibri" pitchFamily="34" charset="-122"/>
                <a:cs typeface="Calibri" pitchFamily="34" charset="-120"/>
              </a:rPr>
              <a:t>The war room convenes next Monday and reviews it first, out loud, binary, before anything new is written.</a:t>
            </a:r>
            <a:endParaRPr lang="en-US" sz="1250" dirty="0"/>
          </a:p>
        </p:txBody>
      </p:sp>
      <p:sp>
        <p:nvSpPr>
          <p:cNvPr id="14" name="Shape 12"/>
          <p:cNvSpPr/>
          <p:nvPr/>
        </p:nvSpPr>
        <p:spPr>
          <a:xfrm>
            <a:off x="7287768" y="2578608"/>
            <a:ext cx="4336999" cy="3675888"/>
          </a:xfrm>
          <a:prstGeom prst="roundRect">
            <a:avLst>
              <a:gd name="adj" fmla="val 1493"/>
            </a:avLst>
          </a:prstGeom>
          <a:solidFill>
            <a:srgbClr val="16324C"/>
          </a:solidFill>
          <a:ln w="12700">
            <a:solidFill>
              <a:srgbClr val="2C4763"/>
            </a:solidFill>
            <a:prstDash val="solid"/>
          </a:ln>
        </p:spPr>
      </p:sp>
      <p:sp>
        <p:nvSpPr>
          <p:cNvPr id="15" name="Text 13"/>
          <p:cNvSpPr/>
          <p:nvPr/>
        </p:nvSpPr>
        <p:spPr>
          <a:xfrm>
            <a:off x="7516368" y="2779776"/>
            <a:ext cx="3834079" cy="219456"/>
          </a:xfrm>
          <a:prstGeom prst="rect">
            <a:avLst/>
          </a:prstGeom>
          <a:noFill/>
          <a:ln/>
        </p:spPr>
        <p:txBody>
          <a:bodyPr wrap="square" lIns="0" tIns="0" rIns="0" bIns="0" rtlCol="0" anchor="ctr"/>
          <a:lstStyle/>
          <a:p>
            <a:pPr indent="0" marL="0">
              <a:buNone/>
            </a:pPr>
            <a:r>
              <a:rPr lang="en-US" sz="950" b="1" spc="200" kern="0" dirty="0">
                <a:solidFill>
                  <a:srgbClr val="D2A24C"/>
                </a:solidFill>
                <a:latin typeface="Calibri" pitchFamily="34" charset="0"/>
                <a:ea typeface="Calibri" pitchFamily="34" charset="-122"/>
                <a:cs typeface="Calibri" pitchFamily="34" charset="-120"/>
              </a:rPr>
              <a:t>WHAT THIS ANCHORS</a:t>
            </a:r>
            <a:endParaRPr lang="en-US" sz="950" dirty="0"/>
          </a:p>
        </p:txBody>
      </p:sp>
      <p:sp>
        <p:nvSpPr>
          <p:cNvPr id="16" name="Text 14"/>
          <p:cNvSpPr/>
          <p:nvPr/>
        </p:nvSpPr>
        <p:spPr>
          <a:xfrm>
            <a:off x="7516368" y="3054096"/>
            <a:ext cx="3834079" cy="3054096"/>
          </a:xfrm>
          <a:prstGeom prst="rect">
            <a:avLst/>
          </a:prstGeom>
          <a:noFill/>
          <a:ln/>
        </p:spPr>
        <p:txBody>
          <a:bodyPr wrap="square" lIns="0" tIns="0" rIns="0" bIns="0" rtlCol="0" anchor="t"/>
          <a:lstStyle/>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Public commitment is the enforcement mechanism, and it works for a reason that has nothing to do with process: executives protect their hit rate in front of peers far more reliably than any reporting structure compels them to.</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The stop-commitment is what prevents this from becoming an additive exercise where everyone leaves with more work and nothing changes.</a:t>
            </a:r>
            <a:endParaRPr lang="en-US" sz="1250" dirty="0"/>
          </a:p>
          <a:p>
            <a:pPr indent="0" marL="0">
              <a:lnSpc>
                <a:spcPts val="1700"/>
              </a:lnSpc>
              <a:buNone/>
            </a:pPr>
            <a:endParaRPr lang="en-US" sz="1250" dirty="0"/>
          </a:p>
          <a:p>
            <a:pPr indent="0" marL="0">
              <a:lnSpc>
                <a:spcPts val="1700"/>
              </a:lnSpc>
              <a:buNone/>
            </a:pPr>
            <a:r>
              <a:rPr lang="en-US" sz="1250" dirty="0">
                <a:solidFill>
                  <a:srgbClr val="E2EAF3"/>
                </a:solidFill>
                <a:latin typeface="Calibri" pitchFamily="34" charset="0"/>
                <a:ea typeface="Calibri" pitchFamily="34" charset="-122"/>
                <a:cs typeface="Calibri" pitchFamily="34" charset="-120"/>
              </a:rPr>
              <a:t>Next Monday, that wall is the agenda. Not this deck.</a:t>
            </a:r>
            <a:endParaRPr lang="en-US" sz="1250" dirty="0"/>
          </a:p>
        </p:txBody>
      </p:sp>
      <p:sp>
        <p:nvSpPr>
          <p:cNvPr id="17" name="Text 15"/>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53</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E1F31"/>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0E1F31"/>
          </a:solidFill>
          <a:ln/>
        </p:spPr>
      </p:sp>
      <p:sp>
        <p:nvSpPr>
          <p:cNvPr id="3" name="Text 1"/>
          <p:cNvSpPr/>
          <p:nvPr/>
        </p:nvSpPr>
        <p:spPr>
          <a:xfrm>
            <a:off x="841248" y="1234440"/>
            <a:ext cx="11057839" cy="274320"/>
          </a:xfrm>
          <a:prstGeom prst="rect">
            <a:avLst/>
          </a:prstGeom>
          <a:noFill/>
          <a:ln/>
        </p:spPr>
        <p:txBody>
          <a:bodyPr wrap="square" lIns="0" tIns="0" rIns="0" bIns="0" rtlCol="0" anchor="ctr"/>
          <a:lstStyle/>
          <a:p>
            <a:pPr indent="0" marL="0">
              <a:buNone/>
            </a:pPr>
            <a:r>
              <a:rPr lang="en-US" sz="1100" b="1" spc="300" kern="0" dirty="0">
                <a:solidFill>
                  <a:srgbClr val="8FB2D6"/>
                </a:solidFill>
                <a:latin typeface="Calibri" pitchFamily="34" charset="0"/>
                <a:ea typeface="Calibri" pitchFamily="34" charset="-122"/>
                <a:cs typeface="Calibri" pitchFamily="34" charset="-120"/>
              </a:rPr>
              <a:t>THE OPERATING IDENTITY</a:t>
            </a:r>
            <a:endParaRPr lang="en-US" sz="1100" dirty="0"/>
          </a:p>
        </p:txBody>
      </p:sp>
      <p:sp>
        <p:nvSpPr>
          <p:cNvPr id="4" name="Text 2"/>
          <p:cNvSpPr/>
          <p:nvPr/>
        </p:nvSpPr>
        <p:spPr>
          <a:xfrm>
            <a:off x="841248" y="1783080"/>
            <a:ext cx="9777679" cy="2834640"/>
          </a:xfrm>
          <a:prstGeom prst="rect">
            <a:avLst/>
          </a:prstGeom>
          <a:noFill/>
          <a:ln/>
        </p:spPr>
        <p:txBody>
          <a:bodyPr wrap="square" lIns="0" tIns="0" rIns="0" bIns="0" rtlCol="0" anchor="t"/>
          <a:lstStyle/>
          <a:p>
            <a:pPr indent="0" marL="0">
              <a:lnSpc>
                <a:spcPts val="4200"/>
              </a:lnSpc>
              <a:buNone/>
            </a:pPr>
            <a:r>
              <a:rPr lang="en-US" sz="3000" b="1" dirty="0">
                <a:solidFill>
                  <a:srgbClr val="FFFFFF"/>
                </a:solidFill>
                <a:latin typeface="Cambria" pitchFamily="34" charset="0"/>
                <a:ea typeface="Cambria" pitchFamily="34" charset="-122"/>
                <a:cs typeface="Cambria" pitchFamily="34" charset="-120"/>
              </a:rPr>
              <a:t>Run the inside like Toyota. Position the outside like Sequoia. Power everything like it is 1910 and you have just discovered the fractional-horsepower motor.</a:t>
            </a:r>
            <a:endParaRPr lang="en-US" sz="3000" dirty="0"/>
          </a:p>
        </p:txBody>
      </p:sp>
      <p:sp>
        <p:nvSpPr>
          <p:cNvPr id="5" name="Text 3"/>
          <p:cNvSpPr/>
          <p:nvPr/>
        </p:nvSpPr>
        <p:spPr>
          <a:xfrm>
            <a:off x="841248" y="4800600"/>
            <a:ext cx="9046159" cy="1371600"/>
          </a:xfrm>
          <a:prstGeom prst="rect">
            <a:avLst/>
          </a:prstGeom>
          <a:noFill/>
          <a:ln/>
        </p:spPr>
        <p:txBody>
          <a:bodyPr wrap="square" lIns="0" tIns="0" rIns="0" bIns="0" rtlCol="0" anchor="t"/>
          <a:lstStyle/>
          <a:p>
            <a:pPr indent="0" marL="0">
              <a:lnSpc>
                <a:spcPts val="2100"/>
              </a:lnSpc>
              <a:buNone/>
            </a:pPr>
            <a:r>
              <a:rPr lang="en-US" sz="1500" dirty="0">
                <a:solidFill>
                  <a:srgbClr val="CFDCEA"/>
                </a:solidFill>
                <a:latin typeface="Calibri" pitchFamily="34" charset="0"/>
                <a:ea typeface="Calibri" pitchFamily="34" charset="-122"/>
                <a:cs typeface="Calibri" pitchFamily="34" charset="-120"/>
              </a:rPr>
              <a:t>Survive long enough for the avalanche, and hold convex exposure when it arrives.</a:t>
            </a:r>
            <a:endParaRPr lang="en-US" sz="1500" dirty="0"/>
          </a:p>
          <a:p>
            <a:pPr indent="0" marL="0">
              <a:lnSpc>
                <a:spcPts val="2100"/>
              </a:lnSpc>
              <a:buNone/>
            </a:pPr>
            <a:endParaRPr lang="en-US" sz="1500" dirty="0"/>
          </a:p>
          <a:p>
            <a:pPr indent="0" marL="0">
              <a:lnSpc>
                <a:spcPts val="2100"/>
              </a:lnSpc>
              <a:buNone/>
            </a:pPr>
            <a:r>
              <a:rPr lang="en-US" sz="1500" dirty="0">
                <a:solidFill>
                  <a:srgbClr val="CFDCEA"/>
                </a:solidFill>
                <a:latin typeface="Calibri" pitchFamily="34" charset="0"/>
                <a:ea typeface="Calibri" pitchFamily="34" charset="-122"/>
                <a:cs typeface="Calibri" pitchFamily="34" charset="-120"/>
              </a:rPr>
              <a:t>What this system removes is not discomfort. It is ambiguity. You will always know, on any Tuesday, whether the business is compounding or drifting — because the dashboard will tell you before the P&amp;L does.</a:t>
            </a:r>
            <a:endParaRPr lang="en-US" sz="1500" dirty="0"/>
          </a:p>
        </p:txBody>
      </p:sp>
      <p:sp>
        <p:nvSpPr>
          <p:cNvPr id="6" name="Text 4"/>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54</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7304A"/>
        </a:solidFill>
      </p:bgPr>
    </p:bg>
    <p:spTree>
      <p:nvGrpSpPr>
        <p:cNvPr id="1" name=""/>
        <p:cNvGrpSpPr/>
        <p:nvPr/>
      </p:nvGrpSpPr>
      <p:grpSpPr>
        <a:xfrm>
          <a:off x="0" y="0"/>
          <a:ext cx="0" cy="0"/>
          <a:chOff x="0" y="0"/>
          <a:chExt cx="0" cy="0"/>
        </a:xfrm>
      </p:grpSpPr>
      <p:sp>
        <p:nvSpPr>
          <p:cNvPr id="2" name="Shape 0"/>
          <p:cNvSpPr/>
          <p:nvPr/>
        </p:nvSpPr>
        <p:spPr>
          <a:xfrm>
            <a:off x="-45720" y="-45720"/>
            <a:ext cx="12283135" cy="6949440"/>
          </a:xfrm>
          <a:prstGeom prst="rect">
            <a:avLst/>
          </a:prstGeom>
          <a:solidFill>
            <a:srgbClr val="17304A"/>
          </a:solidFill>
          <a:ln/>
        </p:spPr>
      </p:sp>
      <p:sp>
        <p:nvSpPr>
          <p:cNvPr id="3" name="Text 1"/>
          <p:cNvSpPr/>
          <p:nvPr/>
        </p:nvSpPr>
        <p:spPr>
          <a:xfrm>
            <a:off x="841248" y="1234440"/>
            <a:ext cx="11057839" cy="274320"/>
          </a:xfrm>
          <a:prstGeom prst="rect">
            <a:avLst/>
          </a:prstGeom>
          <a:noFill/>
          <a:ln/>
        </p:spPr>
        <p:txBody>
          <a:bodyPr wrap="square" lIns="0" tIns="0" rIns="0" bIns="0" rtlCol="0" anchor="ctr"/>
          <a:lstStyle/>
          <a:p>
            <a:pPr indent="0" marL="0">
              <a:buNone/>
            </a:pPr>
            <a:r>
              <a:rPr lang="en-US" sz="1100" b="1" spc="300" kern="0" dirty="0">
                <a:solidFill>
                  <a:srgbClr val="8FB2D6"/>
                </a:solidFill>
                <a:latin typeface="Calibri" pitchFamily="34" charset="0"/>
                <a:ea typeface="Calibri" pitchFamily="34" charset="-122"/>
                <a:cs typeface="Calibri" pitchFamily="34" charset="-120"/>
              </a:rPr>
              <a:t>CLOSE</a:t>
            </a:r>
            <a:endParaRPr lang="en-US" sz="1100" dirty="0"/>
          </a:p>
        </p:txBody>
      </p:sp>
      <p:sp>
        <p:nvSpPr>
          <p:cNvPr id="4" name="Text 2"/>
          <p:cNvSpPr/>
          <p:nvPr/>
        </p:nvSpPr>
        <p:spPr>
          <a:xfrm>
            <a:off x="841248" y="1783080"/>
            <a:ext cx="9777679" cy="2834640"/>
          </a:xfrm>
          <a:prstGeom prst="rect">
            <a:avLst/>
          </a:prstGeom>
          <a:noFill/>
          <a:ln/>
        </p:spPr>
        <p:txBody>
          <a:bodyPr wrap="square" lIns="0" tIns="0" rIns="0" bIns="0" rtlCol="0" anchor="t"/>
          <a:lstStyle/>
          <a:p>
            <a:pPr indent="0" marL="0">
              <a:lnSpc>
                <a:spcPts val="5400"/>
              </a:lnSpc>
              <a:buNone/>
            </a:pPr>
            <a:r>
              <a:rPr lang="en-US" sz="4000" b="1" dirty="0">
                <a:solidFill>
                  <a:srgbClr val="FFFFFF"/>
                </a:solidFill>
                <a:latin typeface="Cambria" pitchFamily="34" charset="0"/>
                <a:ea typeface="Cambria" pitchFamily="34" charset="-122"/>
                <a:cs typeface="Cambria" pitchFamily="34" charset="-120"/>
              </a:rPr>
              <a:t>Execution compounds.</a:t>
            </a:r>
            <a:endParaRPr lang="en-US" sz="4000" dirty="0"/>
          </a:p>
          <a:p>
            <a:pPr indent="0" marL="0">
              <a:lnSpc>
                <a:spcPts val="5400"/>
              </a:lnSpc>
              <a:buNone/>
            </a:pPr>
            <a:r>
              <a:rPr lang="en-US" sz="4000" b="1" dirty="0">
                <a:solidFill>
                  <a:srgbClr val="FFFFFF"/>
                </a:solidFill>
                <a:latin typeface="Cambria" pitchFamily="34" charset="0"/>
                <a:ea typeface="Cambria" pitchFamily="34" charset="-122"/>
                <a:cs typeface="Cambria" pitchFamily="34" charset="-120"/>
              </a:rPr>
              <a:t>The war room convenes Monday.</a:t>
            </a:r>
            <a:endParaRPr lang="en-US" sz="4000" dirty="0"/>
          </a:p>
        </p:txBody>
      </p:sp>
      <p:sp>
        <p:nvSpPr>
          <p:cNvPr id="5" name="Text 3"/>
          <p:cNvSpPr/>
          <p:nvPr/>
        </p:nvSpPr>
        <p:spPr>
          <a:xfrm>
            <a:off x="841248" y="4800600"/>
            <a:ext cx="9046159" cy="1371600"/>
          </a:xfrm>
          <a:prstGeom prst="rect">
            <a:avLst/>
          </a:prstGeom>
          <a:noFill/>
          <a:ln/>
        </p:spPr>
        <p:txBody>
          <a:bodyPr wrap="square" lIns="0" tIns="0" rIns="0" bIns="0" rtlCol="0" anchor="t"/>
          <a:lstStyle/>
          <a:p>
            <a:pPr indent="0" marL="0">
              <a:lnSpc>
                <a:spcPts val="2100"/>
              </a:lnSpc>
              <a:buNone/>
            </a:pPr>
            <a:r>
              <a:rPr lang="en-US" sz="1500" dirty="0">
                <a:solidFill>
                  <a:srgbClr val="CFDCEA"/>
                </a:solidFill>
                <a:latin typeface="Calibri" pitchFamily="34" charset="0"/>
                <a:ea typeface="Calibri" pitchFamily="34" charset="-122"/>
                <a:cs typeface="Calibri" pitchFamily="34" charset="-120"/>
              </a:rPr>
              <a:t>Four documents go out tonight: the Operator’s Manual, the Culture Guide, the Rule Book, the Metrics and Questions register, and the Checklist Book. Read the Culture Guide first. The manual can be looked up; character cannot.</a:t>
            </a:r>
            <a:endParaRPr lang="en-US" sz="1500" dirty="0"/>
          </a:p>
        </p:txBody>
      </p:sp>
      <p:sp>
        <p:nvSpPr>
          <p:cNvPr id="6" name="Text 4"/>
          <p:cNvSpPr/>
          <p:nvPr/>
        </p:nvSpPr>
        <p:spPr>
          <a:xfrm>
            <a:off x="10893247" y="6382512"/>
            <a:ext cx="731520" cy="274320"/>
          </a:xfrm>
          <a:prstGeom prst="rect">
            <a:avLst/>
          </a:prstGeom>
          <a:noFill/>
          <a:ln/>
        </p:spPr>
        <p:txBody>
          <a:bodyPr wrap="square" lIns="0" tIns="0" rIns="0" bIns="0" rtlCol="0" anchor="ctr"/>
          <a:lstStyle/>
          <a:p>
            <a:pPr algn="r" indent="0" marL="0">
              <a:buNone/>
            </a:pPr>
            <a:r>
              <a:rPr lang="en-US" sz="1000" dirty="0">
                <a:solidFill>
                  <a:srgbClr val="A9B4C0"/>
                </a:solidFill>
                <a:latin typeface="Calibri" pitchFamily="34" charset="0"/>
                <a:ea typeface="Calibri" pitchFamily="34" charset="-122"/>
                <a:cs typeface="Calibri" pitchFamily="34" charset="-120"/>
              </a:rPr>
              <a:t>55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Van Dyke Acquisitions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Velocity Operating System — Team Working Session</dc:title>
  <dc:subject>PptxGenJS Presentation</dc:subject>
  <dc:creator>Peter V. Griscom</dc:creator>
  <cp:lastModifiedBy>Peter V. Griscom</cp:lastModifiedBy>
  <cp:revision>1</cp:revision>
  <dcterms:created xsi:type="dcterms:W3CDTF">2026-08-01T21:09:52Z</dcterms:created>
  <dcterms:modified xsi:type="dcterms:W3CDTF">2026-08-01T21:09:52Z</dcterms:modified>
</cp:coreProperties>
</file>